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theme/themeOverride1.xml" ContentType="application/vnd.openxmlformats-officedocument.themeOverr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theme/themeOverride2.xml" ContentType="application/vnd.openxmlformats-officedocument.themeOverr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5" r:id="rId2"/>
    <p:sldMasterId id="2147483661" r:id="rId3"/>
  </p:sldMasterIdLst>
  <p:notesMasterIdLst>
    <p:notesMasterId r:id="rId26"/>
  </p:notesMasterIdLst>
  <p:sldIdLst>
    <p:sldId id="539" r:id="rId4"/>
    <p:sldId id="487" r:id="rId5"/>
    <p:sldId id="488" r:id="rId6"/>
    <p:sldId id="489" r:id="rId7"/>
    <p:sldId id="1744" r:id="rId8"/>
    <p:sldId id="1749" r:id="rId9"/>
    <p:sldId id="537" r:id="rId10"/>
    <p:sldId id="1745" r:id="rId11"/>
    <p:sldId id="1755" r:id="rId12"/>
    <p:sldId id="1756" r:id="rId13"/>
    <p:sldId id="1757" r:id="rId14"/>
    <p:sldId id="1758" r:id="rId15"/>
    <p:sldId id="553" r:id="rId16"/>
    <p:sldId id="1759" r:id="rId17"/>
    <p:sldId id="1760" r:id="rId18"/>
    <p:sldId id="1761" r:id="rId19"/>
    <p:sldId id="1762" r:id="rId20"/>
    <p:sldId id="1763" r:id="rId21"/>
    <p:sldId id="1764" r:id="rId22"/>
    <p:sldId id="1753" r:id="rId23"/>
    <p:sldId id="1754" r:id="rId24"/>
    <p:sldId id="552" r:id="rId2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无标题节" id="{BEA2D3E8-5105-4115-B743-87307FDCB181}">
          <p14:sldIdLst>
            <p14:sldId id="539"/>
            <p14:sldId id="487"/>
            <p14:sldId id="488"/>
            <p14:sldId id="489"/>
            <p14:sldId id="1744"/>
            <p14:sldId id="1749"/>
            <p14:sldId id="537"/>
            <p14:sldId id="1745"/>
            <p14:sldId id="1755"/>
            <p14:sldId id="1756"/>
            <p14:sldId id="1757"/>
            <p14:sldId id="1758"/>
            <p14:sldId id="553"/>
            <p14:sldId id="1759"/>
            <p14:sldId id="1760"/>
            <p14:sldId id="1761"/>
            <p14:sldId id="1762"/>
            <p14:sldId id="1763"/>
            <p14:sldId id="1764"/>
            <p14:sldId id="1753"/>
            <p14:sldId id="1754"/>
            <p14:sldId id="55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680" autoAdjust="0"/>
    <p:restoredTop sz="94635"/>
  </p:normalViewPr>
  <p:slideViewPr>
    <p:cSldViewPr snapToGrid="0">
      <p:cViewPr varScale="1">
        <p:scale>
          <a:sx n="150" d="100"/>
          <a:sy n="150" d="100"/>
        </p:scale>
        <p:origin x="300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notesMaster" Target="notesMasters/notesMaster1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8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viewProps" Target="viewProps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3D0533F-0FF2-42CD-B8D3-05896C0AD272}" type="datetimeFigureOut">
              <a:rPr lang="zh-CN" altLang="en-US" smtClean="0"/>
              <a:t>2025/12/18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75F78A3-4BF6-4CEB-ACDA-04BCD451A55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3429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D712715C-60D8-4442-95C1-470452B8606C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1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3429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D712715C-60D8-4442-95C1-470452B8606C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2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3429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D712715C-60D8-4442-95C1-470452B8606C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3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3429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D712715C-60D8-4442-95C1-470452B8606C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4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56A87D-91CB-CE9F-4525-8A9E4A5DEA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ED0FE7C-9D4E-8601-C035-1569A596D52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06CD9D05-E074-45E4-8EBF-2BFCFAEE8EB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82DCFE0-1AB8-D4B7-8F29-0E4014EA58D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3429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D712715C-60D8-4442-95C1-470452B8606C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5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3395201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3429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D712715C-60D8-4442-95C1-470452B8606C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7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3429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712715C-60D8-4442-95C1-470452B8606C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pPr marL="0" marR="0" lvl="0" indent="0" algn="r" defTabSz="3429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62B81F-3637-137F-05A1-81115B3B68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1736F5B9-7733-ABAF-AD69-E98618DBA5E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ADAEB349-DD70-00B1-85C3-2ADA3B605A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3FDCCED-4D36-7DDF-C073-319DF3D391D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3429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712715C-60D8-4442-95C1-470452B8606C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pPr marL="0" marR="0" lvl="0" indent="0" algn="r" defTabSz="3429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6414063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EA071D-4063-924D-56B8-251A708F48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3875CB7C-6261-CBB0-FA56-B45BC9F33B5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415DB6D-CCF5-A036-4DAE-0C9E73E0066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F4F736C-22D0-9D28-69A7-27914C9B02C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75F78A3-4BF6-4CEB-ACDA-04BCD451A55B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2113021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3429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712715C-60D8-4442-95C1-470452B8606C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pPr marL="0" marR="0" lvl="0" indent="0" algn="r" defTabSz="3429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37162" y="127470"/>
            <a:ext cx="2539398" cy="681826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 userDrawn="1"/>
        </p:nvPicPr>
        <p:blipFill>
          <a:blip r:embed="rId3" cstate="print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88326" y="6471881"/>
            <a:ext cx="1783442" cy="30421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cover/>
      </p:transition>
    </mc:Choice>
    <mc:Fallback>
      <p:transition>
        <p:cover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1_空白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37162" y="127470"/>
            <a:ext cx="2539398" cy="681826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 userDrawn="1"/>
        </p:nvPicPr>
        <p:blipFill>
          <a:blip r:embed="rId3" cstate="print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88326" y="6471881"/>
            <a:ext cx="1783442" cy="30421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cover/>
      </p:transition>
    </mc:Choice>
    <mc:Fallback>
      <p:transition>
        <p:cover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 userDrawn="1"/>
        </p:nvSpPr>
        <p:spPr>
          <a:xfrm>
            <a:off x="10330283" y="6529705"/>
            <a:ext cx="1033515" cy="29687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1219200"/>
            <a:r>
              <a:rPr lang="en-US" altLang="zh-CN" sz="135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35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模板下载：</a:t>
            </a:r>
            <a:r>
              <a:rPr lang="en-US" altLang="zh-CN" sz="135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www.1ppt.com/moban/     </a:t>
            </a:r>
            <a:r>
              <a:rPr lang="zh-CN" altLang="en-US" sz="135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行业</a:t>
            </a:r>
            <a:r>
              <a:rPr lang="en-US" altLang="zh-CN" sz="135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35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模板：</a:t>
            </a:r>
            <a:r>
              <a:rPr lang="en-US" altLang="zh-CN" sz="135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www.1ppt.com/hangye/ </a:t>
            </a:r>
          </a:p>
          <a:p>
            <a:pPr defTabSz="1219200"/>
            <a:r>
              <a:rPr lang="zh-CN" altLang="en-US" sz="135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节日</a:t>
            </a:r>
            <a:r>
              <a:rPr lang="en-US" altLang="zh-CN" sz="135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35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模板：</a:t>
            </a:r>
            <a:r>
              <a:rPr lang="en-US" altLang="zh-CN" sz="135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www.1ppt.com/jieri/           PPT</a:t>
            </a:r>
            <a:r>
              <a:rPr lang="zh-CN" altLang="en-US" sz="135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素材下载：</a:t>
            </a:r>
            <a:r>
              <a:rPr lang="en-US" altLang="zh-CN" sz="135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www.1ppt.com/sucai/</a:t>
            </a:r>
          </a:p>
          <a:p>
            <a:pPr defTabSz="1219200"/>
            <a:r>
              <a:rPr lang="en-US" altLang="zh-CN" sz="135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35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背景图片：</a:t>
            </a:r>
            <a:r>
              <a:rPr lang="en-US" altLang="zh-CN" sz="135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www.1ppt.com/beijing/      PPT</a:t>
            </a:r>
            <a:r>
              <a:rPr lang="zh-CN" altLang="en-US" sz="135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图表下载：</a:t>
            </a:r>
            <a:r>
              <a:rPr lang="en-US" altLang="zh-CN" sz="135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www.1ppt.com/tubiao/      </a:t>
            </a:r>
          </a:p>
          <a:p>
            <a:pPr defTabSz="1219200"/>
            <a:r>
              <a:rPr lang="zh-CN" altLang="en-US" sz="135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优秀</a:t>
            </a:r>
            <a:r>
              <a:rPr lang="en-US" altLang="zh-CN" sz="135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35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下载：</a:t>
            </a:r>
            <a:r>
              <a:rPr lang="en-US" altLang="zh-CN" sz="135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www.1ppt.com/xiazai/        PPT</a:t>
            </a:r>
            <a:r>
              <a:rPr lang="zh-CN" altLang="en-US" sz="135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教程： </a:t>
            </a:r>
            <a:r>
              <a:rPr lang="en-US" altLang="zh-CN" sz="135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www.1ppt.com/powerpoint/      </a:t>
            </a:r>
          </a:p>
          <a:p>
            <a:pPr defTabSz="1219200"/>
            <a:r>
              <a:rPr lang="en-US" altLang="zh-CN" sz="135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Word</a:t>
            </a:r>
            <a:r>
              <a:rPr lang="zh-CN" altLang="en-US" sz="135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教程： </a:t>
            </a:r>
            <a:r>
              <a:rPr lang="en-US" altLang="zh-CN" sz="135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www.1ppt.com/word/              Excel</a:t>
            </a:r>
            <a:r>
              <a:rPr lang="zh-CN" altLang="en-US" sz="135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教程：</a:t>
            </a:r>
            <a:r>
              <a:rPr lang="en-US" altLang="zh-CN" sz="135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www.1ppt.com/excel/  </a:t>
            </a:r>
          </a:p>
          <a:p>
            <a:pPr defTabSz="1219200"/>
            <a:r>
              <a:rPr lang="zh-CN" altLang="en-US" sz="135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资料下载：</a:t>
            </a:r>
            <a:r>
              <a:rPr lang="en-US" altLang="zh-CN" sz="135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www.1ppt.com/ziliao/                PPT</a:t>
            </a:r>
            <a:r>
              <a:rPr lang="zh-CN" altLang="en-US" sz="135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课件下载：</a:t>
            </a:r>
            <a:r>
              <a:rPr lang="en-US" altLang="zh-CN" sz="135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www.1ppt.com/kejian/ </a:t>
            </a:r>
          </a:p>
          <a:p>
            <a:pPr defTabSz="1219200"/>
            <a:r>
              <a:rPr lang="zh-CN" altLang="en-US" sz="135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范文下载：</a:t>
            </a:r>
            <a:r>
              <a:rPr lang="en-US" altLang="zh-CN" sz="135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www.1ppt.com/fanwen/             </a:t>
            </a:r>
            <a:r>
              <a:rPr lang="zh-CN" altLang="en-US" sz="135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试卷下载：</a:t>
            </a:r>
            <a:r>
              <a:rPr lang="en-US" altLang="zh-CN" sz="135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www.1ppt.com/shiti/  </a:t>
            </a:r>
          </a:p>
          <a:p>
            <a:pPr defTabSz="1219200"/>
            <a:r>
              <a:rPr lang="zh-CN" altLang="en-US" sz="135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教案下载：</a:t>
            </a:r>
            <a:r>
              <a:rPr lang="en-US" altLang="zh-CN" sz="135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www.1ppt.com/jiaoan/        </a:t>
            </a:r>
          </a:p>
          <a:p>
            <a:pPr defTabSz="1219200"/>
            <a:r>
              <a:rPr lang="zh-CN" altLang="en-US" sz="135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字体下载：</a:t>
            </a:r>
            <a:r>
              <a:rPr lang="en-US" altLang="zh-CN" sz="135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www.1ppt.com/ziti/</a:t>
            </a:r>
          </a:p>
          <a:p>
            <a:pPr defTabSz="1219200"/>
            <a:r>
              <a:rPr lang="en-US" altLang="zh-CN" sz="135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 </a:t>
            </a:r>
            <a:endParaRPr lang="zh-CN" altLang="en-US" sz="135" dirty="0">
              <a:solidFill>
                <a:prstClr val="white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cover/>
      </p:transition>
    </mc:Choice>
    <mc:Fallback>
      <p:transition>
        <p:cover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cover/>
      </p:transition>
    </mc:Choice>
    <mc:Fallback>
      <p:transition>
        <p:cover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81B521-2E2E-41B2-9433-69364D5DDA0F}" type="datetimeFigureOut">
              <a:rPr lang="zh-CN" altLang="en-US" smtClean="0"/>
              <a:t>2025/12/18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282D0-AAD4-45D4-BBB1-9C369370A4D1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13" name="图片 1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77552" y="132712"/>
            <a:ext cx="2151456" cy="577664"/>
          </a:xfrm>
          <a:prstGeom prst="rect">
            <a:avLst/>
          </a:prstGeom>
        </p:spPr>
      </p:pic>
      <p:sp>
        <p:nvSpPr>
          <p:cNvPr id="14" name="文本框 13"/>
          <p:cNvSpPr txBox="1"/>
          <p:nvPr userDrawn="1"/>
        </p:nvSpPr>
        <p:spPr>
          <a:xfrm>
            <a:off x="25033" y="6425619"/>
            <a:ext cx="227673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 dirty="0">
                <a:solidFill>
                  <a:schemeClr val="accent3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求实创造，为人师表</a:t>
            </a:r>
            <a:endParaRPr lang="zh-CN" altLang="en-US" dirty="0">
              <a:solidFill>
                <a:schemeClr val="accent3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cover/>
      </p:transition>
    </mc:Choice>
    <mc:Fallback>
      <p:transition>
        <p:cover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37162" y="127470"/>
            <a:ext cx="2539398" cy="681826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 userDrawn="1"/>
        </p:nvPicPr>
        <p:blipFill>
          <a:blip r:embed="rId3" cstate="print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88326" y="6471881"/>
            <a:ext cx="1783442" cy="304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494171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cover/>
      </p:transition>
    </mc:Choice>
    <mc:Fallback>
      <p:transition>
        <p:cover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1_空白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37162" y="127470"/>
            <a:ext cx="2539398" cy="681826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 userDrawn="1"/>
        </p:nvPicPr>
        <p:blipFill>
          <a:blip r:embed="rId3" cstate="print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88326" y="6471881"/>
            <a:ext cx="1783442" cy="304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724503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cover/>
      </p:transition>
    </mc:Choice>
    <mc:Fallback>
      <p:transition>
        <p:cover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 userDrawn="1"/>
        </p:nvSpPr>
        <p:spPr>
          <a:xfrm>
            <a:off x="10330283" y="6529705"/>
            <a:ext cx="1033515" cy="29687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1219200"/>
            <a:r>
              <a:rPr lang="en-US" altLang="zh-CN" sz="135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35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模板下载：</a:t>
            </a:r>
            <a:r>
              <a:rPr lang="en-US" altLang="zh-CN" sz="135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www.1ppt.com/moban/     </a:t>
            </a:r>
            <a:r>
              <a:rPr lang="zh-CN" altLang="en-US" sz="135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行业</a:t>
            </a:r>
            <a:r>
              <a:rPr lang="en-US" altLang="zh-CN" sz="135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35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模板：</a:t>
            </a:r>
            <a:r>
              <a:rPr lang="en-US" altLang="zh-CN" sz="135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www.1ppt.com/hangye/ </a:t>
            </a:r>
          </a:p>
          <a:p>
            <a:pPr defTabSz="1219200"/>
            <a:r>
              <a:rPr lang="zh-CN" altLang="en-US" sz="135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节日</a:t>
            </a:r>
            <a:r>
              <a:rPr lang="en-US" altLang="zh-CN" sz="135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35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模板：</a:t>
            </a:r>
            <a:r>
              <a:rPr lang="en-US" altLang="zh-CN" sz="135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www.1ppt.com/jieri/           PPT</a:t>
            </a:r>
            <a:r>
              <a:rPr lang="zh-CN" altLang="en-US" sz="135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素材下载：</a:t>
            </a:r>
            <a:r>
              <a:rPr lang="en-US" altLang="zh-CN" sz="135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www.1ppt.com/sucai/</a:t>
            </a:r>
          </a:p>
          <a:p>
            <a:pPr defTabSz="1219200"/>
            <a:r>
              <a:rPr lang="en-US" altLang="zh-CN" sz="135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35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背景图片：</a:t>
            </a:r>
            <a:r>
              <a:rPr lang="en-US" altLang="zh-CN" sz="135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www.1ppt.com/beijing/      PPT</a:t>
            </a:r>
            <a:r>
              <a:rPr lang="zh-CN" altLang="en-US" sz="135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图表下载：</a:t>
            </a:r>
            <a:r>
              <a:rPr lang="en-US" altLang="zh-CN" sz="135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www.1ppt.com/tubiao/      </a:t>
            </a:r>
          </a:p>
          <a:p>
            <a:pPr defTabSz="1219200"/>
            <a:r>
              <a:rPr lang="zh-CN" altLang="en-US" sz="135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优秀</a:t>
            </a:r>
            <a:r>
              <a:rPr lang="en-US" altLang="zh-CN" sz="135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35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下载：</a:t>
            </a:r>
            <a:r>
              <a:rPr lang="en-US" altLang="zh-CN" sz="135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www.1ppt.com/xiazai/        PPT</a:t>
            </a:r>
            <a:r>
              <a:rPr lang="zh-CN" altLang="en-US" sz="135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教程： </a:t>
            </a:r>
            <a:r>
              <a:rPr lang="en-US" altLang="zh-CN" sz="135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www.1ppt.com/powerpoint/      </a:t>
            </a:r>
          </a:p>
          <a:p>
            <a:pPr defTabSz="1219200"/>
            <a:r>
              <a:rPr lang="en-US" altLang="zh-CN" sz="135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Word</a:t>
            </a:r>
            <a:r>
              <a:rPr lang="zh-CN" altLang="en-US" sz="135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教程： </a:t>
            </a:r>
            <a:r>
              <a:rPr lang="en-US" altLang="zh-CN" sz="135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www.1ppt.com/word/              Excel</a:t>
            </a:r>
            <a:r>
              <a:rPr lang="zh-CN" altLang="en-US" sz="135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教程：</a:t>
            </a:r>
            <a:r>
              <a:rPr lang="en-US" altLang="zh-CN" sz="135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www.1ppt.com/excel/  </a:t>
            </a:r>
          </a:p>
          <a:p>
            <a:pPr defTabSz="1219200"/>
            <a:r>
              <a:rPr lang="zh-CN" altLang="en-US" sz="135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资料下载：</a:t>
            </a:r>
            <a:r>
              <a:rPr lang="en-US" altLang="zh-CN" sz="135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www.1ppt.com/ziliao/                PPT</a:t>
            </a:r>
            <a:r>
              <a:rPr lang="zh-CN" altLang="en-US" sz="135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课件下载：</a:t>
            </a:r>
            <a:r>
              <a:rPr lang="en-US" altLang="zh-CN" sz="135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www.1ppt.com/kejian/ </a:t>
            </a:r>
          </a:p>
          <a:p>
            <a:pPr defTabSz="1219200"/>
            <a:r>
              <a:rPr lang="zh-CN" altLang="en-US" sz="135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范文下载：</a:t>
            </a:r>
            <a:r>
              <a:rPr lang="en-US" altLang="zh-CN" sz="135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www.1ppt.com/fanwen/             </a:t>
            </a:r>
            <a:r>
              <a:rPr lang="zh-CN" altLang="en-US" sz="135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试卷下载：</a:t>
            </a:r>
            <a:r>
              <a:rPr lang="en-US" altLang="zh-CN" sz="135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www.1ppt.com/shiti/  </a:t>
            </a:r>
          </a:p>
          <a:p>
            <a:pPr defTabSz="1219200"/>
            <a:r>
              <a:rPr lang="zh-CN" altLang="en-US" sz="135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教案下载：</a:t>
            </a:r>
            <a:r>
              <a:rPr lang="en-US" altLang="zh-CN" sz="135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www.1ppt.com/jiaoan/        </a:t>
            </a:r>
          </a:p>
          <a:p>
            <a:pPr defTabSz="1219200"/>
            <a:r>
              <a:rPr lang="zh-CN" altLang="en-US" sz="135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字体下载：</a:t>
            </a:r>
            <a:r>
              <a:rPr lang="en-US" altLang="zh-CN" sz="135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www.1ppt.com/ziti/</a:t>
            </a:r>
          </a:p>
          <a:p>
            <a:pPr defTabSz="1219200"/>
            <a:r>
              <a:rPr lang="en-US" altLang="zh-CN" sz="135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 </a:t>
            </a:r>
            <a:endParaRPr lang="zh-CN" altLang="en-US" sz="135" dirty="0">
              <a:solidFill>
                <a:prstClr val="white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20802955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cover/>
      </p:transition>
    </mc:Choice>
    <mc:Fallback>
      <p:transition>
        <p:cover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3542805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cover/>
      </p:transition>
    </mc:Choice>
    <mc:Fallback>
      <p:transition>
        <p:cover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81B521-2E2E-41B2-9433-69364D5DDA0F}" type="datetimeFigureOut">
              <a:rPr lang="zh-CN" altLang="en-US" smtClean="0"/>
              <a:t>2025/12/18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282D0-AAD4-45D4-BBB1-9C369370A4D1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13" name="图片 1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77552" y="132712"/>
            <a:ext cx="2151456" cy="577664"/>
          </a:xfrm>
          <a:prstGeom prst="rect">
            <a:avLst/>
          </a:prstGeom>
        </p:spPr>
      </p:pic>
      <p:sp>
        <p:nvSpPr>
          <p:cNvPr id="14" name="文本框 13"/>
          <p:cNvSpPr txBox="1"/>
          <p:nvPr userDrawn="1"/>
        </p:nvSpPr>
        <p:spPr>
          <a:xfrm>
            <a:off x="25033" y="6425619"/>
            <a:ext cx="227673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 dirty="0">
                <a:solidFill>
                  <a:schemeClr val="accent3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求实创造，为人师表</a:t>
            </a:r>
            <a:endParaRPr lang="zh-CN" altLang="en-US" dirty="0">
              <a:solidFill>
                <a:schemeClr val="accent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042824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cover/>
      </p:transition>
    </mc:Choice>
    <mc:Fallback>
      <p:transition>
        <p:cover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37162" y="127470"/>
            <a:ext cx="2539398" cy="681826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 userDrawn="1"/>
        </p:nvPicPr>
        <p:blipFill>
          <a:blip r:embed="rId3" cstate="print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88326" y="6471881"/>
            <a:ext cx="1783442" cy="304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414119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cover/>
      </p:transition>
    </mc:Choice>
    <mc:Fallback>
      <p:transition>
        <p:cover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1_空白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10849147" y="6382534"/>
            <a:ext cx="1093711" cy="369332"/>
          </a:xfrm>
          <a:prstGeom prst="rect">
            <a:avLst/>
          </a:prstGeom>
        </p:spPr>
        <p:txBody>
          <a:bodyPr lIns="91440" tIns="45720" rIns="91440" bIns="45720"/>
          <a:lstStyle/>
          <a:p>
            <a:pPr algn="ctr">
              <a:defRPr/>
            </a:pP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 </a:t>
            </a:r>
            <a:fld id="{2EEF1883-7A0E-4F66-9932-E581691AD397}" type="slidenum"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</a:rPr>
              <a:t>‹#›</a:t>
            </a:fld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 </a:t>
            </a: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页</a:t>
            </a:r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37162" y="127470"/>
            <a:ext cx="2539398" cy="681826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 userDrawn="1"/>
        </p:nvPicPr>
        <p:blipFill>
          <a:blip r:embed="rId3" cstate="print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88326" y="6471881"/>
            <a:ext cx="1783442" cy="304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844203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cover/>
      </p:transition>
    </mc:Choice>
    <mc:Fallback>
      <p:transition>
        <p:cover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 userDrawn="1"/>
        </p:nvSpPr>
        <p:spPr>
          <a:xfrm>
            <a:off x="10330283" y="6529705"/>
            <a:ext cx="1033515" cy="29687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1219200"/>
            <a:r>
              <a:rPr lang="en-US" altLang="zh-CN" sz="135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35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模板下载：</a:t>
            </a:r>
            <a:r>
              <a:rPr lang="en-US" altLang="zh-CN" sz="135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www.1ppt.com/moban/     </a:t>
            </a:r>
            <a:r>
              <a:rPr lang="zh-CN" altLang="en-US" sz="135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行业</a:t>
            </a:r>
            <a:r>
              <a:rPr lang="en-US" altLang="zh-CN" sz="135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35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模板：</a:t>
            </a:r>
            <a:r>
              <a:rPr lang="en-US" altLang="zh-CN" sz="135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www.1ppt.com/hangye/ </a:t>
            </a:r>
          </a:p>
          <a:p>
            <a:pPr defTabSz="1219200"/>
            <a:r>
              <a:rPr lang="zh-CN" altLang="en-US" sz="135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节日</a:t>
            </a:r>
            <a:r>
              <a:rPr lang="en-US" altLang="zh-CN" sz="135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35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模板：</a:t>
            </a:r>
            <a:r>
              <a:rPr lang="en-US" altLang="zh-CN" sz="135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www.1ppt.com/jieri/           PPT</a:t>
            </a:r>
            <a:r>
              <a:rPr lang="zh-CN" altLang="en-US" sz="135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素材下载：</a:t>
            </a:r>
            <a:r>
              <a:rPr lang="en-US" altLang="zh-CN" sz="135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www.1ppt.com/sucai/</a:t>
            </a:r>
          </a:p>
          <a:p>
            <a:pPr defTabSz="1219200"/>
            <a:r>
              <a:rPr lang="en-US" altLang="zh-CN" sz="135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35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背景图片：</a:t>
            </a:r>
            <a:r>
              <a:rPr lang="en-US" altLang="zh-CN" sz="135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www.1ppt.com/beijing/      PPT</a:t>
            </a:r>
            <a:r>
              <a:rPr lang="zh-CN" altLang="en-US" sz="135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图表下载：</a:t>
            </a:r>
            <a:r>
              <a:rPr lang="en-US" altLang="zh-CN" sz="135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www.1ppt.com/tubiao/      </a:t>
            </a:r>
          </a:p>
          <a:p>
            <a:pPr defTabSz="1219200"/>
            <a:r>
              <a:rPr lang="zh-CN" altLang="en-US" sz="135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优秀</a:t>
            </a:r>
            <a:r>
              <a:rPr lang="en-US" altLang="zh-CN" sz="135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35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下载：</a:t>
            </a:r>
            <a:r>
              <a:rPr lang="en-US" altLang="zh-CN" sz="135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www.1ppt.com/xiazai/        PPT</a:t>
            </a:r>
            <a:r>
              <a:rPr lang="zh-CN" altLang="en-US" sz="135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教程： </a:t>
            </a:r>
            <a:r>
              <a:rPr lang="en-US" altLang="zh-CN" sz="135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www.1ppt.com/powerpoint/      </a:t>
            </a:r>
          </a:p>
          <a:p>
            <a:pPr defTabSz="1219200"/>
            <a:r>
              <a:rPr lang="en-US" altLang="zh-CN" sz="135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Word</a:t>
            </a:r>
            <a:r>
              <a:rPr lang="zh-CN" altLang="en-US" sz="135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教程： </a:t>
            </a:r>
            <a:r>
              <a:rPr lang="en-US" altLang="zh-CN" sz="135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www.1ppt.com/word/              Excel</a:t>
            </a:r>
            <a:r>
              <a:rPr lang="zh-CN" altLang="en-US" sz="135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教程：</a:t>
            </a:r>
            <a:r>
              <a:rPr lang="en-US" altLang="zh-CN" sz="135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www.1ppt.com/excel/  </a:t>
            </a:r>
          </a:p>
          <a:p>
            <a:pPr defTabSz="1219200"/>
            <a:r>
              <a:rPr lang="zh-CN" altLang="en-US" sz="135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资料下载：</a:t>
            </a:r>
            <a:r>
              <a:rPr lang="en-US" altLang="zh-CN" sz="135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www.1ppt.com/ziliao/                PPT</a:t>
            </a:r>
            <a:r>
              <a:rPr lang="zh-CN" altLang="en-US" sz="135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课件下载：</a:t>
            </a:r>
            <a:r>
              <a:rPr lang="en-US" altLang="zh-CN" sz="135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www.1ppt.com/kejian/ </a:t>
            </a:r>
          </a:p>
          <a:p>
            <a:pPr defTabSz="1219200"/>
            <a:r>
              <a:rPr lang="zh-CN" altLang="en-US" sz="135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范文下载：</a:t>
            </a:r>
            <a:r>
              <a:rPr lang="en-US" altLang="zh-CN" sz="135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www.1ppt.com/fanwen/             </a:t>
            </a:r>
            <a:r>
              <a:rPr lang="zh-CN" altLang="en-US" sz="135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试卷下载：</a:t>
            </a:r>
            <a:r>
              <a:rPr lang="en-US" altLang="zh-CN" sz="135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www.1ppt.com/shiti/  </a:t>
            </a:r>
          </a:p>
          <a:p>
            <a:pPr defTabSz="1219200"/>
            <a:r>
              <a:rPr lang="zh-CN" altLang="en-US" sz="135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教案下载：</a:t>
            </a:r>
            <a:r>
              <a:rPr lang="en-US" altLang="zh-CN" sz="135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www.1ppt.com/jiaoan/        </a:t>
            </a:r>
          </a:p>
          <a:p>
            <a:pPr defTabSz="1219200"/>
            <a:r>
              <a:rPr lang="zh-CN" altLang="en-US" sz="135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字体下载：</a:t>
            </a:r>
            <a:r>
              <a:rPr lang="en-US" altLang="zh-CN" sz="135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www.1ppt.com/ziti/</a:t>
            </a:r>
          </a:p>
          <a:p>
            <a:pPr defTabSz="1219200"/>
            <a:r>
              <a:rPr lang="en-US" altLang="zh-CN" sz="135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 </a:t>
            </a:r>
            <a:endParaRPr lang="zh-CN" altLang="en-US" sz="135" dirty="0">
              <a:solidFill>
                <a:prstClr val="white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35583774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cover/>
      </p:transition>
    </mc:Choice>
    <mc:Fallback>
      <p:transition>
        <p:cover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1864857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cover/>
      </p:transition>
    </mc:Choice>
    <mc:Fallback>
      <p:transition>
        <p:cover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81B521-2E2E-41B2-9433-69364D5DDA0F}" type="datetimeFigureOut">
              <a:rPr lang="zh-CN" altLang="en-US" smtClean="0"/>
              <a:t>2025/12/18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282D0-AAD4-45D4-BBB1-9C369370A4D1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13" name="图片 1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77552" y="132712"/>
            <a:ext cx="2151456" cy="577664"/>
          </a:xfrm>
          <a:prstGeom prst="rect">
            <a:avLst/>
          </a:prstGeom>
        </p:spPr>
      </p:pic>
      <p:sp>
        <p:nvSpPr>
          <p:cNvPr id="14" name="文本框 13"/>
          <p:cNvSpPr txBox="1"/>
          <p:nvPr userDrawn="1"/>
        </p:nvSpPr>
        <p:spPr>
          <a:xfrm>
            <a:off x="25033" y="6425619"/>
            <a:ext cx="227673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 dirty="0">
                <a:solidFill>
                  <a:schemeClr val="accent3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求实创造，为人师表</a:t>
            </a:r>
            <a:endParaRPr lang="zh-CN" altLang="en-US" dirty="0">
              <a:solidFill>
                <a:schemeClr val="accent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8580292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cover/>
      </p:transition>
    </mc:Choice>
    <mc:Fallback>
      <p:transition>
        <p:cover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873CFC9-8363-4487-A32C-B1BEBA8F16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9208" y="202011"/>
            <a:ext cx="8655953" cy="601075"/>
          </a:xfrm>
          <a:prstGeom prst="rect">
            <a:avLst/>
          </a:prstGeom>
        </p:spPr>
        <p:txBody>
          <a:bodyPr lIns="0" rIns="0" anchor="ctr">
            <a:normAutofit/>
          </a:bodyPr>
          <a:lstStyle>
            <a:lvl1pPr>
              <a:defRPr sz="2800" b="1">
                <a:latin typeface="方正粗雅宋简体" panose="02000000000000000000" pitchFamily="2" charset="-122"/>
                <a:ea typeface="方正粗雅宋简体" panose="02000000000000000000" pitchFamily="2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169219527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cover/>
      </p:transition>
    </mc:Choice>
    <mc:Fallback>
      <p:transition>
        <p:cover/>
      </p:transition>
    </mc:Fallback>
  </mc:AlternateContent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7265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10.xml"/><Relationship Id="rId4" Type="http://schemas.openxmlformats.org/officeDocument/2006/relationships/slideLayout" Target="../slideLayouts/slideLayout9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7" Type="http://schemas.openxmlformats.org/officeDocument/2006/relationships/theme" Target="../theme/theme3.xml"/><Relationship Id="rId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1.xml"/><Relationship Id="rId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mc:AlternateContent xmlns:mc="http://schemas.openxmlformats.org/markup-compatibility/2006">
    <mc:Choice xmlns:p14="http://schemas.microsoft.com/office/powerpoint/2010/main" Requires="p14">
      <p:transition p14:dur="250">
        <p:cover/>
      </p:transition>
    </mc:Choice>
    <mc:Fallback>
      <p:transition>
        <p:cover/>
      </p:transition>
    </mc:Fallback>
  </mc:AlternateConten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i="0" kern="1200" baseline="0">
          <a:solidFill>
            <a:srgbClr val="071F65"/>
          </a:solidFill>
          <a:effectLst/>
          <a:latin typeface="Arial Black" panose="020B0A04020102020204" pitchFamily="34" charset="0"/>
          <a:ea typeface="微软雅黑" panose="020B0503020204020204" pitchFamily="34" charset="-122"/>
          <a:cs typeface="+mj-cs"/>
        </a:defRPr>
      </a:lvl1pPr>
    </p:titleStyle>
    <p:bodyStyle>
      <a:lvl1pPr marL="356870" indent="-356870" algn="just" defTabSz="914400" rtl="0" eaLnBrk="1" latinLnBrk="0" hangingPunct="1">
        <a:lnSpc>
          <a:spcPct val="110000"/>
        </a:lnSpc>
        <a:spcBef>
          <a:spcPts val="1800"/>
        </a:spcBef>
        <a:spcAft>
          <a:spcPts val="0"/>
        </a:spcAft>
        <a:buClr>
          <a:schemeClr val="accent2">
            <a:lumMod val="75000"/>
          </a:schemeClr>
        </a:buClr>
        <a:buSzPct val="70000"/>
        <a:buFont typeface="Wingdings 2" panose="05020102010507070707" pitchFamily="18" charset="2"/>
        <a:buChar char=""/>
        <a:defRPr sz="2000" kern="1200" baseline="0">
          <a:solidFill>
            <a:srgbClr val="071F65"/>
          </a:solidFill>
          <a:latin typeface="Arial" panose="020B0604020202020204" pitchFamily="34" charset="0"/>
          <a:ea typeface="微软雅黑" panose="020B0503020204020204" pitchFamily="34" charset="-122"/>
          <a:cs typeface="+mn-cs"/>
        </a:defRPr>
      </a:lvl1pPr>
      <a:lvl2pPr marL="356870" indent="-356870" algn="just" defTabSz="914400" rtl="0" eaLnBrk="1" latinLnBrk="0" hangingPunct="1">
        <a:lnSpc>
          <a:spcPct val="130000"/>
        </a:lnSpc>
        <a:spcBef>
          <a:spcPts val="0"/>
        </a:spcBef>
        <a:spcAft>
          <a:spcPts val="600"/>
        </a:spcAft>
        <a:buClr>
          <a:schemeClr val="accent2">
            <a:lumMod val="60000"/>
            <a:lumOff val="40000"/>
          </a:schemeClr>
        </a:buClr>
        <a:buFont typeface="幼圆" panose="02010509060101010101" pitchFamily="49" charset="-122"/>
        <a:buChar char=" "/>
        <a:defRPr sz="1600" kern="1200" baseline="0">
          <a:solidFill>
            <a:srgbClr val="071F65"/>
          </a:solidFill>
          <a:latin typeface="幼圆" panose="02010509060101010101" pitchFamily="49" charset="-122"/>
          <a:ea typeface="幼圆" panose="02010509060101010101" pitchFamily="49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65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65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65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65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65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65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65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65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65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65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65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65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65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6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572834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6" r:id="rId1"/>
    <p:sldLayoutId id="2147483657" r:id="rId2"/>
    <p:sldLayoutId id="2147483658" r:id="rId3"/>
    <p:sldLayoutId id="2147483659" r:id="rId4"/>
    <p:sldLayoutId id="2147483660" r:id="rId5"/>
  </p:sldLayoutIdLst>
  <mc:AlternateContent xmlns:mc="http://schemas.openxmlformats.org/markup-compatibility/2006">
    <mc:Choice xmlns:p14="http://schemas.microsoft.com/office/powerpoint/2010/main" Requires="p14">
      <p:transition p14:dur="250">
        <p:cover/>
      </p:transition>
    </mc:Choice>
    <mc:Fallback>
      <p:transition>
        <p:cover/>
      </p:transition>
    </mc:Fallback>
  </mc:AlternateConten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i="0" kern="1200" baseline="0">
          <a:solidFill>
            <a:srgbClr val="071F65"/>
          </a:solidFill>
          <a:effectLst/>
          <a:latin typeface="Arial Black" panose="020B0A04020102020204" pitchFamily="34" charset="0"/>
          <a:ea typeface="微软雅黑" panose="020B0503020204020204" pitchFamily="34" charset="-122"/>
          <a:cs typeface="+mj-cs"/>
        </a:defRPr>
      </a:lvl1pPr>
    </p:titleStyle>
    <p:bodyStyle>
      <a:lvl1pPr marL="356870" indent="-356870" algn="just" defTabSz="914400" rtl="0" eaLnBrk="1" latinLnBrk="0" hangingPunct="1">
        <a:lnSpc>
          <a:spcPct val="110000"/>
        </a:lnSpc>
        <a:spcBef>
          <a:spcPts val="1800"/>
        </a:spcBef>
        <a:spcAft>
          <a:spcPts val="0"/>
        </a:spcAft>
        <a:buClr>
          <a:schemeClr val="accent2">
            <a:lumMod val="75000"/>
          </a:schemeClr>
        </a:buClr>
        <a:buSzPct val="70000"/>
        <a:buFont typeface="Wingdings 2" panose="05020102010507070707" pitchFamily="18" charset="2"/>
        <a:buChar char=""/>
        <a:defRPr sz="2000" kern="1200" baseline="0">
          <a:solidFill>
            <a:srgbClr val="071F65"/>
          </a:solidFill>
          <a:latin typeface="Arial" panose="020B0604020202020204" pitchFamily="34" charset="0"/>
          <a:ea typeface="微软雅黑" panose="020B0503020204020204" pitchFamily="34" charset="-122"/>
          <a:cs typeface="+mn-cs"/>
        </a:defRPr>
      </a:lvl1pPr>
      <a:lvl2pPr marL="356870" indent="-356870" algn="just" defTabSz="914400" rtl="0" eaLnBrk="1" latinLnBrk="0" hangingPunct="1">
        <a:lnSpc>
          <a:spcPct val="130000"/>
        </a:lnSpc>
        <a:spcBef>
          <a:spcPts val="0"/>
        </a:spcBef>
        <a:spcAft>
          <a:spcPts val="600"/>
        </a:spcAft>
        <a:buClr>
          <a:schemeClr val="accent2">
            <a:lumMod val="60000"/>
            <a:lumOff val="40000"/>
          </a:schemeClr>
        </a:buClr>
        <a:buFont typeface="幼圆" panose="02010509060101010101" pitchFamily="49" charset="-122"/>
        <a:buChar char=" "/>
        <a:defRPr sz="1600" kern="1200" baseline="0">
          <a:solidFill>
            <a:srgbClr val="071F65"/>
          </a:solidFill>
          <a:latin typeface="幼圆" panose="02010509060101010101" pitchFamily="49" charset="-122"/>
          <a:ea typeface="幼圆" panose="02010509060101010101" pitchFamily="49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65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65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65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65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65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65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65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65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65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65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65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65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65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6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479511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</p:sldLayoutIdLst>
  <mc:AlternateContent xmlns:mc="http://schemas.openxmlformats.org/markup-compatibility/2006">
    <mc:Choice xmlns:p14="http://schemas.microsoft.com/office/powerpoint/2010/main" Requires="p14">
      <p:transition p14:dur="250">
        <p:cover/>
      </p:transition>
    </mc:Choice>
    <mc:Fallback>
      <p:transition>
        <p:cover/>
      </p:transition>
    </mc:Fallback>
  </mc:AlternateConten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i="0" kern="1200" baseline="0">
          <a:solidFill>
            <a:srgbClr val="071F65"/>
          </a:solidFill>
          <a:effectLst/>
          <a:latin typeface="Arial Black" panose="020B0A04020102020204" pitchFamily="34" charset="0"/>
          <a:ea typeface="微软雅黑" panose="020B0503020204020204" pitchFamily="34" charset="-122"/>
          <a:cs typeface="+mj-cs"/>
        </a:defRPr>
      </a:lvl1pPr>
    </p:titleStyle>
    <p:bodyStyle>
      <a:lvl1pPr marL="356870" indent="-356870" algn="just" defTabSz="914400" rtl="0" eaLnBrk="1" latinLnBrk="0" hangingPunct="1">
        <a:lnSpc>
          <a:spcPct val="110000"/>
        </a:lnSpc>
        <a:spcBef>
          <a:spcPts val="1800"/>
        </a:spcBef>
        <a:spcAft>
          <a:spcPts val="0"/>
        </a:spcAft>
        <a:buClr>
          <a:schemeClr val="accent2">
            <a:lumMod val="75000"/>
          </a:schemeClr>
        </a:buClr>
        <a:buSzPct val="70000"/>
        <a:buFont typeface="Wingdings 2" panose="05020102010507070707" pitchFamily="18" charset="2"/>
        <a:buChar char=""/>
        <a:defRPr sz="2000" kern="1200" baseline="0">
          <a:solidFill>
            <a:srgbClr val="071F65"/>
          </a:solidFill>
          <a:latin typeface="Arial" panose="020B0604020202020204" pitchFamily="34" charset="0"/>
          <a:ea typeface="微软雅黑" panose="020B0503020204020204" pitchFamily="34" charset="-122"/>
          <a:cs typeface="+mn-cs"/>
        </a:defRPr>
      </a:lvl1pPr>
      <a:lvl2pPr marL="356870" indent="-356870" algn="just" defTabSz="914400" rtl="0" eaLnBrk="1" latinLnBrk="0" hangingPunct="1">
        <a:lnSpc>
          <a:spcPct val="130000"/>
        </a:lnSpc>
        <a:spcBef>
          <a:spcPts val="0"/>
        </a:spcBef>
        <a:spcAft>
          <a:spcPts val="600"/>
        </a:spcAft>
        <a:buClr>
          <a:schemeClr val="accent2">
            <a:lumMod val="60000"/>
            <a:lumOff val="40000"/>
          </a:schemeClr>
        </a:buClr>
        <a:buFont typeface="幼圆" panose="02010509060101010101" pitchFamily="49" charset="-122"/>
        <a:buChar char=" "/>
        <a:defRPr sz="1600" kern="1200" baseline="0">
          <a:solidFill>
            <a:srgbClr val="071F65"/>
          </a:solidFill>
          <a:latin typeface="幼圆" panose="02010509060101010101" pitchFamily="49" charset="-122"/>
          <a:ea typeface="幼圆" panose="02010509060101010101" pitchFamily="49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65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65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65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65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65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65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65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65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65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65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65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65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65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6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Relationship Id="rId6" Type="http://schemas.openxmlformats.org/officeDocument/2006/relationships/image" Target="../media/image1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3.xml"/><Relationship Id="rId1" Type="http://schemas.openxmlformats.org/officeDocument/2006/relationships/themeOverride" Target="../theme/themeOverride2.xml"/><Relationship Id="rId4" Type="http://schemas.openxmlformats.org/officeDocument/2006/relationships/image" Target="../media/image8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6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165463"/>
            <a:ext cx="12191999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27" name="图片 2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768623" y="972390"/>
            <a:ext cx="4913220" cy="4913220"/>
          </a:xfrm>
          <a:prstGeom prst="rect">
            <a:avLst/>
          </a:prstGeom>
        </p:spPr>
      </p:pic>
      <p:sp>
        <p:nvSpPr>
          <p:cNvPr id="22" name="矩形 21"/>
          <p:cNvSpPr/>
          <p:nvPr/>
        </p:nvSpPr>
        <p:spPr>
          <a:xfrm>
            <a:off x="1696872" y="4998612"/>
            <a:ext cx="3999813" cy="830997"/>
          </a:xfrm>
          <a:prstGeom prst="rect">
            <a:avLst/>
          </a:prstGeom>
        </p:spPr>
        <p:txBody>
          <a:bodyPr wrap="none" lIns="91440" tIns="45720" rIns="91440" bIns="4572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组号</a:t>
            </a:r>
            <a:r>
              <a:rPr kumimoji="1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：</a:t>
            </a:r>
            <a:r>
              <a:rPr kumimoji="1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13</a:t>
            </a:r>
            <a:endParaRPr kumimoji="1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lvl="0" defTabSz="457200">
              <a:defRPr/>
            </a:pPr>
            <a:r>
              <a:rPr kumimoji="1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成员：</a:t>
            </a:r>
            <a:r>
              <a:rPr kumimoji="1"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杨帆（组长）张仕浩 刘飞扬 盛子骜</a:t>
            </a:r>
            <a:endParaRPr kumimoji="1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cxnSp>
        <p:nvCxnSpPr>
          <p:cNvPr id="24" name="直接连接符 23"/>
          <p:cNvCxnSpPr/>
          <p:nvPr/>
        </p:nvCxnSpPr>
        <p:spPr>
          <a:xfrm flipH="1">
            <a:off x="1714978" y="4754066"/>
            <a:ext cx="670908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图片 1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6872" y="1026208"/>
            <a:ext cx="4851093" cy="1302514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411C294E-5111-CB2F-5C55-F36DF46362FC}"/>
              </a:ext>
            </a:extLst>
          </p:cNvPr>
          <p:cNvSpPr/>
          <p:nvPr/>
        </p:nvSpPr>
        <p:spPr>
          <a:xfrm>
            <a:off x="1696872" y="2688684"/>
            <a:ext cx="5724644" cy="2725426"/>
          </a:xfrm>
          <a:prstGeom prst="rect">
            <a:avLst/>
          </a:prstGeom>
        </p:spPr>
        <p:txBody>
          <a:bodyPr wrap="none" lIns="91440" tIns="45720" rIns="91440" bIns="4572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defTabSz="457200">
              <a:lnSpc>
                <a:spcPct val="150000"/>
              </a:lnSpc>
              <a:defRPr/>
            </a:pPr>
            <a:r>
              <a:rPr lang="en-US" altLang="zh-CN" sz="3600" b="1" i="0" dirty="0">
                <a:solidFill>
                  <a:srgbClr val="1F2328"/>
                </a:solidFill>
                <a:effectLst/>
                <a:latin typeface="-apple-system"/>
              </a:rPr>
              <a:t>I.</a:t>
            </a:r>
            <a:r>
              <a:rPr lang="zh-CN" altLang="en-US" sz="3600" b="1" i="0" dirty="0">
                <a:solidFill>
                  <a:srgbClr val="1F2328"/>
                </a:solidFill>
                <a:effectLst/>
                <a:latin typeface="-apple-system"/>
              </a:rPr>
              <a:t>基于</a:t>
            </a:r>
            <a:r>
              <a:rPr lang="en-US" altLang="zh-CN" sz="3600" b="1" i="0" dirty="0">
                <a:solidFill>
                  <a:srgbClr val="1F2328"/>
                </a:solidFill>
                <a:effectLst/>
                <a:latin typeface="-apple-system"/>
              </a:rPr>
              <a:t>Spark</a:t>
            </a:r>
            <a:r>
              <a:rPr lang="zh-CN" altLang="en-US" sz="3600" b="1" i="0" dirty="0">
                <a:solidFill>
                  <a:srgbClr val="1F2328"/>
                </a:solidFill>
                <a:effectLst/>
                <a:latin typeface="-apple-system"/>
              </a:rPr>
              <a:t>的</a:t>
            </a:r>
            <a:endParaRPr lang="en-US" altLang="zh-CN" sz="3600" b="1" i="0" dirty="0">
              <a:solidFill>
                <a:srgbClr val="1F2328"/>
              </a:solidFill>
              <a:effectLst/>
              <a:latin typeface="-apple-system"/>
            </a:endParaRPr>
          </a:p>
          <a:p>
            <a:pPr lvl="0" defTabSz="457200">
              <a:lnSpc>
                <a:spcPct val="150000"/>
              </a:lnSpc>
              <a:defRPr/>
            </a:pPr>
            <a:r>
              <a:rPr lang="zh-CN" altLang="en-US" sz="3600" b="1" i="0" dirty="0">
                <a:solidFill>
                  <a:srgbClr val="1F2328"/>
                </a:solidFill>
                <a:effectLst/>
                <a:latin typeface="-apple-system"/>
              </a:rPr>
              <a:t>分布式矩阵乘法实现与优化</a:t>
            </a:r>
            <a:endParaRPr lang="zh-CN" altLang="en-US" sz="3600" b="1" dirty="0">
              <a:latin typeface="Arial" panose="020B0604020202020204"/>
              <a:ea typeface="微软雅黑" panose="020B0503020204020204" pitchFamily="34" charset="-122"/>
            </a:endParaRPr>
          </a:p>
          <a:p>
            <a:pPr marL="0" marR="0" lvl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cover/>
      </p:transition>
    </mc:Choice>
    <mc:Fallback>
      <p:transition>
        <p:cover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/>
          <p:cNvGrpSpPr/>
          <p:nvPr/>
        </p:nvGrpSpPr>
        <p:grpSpPr>
          <a:xfrm>
            <a:off x="1164188" y="622441"/>
            <a:ext cx="1528413" cy="1528413"/>
            <a:chOff x="1602769" y="143838"/>
            <a:chExt cx="1331936" cy="1331936"/>
          </a:xfrm>
        </p:grpSpPr>
        <p:sp>
          <p:nvSpPr>
            <p:cNvPr id="4" name="椭圆 3"/>
            <p:cNvSpPr/>
            <p:nvPr/>
          </p:nvSpPr>
          <p:spPr>
            <a:xfrm>
              <a:off x="1602769" y="143838"/>
              <a:ext cx="1331936" cy="1331936"/>
            </a:xfrm>
            <a:prstGeom prst="ellipse">
              <a:avLst/>
            </a:prstGeom>
            <a:ln w="16510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65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46" name="TextBox 145"/>
            <p:cNvSpPr txBox="1"/>
            <p:nvPr/>
          </p:nvSpPr>
          <p:spPr>
            <a:xfrm>
              <a:off x="1679041" y="396413"/>
              <a:ext cx="1189310" cy="5632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36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目录</a:t>
              </a:r>
            </a:p>
          </p:txBody>
        </p:sp>
        <p:sp>
          <p:nvSpPr>
            <p:cNvPr id="147" name="TextBox 146"/>
            <p:cNvSpPr txBox="1"/>
            <p:nvPr/>
          </p:nvSpPr>
          <p:spPr>
            <a:xfrm>
              <a:off x="1638153" y="937949"/>
              <a:ext cx="1263808" cy="2772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465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CONTENTS</a:t>
              </a:r>
              <a:endParaRPr kumimoji="0" lang="zh-CN" altLang="en-US" sz="1465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sp>
        <p:nvSpPr>
          <p:cNvPr id="9" name="Freeform 5"/>
          <p:cNvSpPr/>
          <p:nvPr/>
        </p:nvSpPr>
        <p:spPr bwMode="auto">
          <a:xfrm>
            <a:off x="3177" y="3017035"/>
            <a:ext cx="12188825" cy="1446568"/>
          </a:xfrm>
          <a:custGeom>
            <a:avLst/>
            <a:gdLst>
              <a:gd name="T0" fmla="*/ 0 w 2601"/>
              <a:gd name="T1" fmla="*/ 139 h 306"/>
              <a:gd name="T2" fmla="*/ 647 w 2601"/>
              <a:gd name="T3" fmla="*/ 304 h 306"/>
              <a:gd name="T4" fmla="*/ 1863 w 2601"/>
              <a:gd name="T5" fmla="*/ 11 h 306"/>
              <a:gd name="T6" fmla="*/ 2601 w 2601"/>
              <a:gd name="T7" fmla="*/ 259 h 3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601" h="306">
                <a:moveTo>
                  <a:pt x="0" y="139"/>
                </a:moveTo>
                <a:cubicBezTo>
                  <a:pt x="0" y="139"/>
                  <a:pt x="179" y="301"/>
                  <a:pt x="647" y="304"/>
                </a:cubicBezTo>
                <a:cubicBezTo>
                  <a:pt x="1090" y="306"/>
                  <a:pt x="1474" y="0"/>
                  <a:pt x="1863" y="11"/>
                </a:cubicBezTo>
                <a:cubicBezTo>
                  <a:pt x="2253" y="21"/>
                  <a:pt x="2601" y="259"/>
                  <a:pt x="2601" y="259"/>
                </a:cubicBezTo>
              </a:path>
            </a:pathLst>
          </a:custGeom>
          <a:noFill/>
          <a:ln w="22225" cap="flat">
            <a:solidFill>
              <a:schemeClr val="accent1"/>
            </a:solidFill>
            <a:prstDash val="solid"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4" name="矩形 30"/>
          <p:cNvSpPr>
            <a:spLocks noChangeArrowheads="1"/>
          </p:cNvSpPr>
          <p:nvPr/>
        </p:nvSpPr>
        <p:spPr bwMode="auto">
          <a:xfrm>
            <a:off x="877078" y="4906844"/>
            <a:ext cx="1424688" cy="4308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9" rIns="121917" bIns="60959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CN" altLang="en-US" sz="2000" b="1" dirty="0">
                <a:solidFill>
                  <a:schemeClr val="accent1"/>
                </a:solidFill>
                <a:sym typeface="微软雅黑" panose="020B0503020204020204" pitchFamily="34" charset="-122"/>
              </a:rPr>
              <a:t>课题简介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微软雅黑" panose="020B0503020204020204" pitchFamily="34" charset="-122"/>
            </a:endParaRPr>
          </a:p>
        </p:txBody>
      </p:sp>
      <p:sp>
        <p:nvSpPr>
          <p:cNvPr id="45" name="矩形 68"/>
          <p:cNvSpPr>
            <a:spLocks noChangeArrowheads="1"/>
          </p:cNvSpPr>
          <p:nvPr/>
        </p:nvSpPr>
        <p:spPr bwMode="auto">
          <a:xfrm>
            <a:off x="6950656" y="2037620"/>
            <a:ext cx="2092243" cy="4308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9" rIns="121917" bIns="60959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rPr>
              <a:t>结果分析</a:t>
            </a:r>
          </a:p>
        </p:txBody>
      </p:sp>
      <p:sp>
        <p:nvSpPr>
          <p:cNvPr id="46" name="矩形 64"/>
          <p:cNvSpPr>
            <a:spLocks noChangeArrowheads="1"/>
          </p:cNvSpPr>
          <p:nvPr/>
        </p:nvSpPr>
        <p:spPr bwMode="auto">
          <a:xfrm>
            <a:off x="2692604" y="3153440"/>
            <a:ext cx="2068801" cy="4308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9" rIns="121917" bIns="60959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CN" altLang="en-US" sz="2000" b="1" dirty="0">
                <a:solidFill>
                  <a:schemeClr val="accent1"/>
                </a:solidFill>
                <a:sym typeface="微软雅黑" panose="020B0503020204020204" pitchFamily="34" charset="-122"/>
              </a:rPr>
              <a:t>实验环境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微软雅黑" panose="020B0503020204020204" pitchFamily="34" charset="-122"/>
            </a:endParaRPr>
          </a:p>
        </p:txBody>
      </p:sp>
      <p:grpSp>
        <p:nvGrpSpPr>
          <p:cNvPr id="48" name="组合 47"/>
          <p:cNvGrpSpPr/>
          <p:nvPr/>
        </p:nvGrpSpPr>
        <p:grpSpPr>
          <a:xfrm>
            <a:off x="1088011" y="3675719"/>
            <a:ext cx="999564" cy="1001764"/>
            <a:chOff x="3437020" y="1033173"/>
            <a:chExt cx="863676" cy="865577"/>
          </a:xfrm>
        </p:grpSpPr>
        <p:sp>
          <p:nvSpPr>
            <p:cNvPr id="49" name="椭圆 18"/>
            <p:cNvSpPr>
              <a:spLocks noChangeArrowheads="1"/>
            </p:cNvSpPr>
            <p:nvPr/>
          </p:nvSpPr>
          <p:spPr bwMode="auto">
            <a:xfrm>
              <a:off x="3437020" y="1033173"/>
              <a:ext cx="863676" cy="865577"/>
            </a:xfrm>
            <a:prstGeom prst="ellipse">
              <a:avLst/>
            </a:prstGeom>
            <a:solidFill>
              <a:schemeClr val="accent1"/>
            </a:solidFill>
            <a:ln w="38100">
              <a:solidFill>
                <a:schemeClr val="bg1">
                  <a:lumMod val="75000"/>
                </a:schemeClr>
              </a:solidFill>
              <a:miter lim="800000"/>
            </a:ln>
          </p:spPr>
          <p:txBody>
            <a:bodyPr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9pPr>
            </a:lstStyle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endParaRPr>
            </a:p>
          </p:txBody>
        </p:sp>
        <p:pic>
          <p:nvPicPr>
            <p:cNvPr id="50" name="图片 49"/>
            <p:cNvPicPr>
              <a:picLocks noChangeAspect="1"/>
            </p:cNvPicPr>
            <p:nvPr/>
          </p:nvPicPr>
          <p:blipFill>
            <a:blip r:embed="rId4" cstate="screen">
              <a:biLevel thresh="25000"/>
            </a:blip>
            <a:stretch>
              <a:fillRect/>
            </a:stretch>
          </p:blipFill>
          <p:spPr>
            <a:xfrm>
              <a:off x="3587275" y="1169757"/>
              <a:ext cx="552644" cy="566109"/>
            </a:xfrm>
            <a:prstGeom prst="rect">
              <a:avLst/>
            </a:prstGeom>
          </p:spPr>
        </p:pic>
      </p:grpSp>
      <p:sp>
        <p:nvSpPr>
          <p:cNvPr id="51" name="矩形 68"/>
          <p:cNvSpPr>
            <a:spLocks noChangeArrowheads="1"/>
          </p:cNvSpPr>
          <p:nvPr/>
        </p:nvSpPr>
        <p:spPr bwMode="auto">
          <a:xfrm>
            <a:off x="9040449" y="4141043"/>
            <a:ext cx="2651547" cy="4308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9" rIns="121917" bIns="60959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CN" altLang="en-US" sz="2000" b="1" dirty="0">
                <a:solidFill>
                  <a:schemeClr val="accent1"/>
                </a:solidFill>
                <a:sym typeface="微软雅黑" panose="020B0503020204020204" pitchFamily="34" charset="-122"/>
              </a:rPr>
              <a:t>人员分工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微软雅黑" panose="020B0503020204020204" pitchFamily="34" charset="-122"/>
            </a:endParaRPr>
          </a:p>
        </p:txBody>
      </p:sp>
      <p:grpSp>
        <p:nvGrpSpPr>
          <p:cNvPr id="52" name="组合 51"/>
          <p:cNvGrpSpPr/>
          <p:nvPr/>
        </p:nvGrpSpPr>
        <p:grpSpPr>
          <a:xfrm>
            <a:off x="3240691" y="3843014"/>
            <a:ext cx="999564" cy="1001764"/>
            <a:chOff x="3437020" y="2074814"/>
            <a:chExt cx="863676" cy="865577"/>
          </a:xfrm>
        </p:grpSpPr>
        <p:sp>
          <p:nvSpPr>
            <p:cNvPr id="53" name="椭圆 19"/>
            <p:cNvSpPr>
              <a:spLocks noChangeArrowheads="1"/>
            </p:cNvSpPr>
            <p:nvPr/>
          </p:nvSpPr>
          <p:spPr bwMode="auto">
            <a:xfrm>
              <a:off x="3437020" y="2074814"/>
              <a:ext cx="863676" cy="865577"/>
            </a:xfrm>
            <a:prstGeom prst="ellipse">
              <a:avLst/>
            </a:prstGeom>
            <a:solidFill>
              <a:schemeClr val="accent1"/>
            </a:solidFill>
            <a:ln w="38100">
              <a:solidFill>
                <a:schemeClr val="bg1">
                  <a:lumMod val="75000"/>
                </a:schemeClr>
              </a:solidFill>
              <a:miter lim="800000"/>
            </a:ln>
          </p:spPr>
          <p:txBody>
            <a:bodyPr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9pPr>
            </a:lstStyle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endParaRPr>
            </a:p>
          </p:txBody>
        </p:sp>
        <p:pic>
          <p:nvPicPr>
            <p:cNvPr id="54" name="图片 53"/>
            <p:cNvPicPr>
              <a:picLocks noChangeAspect="1"/>
            </p:cNvPicPr>
            <p:nvPr/>
          </p:nvPicPr>
          <p:blipFill>
            <a:blip r:embed="rId5" cstate="screen">
              <a:biLevel thresh="25000"/>
            </a:blip>
            <a:stretch>
              <a:fillRect/>
            </a:stretch>
          </p:blipFill>
          <p:spPr>
            <a:xfrm>
              <a:off x="3596360" y="2243692"/>
              <a:ext cx="553608" cy="567096"/>
            </a:xfrm>
            <a:prstGeom prst="rect">
              <a:avLst/>
            </a:prstGeom>
          </p:spPr>
        </p:pic>
      </p:grpSp>
      <p:grpSp>
        <p:nvGrpSpPr>
          <p:cNvPr id="55" name="组合 54"/>
          <p:cNvGrpSpPr/>
          <p:nvPr/>
        </p:nvGrpSpPr>
        <p:grpSpPr>
          <a:xfrm>
            <a:off x="5316873" y="3137515"/>
            <a:ext cx="999564" cy="999925"/>
            <a:chOff x="3437020" y="3157655"/>
            <a:chExt cx="863676" cy="863988"/>
          </a:xfrm>
        </p:grpSpPr>
        <p:sp>
          <p:nvSpPr>
            <p:cNvPr id="56" name="椭圆 20"/>
            <p:cNvSpPr>
              <a:spLocks noChangeArrowheads="1"/>
            </p:cNvSpPr>
            <p:nvPr/>
          </p:nvSpPr>
          <p:spPr bwMode="auto">
            <a:xfrm>
              <a:off x="3437020" y="3157655"/>
              <a:ext cx="863676" cy="863988"/>
            </a:xfrm>
            <a:prstGeom prst="ellipse">
              <a:avLst/>
            </a:prstGeom>
            <a:solidFill>
              <a:schemeClr val="accent1"/>
            </a:solidFill>
            <a:ln w="38100">
              <a:solidFill>
                <a:schemeClr val="bg1">
                  <a:lumMod val="75000"/>
                </a:schemeClr>
              </a:solidFill>
              <a:miter lim="800000"/>
            </a:ln>
          </p:spPr>
          <p:txBody>
            <a:bodyPr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9pPr>
            </a:lstStyle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endParaRPr>
            </a:p>
          </p:txBody>
        </p:sp>
        <p:grpSp>
          <p:nvGrpSpPr>
            <p:cNvPr id="57" name="组合 56"/>
            <p:cNvGrpSpPr/>
            <p:nvPr/>
          </p:nvGrpSpPr>
          <p:grpSpPr>
            <a:xfrm>
              <a:off x="3603965" y="3301680"/>
              <a:ext cx="519264" cy="531742"/>
              <a:chOff x="9901114" y="2870043"/>
              <a:chExt cx="1094967" cy="1121279"/>
            </a:xfrm>
          </p:grpSpPr>
          <p:sp>
            <p:nvSpPr>
              <p:cNvPr id="58" name="Freeform 5"/>
              <p:cNvSpPr/>
              <p:nvPr/>
            </p:nvSpPr>
            <p:spPr bwMode="auto">
              <a:xfrm>
                <a:off x="10585467" y="2870043"/>
                <a:ext cx="234963" cy="800500"/>
              </a:xfrm>
              <a:custGeom>
                <a:avLst/>
                <a:gdLst>
                  <a:gd name="T0" fmla="*/ 2 w 43"/>
                  <a:gd name="T1" fmla="*/ 115 h 115"/>
                  <a:gd name="T2" fmla="*/ 3 w 43"/>
                  <a:gd name="T3" fmla="*/ 115 h 115"/>
                  <a:gd name="T4" fmla="*/ 3 w 43"/>
                  <a:gd name="T5" fmla="*/ 115 h 115"/>
                  <a:gd name="T6" fmla="*/ 3 w 43"/>
                  <a:gd name="T7" fmla="*/ 115 h 115"/>
                  <a:gd name="T8" fmla="*/ 4 w 43"/>
                  <a:gd name="T9" fmla="*/ 115 h 115"/>
                  <a:gd name="T10" fmla="*/ 4 w 43"/>
                  <a:gd name="T11" fmla="*/ 115 h 115"/>
                  <a:gd name="T12" fmla="*/ 5 w 43"/>
                  <a:gd name="T13" fmla="*/ 114 h 115"/>
                  <a:gd name="T14" fmla="*/ 22 w 43"/>
                  <a:gd name="T15" fmla="*/ 98 h 115"/>
                  <a:gd name="T16" fmla="*/ 38 w 43"/>
                  <a:gd name="T17" fmla="*/ 114 h 115"/>
                  <a:gd name="T18" fmla="*/ 39 w 43"/>
                  <a:gd name="T19" fmla="*/ 115 h 115"/>
                  <a:gd name="T20" fmla="*/ 39 w 43"/>
                  <a:gd name="T21" fmla="*/ 115 h 115"/>
                  <a:gd name="T22" fmla="*/ 40 w 43"/>
                  <a:gd name="T23" fmla="*/ 115 h 115"/>
                  <a:gd name="T24" fmla="*/ 40 w 43"/>
                  <a:gd name="T25" fmla="*/ 115 h 115"/>
                  <a:gd name="T26" fmla="*/ 40 w 43"/>
                  <a:gd name="T27" fmla="*/ 115 h 115"/>
                  <a:gd name="T28" fmla="*/ 41 w 43"/>
                  <a:gd name="T29" fmla="*/ 115 h 115"/>
                  <a:gd name="T30" fmla="*/ 42 w 43"/>
                  <a:gd name="T31" fmla="*/ 114 h 115"/>
                  <a:gd name="T32" fmla="*/ 43 w 43"/>
                  <a:gd name="T33" fmla="*/ 112 h 115"/>
                  <a:gd name="T34" fmla="*/ 43 w 43"/>
                  <a:gd name="T35" fmla="*/ 27 h 115"/>
                  <a:gd name="T36" fmla="*/ 43 w 43"/>
                  <a:gd name="T37" fmla="*/ 13 h 115"/>
                  <a:gd name="T38" fmla="*/ 43 w 43"/>
                  <a:gd name="T39" fmla="*/ 3 h 115"/>
                  <a:gd name="T40" fmla="*/ 42 w 43"/>
                  <a:gd name="T41" fmla="*/ 1 h 115"/>
                  <a:gd name="T42" fmla="*/ 40 w 43"/>
                  <a:gd name="T43" fmla="*/ 0 h 115"/>
                  <a:gd name="T44" fmla="*/ 3 w 43"/>
                  <a:gd name="T45" fmla="*/ 0 h 115"/>
                  <a:gd name="T46" fmla="*/ 3 w 43"/>
                  <a:gd name="T47" fmla="*/ 0 h 115"/>
                  <a:gd name="T48" fmla="*/ 2 w 43"/>
                  <a:gd name="T49" fmla="*/ 1 h 115"/>
                  <a:gd name="T50" fmla="*/ 2 w 43"/>
                  <a:gd name="T51" fmla="*/ 1 h 115"/>
                  <a:gd name="T52" fmla="*/ 0 w 43"/>
                  <a:gd name="T53" fmla="*/ 3 h 115"/>
                  <a:gd name="T54" fmla="*/ 0 w 43"/>
                  <a:gd name="T55" fmla="*/ 13 h 115"/>
                  <a:gd name="T56" fmla="*/ 0 w 43"/>
                  <a:gd name="T57" fmla="*/ 27 h 115"/>
                  <a:gd name="T58" fmla="*/ 0 w 43"/>
                  <a:gd name="T59" fmla="*/ 112 h 115"/>
                  <a:gd name="T60" fmla="*/ 2 w 43"/>
                  <a:gd name="T61" fmla="*/ 115 h 1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43" h="115">
                    <a:moveTo>
                      <a:pt x="2" y="115"/>
                    </a:moveTo>
                    <a:cubicBezTo>
                      <a:pt x="2" y="115"/>
                      <a:pt x="2" y="115"/>
                      <a:pt x="3" y="115"/>
                    </a:cubicBezTo>
                    <a:cubicBezTo>
                      <a:pt x="3" y="115"/>
                      <a:pt x="3" y="115"/>
                      <a:pt x="3" y="115"/>
                    </a:cubicBezTo>
                    <a:cubicBezTo>
                      <a:pt x="3" y="115"/>
                      <a:pt x="3" y="115"/>
                      <a:pt x="3" y="115"/>
                    </a:cubicBezTo>
                    <a:cubicBezTo>
                      <a:pt x="3" y="115"/>
                      <a:pt x="4" y="115"/>
                      <a:pt x="4" y="115"/>
                    </a:cubicBezTo>
                    <a:cubicBezTo>
                      <a:pt x="4" y="115"/>
                      <a:pt x="4" y="115"/>
                      <a:pt x="4" y="115"/>
                    </a:cubicBezTo>
                    <a:cubicBezTo>
                      <a:pt x="4" y="115"/>
                      <a:pt x="5" y="114"/>
                      <a:pt x="5" y="114"/>
                    </a:cubicBezTo>
                    <a:cubicBezTo>
                      <a:pt x="22" y="98"/>
                      <a:pt x="22" y="98"/>
                      <a:pt x="22" y="98"/>
                    </a:cubicBezTo>
                    <a:cubicBezTo>
                      <a:pt x="38" y="114"/>
                      <a:pt x="38" y="114"/>
                      <a:pt x="38" y="114"/>
                    </a:cubicBezTo>
                    <a:cubicBezTo>
                      <a:pt x="38" y="114"/>
                      <a:pt x="39" y="115"/>
                      <a:pt x="39" y="115"/>
                    </a:cubicBezTo>
                    <a:cubicBezTo>
                      <a:pt x="39" y="115"/>
                      <a:pt x="39" y="115"/>
                      <a:pt x="39" y="115"/>
                    </a:cubicBezTo>
                    <a:cubicBezTo>
                      <a:pt x="40" y="115"/>
                      <a:pt x="40" y="115"/>
                      <a:pt x="40" y="115"/>
                    </a:cubicBezTo>
                    <a:cubicBezTo>
                      <a:pt x="40" y="115"/>
                      <a:pt x="40" y="115"/>
                      <a:pt x="40" y="115"/>
                    </a:cubicBezTo>
                    <a:cubicBezTo>
                      <a:pt x="40" y="115"/>
                      <a:pt x="40" y="115"/>
                      <a:pt x="40" y="115"/>
                    </a:cubicBezTo>
                    <a:cubicBezTo>
                      <a:pt x="41" y="115"/>
                      <a:pt x="41" y="115"/>
                      <a:pt x="41" y="115"/>
                    </a:cubicBezTo>
                    <a:cubicBezTo>
                      <a:pt x="42" y="115"/>
                      <a:pt x="42" y="114"/>
                      <a:pt x="42" y="114"/>
                    </a:cubicBezTo>
                    <a:cubicBezTo>
                      <a:pt x="43" y="114"/>
                      <a:pt x="43" y="113"/>
                      <a:pt x="43" y="112"/>
                    </a:cubicBezTo>
                    <a:cubicBezTo>
                      <a:pt x="43" y="27"/>
                      <a:pt x="43" y="27"/>
                      <a:pt x="43" y="27"/>
                    </a:cubicBezTo>
                    <a:cubicBezTo>
                      <a:pt x="43" y="13"/>
                      <a:pt x="43" y="13"/>
                      <a:pt x="43" y="13"/>
                    </a:cubicBezTo>
                    <a:cubicBezTo>
                      <a:pt x="43" y="3"/>
                      <a:pt x="43" y="3"/>
                      <a:pt x="43" y="3"/>
                    </a:cubicBezTo>
                    <a:cubicBezTo>
                      <a:pt x="43" y="3"/>
                      <a:pt x="43" y="2"/>
                      <a:pt x="42" y="1"/>
                    </a:cubicBezTo>
                    <a:cubicBezTo>
                      <a:pt x="42" y="1"/>
                      <a:pt x="41" y="0"/>
                      <a:pt x="40" y="0"/>
                    </a:cubicBezTo>
                    <a:cubicBezTo>
                      <a:pt x="3" y="0"/>
                      <a:pt x="3" y="0"/>
                      <a:pt x="3" y="0"/>
                    </a:cubicBezTo>
                    <a:cubicBezTo>
                      <a:pt x="3" y="0"/>
                      <a:pt x="3" y="0"/>
                      <a:pt x="3" y="0"/>
                    </a:cubicBezTo>
                    <a:cubicBezTo>
                      <a:pt x="3" y="0"/>
                      <a:pt x="2" y="0"/>
                      <a:pt x="2" y="1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1" y="1"/>
                      <a:pt x="0" y="2"/>
                      <a:pt x="0" y="3"/>
                    </a:cubicBezTo>
                    <a:cubicBezTo>
                      <a:pt x="0" y="13"/>
                      <a:pt x="0" y="13"/>
                      <a:pt x="0" y="13"/>
                    </a:cubicBezTo>
                    <a:cubicBezTo>
                      <a:pt x="0" y="27"/>
                      <a:pt x="0" y="27"/>
                      <a:pt x="0" y="27"/>
                    </a:cubicBezTo>
                    <a:cubicBezTo>
                      <a:pt x="0" y="112"/>
                      <a:pt x="0" y="112"/>
                      <a:pt x="0" y="112"/>
                    </a:cubicBezTo>
                    <a:cubicBezTo>
                      <a:pt x="0" y="113"/>
                      <a:pt x="1" y="114"/>
                      <a:pt x="2" y="115"/>
                    </a:cubicBezTo>
                    <a:close/>
                  </a:path>
                </a:pathLst>
              </a:cu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txBody>
              <a:bodyPr vert="horz" wrap="square" lIns="121920" tIns="60960" rIns="121920" bIns="60960" numCol="1" anchor="t" anchorCtr="0" compatLnSpc="1"/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65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+mn-cs"/>
                  <a:sym typeface="Arial" panose="020B0604020202020204" pitchFamily="34" charset="0"/>
                </a:endParaRPr>
              </a:p>
            </p:txBody>
          </p:sp>
          <p:sp>
            <p:nvSpPr>
              <p:cNvPr id="59" name="Freeform 6"/>
              <p:cNvSpPr/>
              <p:nvPr/>
            </p:nvSpPr>
            <p:spPr bwMode="auto">
              <a:xfrm>
                <a:off x="10044830" y="3280407"/>
                <a:ext cx="289711" cy="34679"/>
              </a:xfrm>
              <a:custGeom>
                <a:avLst/>
                <a:gdLst>
                  <a:gd name="T0" fmla="*/ 0 w 53"/>
                  <a:gd name="T1" fmla="*/ 3 h 5"/>
                  <a:gd name="T2" fmla="*/ 3 w 53"/>
                  <a:gd name="T3" fmla="*/ 5 h 5"/>
                  <a:gd name="T4" fmla="*/ 50 w 53"/>
                  <a:gd name="T5" fmla="*/ 5 h 5"/>
                  <a:gd name="T6" fmla="*/ 53 w 53"/>
                  <a:gd name="T7" fmla="*/ 3 h 5"/>
                  <a:gd name="T8" fmla="*/ 50 w 53"/>
                  <a:gd name="T9" fmla="*/ 0 h 5"/>
                  <a:gd name="T10" fmla="*/ 3 w 53"/>
                  <a:gd name="T11" fmla="*/ 0 h 5"/>
                  <a:gd name="T12" fmla="*/ 0 w 53"/>
                  <a:gd name="T13" fmla="*/ 3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3" h="5">
                    <a:moveTo>
                      <a:pt x="0" y="3"/>
                    </a:moveTo>
                    <a:cubicBezTo>
                      <a:pt x="0" y="4"/>
                      <a:pt x="2" y="5"/>
                      <a:pt x="3" y="5"/>
                    </a:cubicBezTo>
                    <a:cubicBezTo>
                      <a:pt x="50" y="5"/>
                      <a:pt x="50" y="5"/>
                      <a:pt x="50" y="5"/>
                    </a:cubicBezTo>
                    <a:cubicBezTo>
                      <a:pt x="52" y="5"/>
                      <a:pt x="53" y="4"/>
                      <a:pt x="53" y="3"/>
                    </a:cubicBezTo>
                    <a:cubicBezTo>
                      <a:pt x="53" y="1"/>
                      <a:pt x="52" y="0"/>
                      <a:pt x="50" y="0"/>
                    </a:cubicBezTo>
                    <a:cubicBezTo>
                      <a:pt x="3" y="0"/>
                      <a:pt x="3" y="0"/>
                      <a:pt x="3" y="0"/>
                    </a:cubicBezTo>
                    <a:cubicBezTo>
                      <a:pt x="2" y="0"/>
                      <a:pt x="0" y="1"/>
                      <a:pt x="0" y="3"/>
                    </a:cubicBezTo>
                    <a:close/>
                  </a:path>
                </a:pathLst>
              </a:cu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txBody>
              <a:bodyPr vert="horz" wrap="square" lIns="121920" tIns="60960" rIns="121920" bIns="60960" numCol="1" anchor="t" anchorCtr="0" compatLnSpc="1"/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65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+mn-cs"/>
                  <a:sym typeface="Arial" panose="020B0604020202020204" pitchFamily="34" charset="0"/>
                </a:endParaRPr>
              </a:p>
            </p:txBody>
          </p:sp>
          <p:sp>
            <p:nvSpPr>
              <p:cNvPr id="60" name="Freeform 7"/>
              <p:cNvSpPr/>
              <p:nvPr/>
            </p:nvSpPr>
            <p:spPr bwMode="auto">
              <a:xfrm>
                <a:off x="10044830" y="3442241"/>
                <a:ext cx="289711" cy="34679"/>
              </a:xfrm>
              <a:custGeom>
                <a:avLst/>
                <a:gdLst>
                  <a:gd name="T0" fmla="*/ 50 w 53"/>
                  <a:gd name="T1" fmla="*/ 0 h 5"/>
                  <a:gd name="T2" fmla="*/ 3 w 53"/>
                  <a:gd name="T3" fmla="*/ 0 h 5"/>
                  <a:gd name="T4" fmla="*/ 0 w 53"/>
                  <a:gd name="T5" fmla="*/ 2 h 5"/>
                  <a:gd name="T6" fmla="*/ 3 w 53"/>
                  <a:gd name="T7" fmla="*/ 5 h 5"/>
                  <a:gd name="T8" fmla="*/ 50 w 53"/>
                  <a:gd name="T9" fmla="*/ 5 h 5"/>
                  <a:gd name="T10" fmla="*/ 53 w 53"/>
                  <a:gd name="T11" fmla="*/ 2 h 5"/>
                  <a:gd name="T12" fmla="*/ 50 w 53"/>
                  <a:gd name="T13" fmla="*/ 0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3" h="5">
                    <a:moveTo>
                      <a:pt x="50" y="0"/>
                    </a:moveTo>
                    <a:cubicBezTo>
                      <a:pt x="3" y="0"/>
                      <a:pt x="3" y="0"/>
                      <a:pt x="3" y="0"/>
                    </a:cubicBezTo>
                    <a:cubicBezTo>
                      <a:pt x="2" y="0"/>
                      <a:pt x="0" y="1"/>
                      <a:pt x="0" y="2"/>
                    </a:cubicBezTo>
                    <a:cubicBezTo>
                      <a:pt x="0" y="4"/>
                      <a:pt x="2" y="5"/>
                      <a:pt x="3" y="5"/>
                    </a:cubicBezTo>
                    <a:cubicBezTo>
                      <a:pt x="50" y="5"/>
                      <a:pt x="50" y="5"/>
                      <a:pt x="50" y="5"/>
                    </a:cubicBezTo>
                    <a:cubicBezTo>
                      <a:pt x="52" y="5"/>
                      <a:pt x="53" y="4"/>
                      <a:pt x="53" y="2"/>
                    </a:cubicBezTo>
                    <a:cubicBezTo>
                      <a:pt x="53" y="1"/>
                      <a:pt x="52" y="0"/>
                      <a:pt x="50" y="0"/>
                    </a:cubicBezTo>
                    <a:close/>
                  </a:path>
                </a:pathLst>
              </a:cu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txBody>
              <a:bodyPr vert="horz" wrap="square" lIns="121920" tIns="60960" rIns="121920" bIns="60960" numCol="1" anchor="t" anchorCtr="0" compatLnSpc="1"/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65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+mn-cs"/>
                  <a:sym typeface="Arial" panose="020B0604020202020204" pitchFamily="34" charset="0"/>
                </a:endParaRPr>
              </a:p>
            </p:txBody>
          </p:sp>
          <p:sp>
            <p:nvSpPr>
              <p:cNvPr id="61" name="Freeform 8"/>
              <p:cNvSpPr/>
              <p:nvPr/>
            </p:nvSpPr>
            <p:spPr bwMode="auto">
              <a:xfrm>
                <a:off x="10044830" y="3601186"/>
                <a:ext cx="289711" cy="34679"/>
              </a:xfrm>
              <a:custGeom>
                <a:avLst/>
                <a:gdLst>
                  <a:gd name="T0" fmla="*/ 50 w 53"/>
                  <a:gd name="T1" fmla="*/ 0 h 5"/>
                  <a:gd name="T2" fmla="*/ 3 w 53"/>
                  <a:gd name="T3" fmla="*/ 0 h 5"/>
                  <a:gd name="T4" fmla="*/ 0 w 53"/>
                  <a:gd name="T5" fmla="*/ 2 h 5"/>
                  <a:gd name="T6" fmla="*/ 3 w 53"/>
                  <a:gd name="T7" fmla="*/ 5 h 5"/>
                  <a:gd name="T8" fmla="*/ 50 w 53"/>
                  <a:gd name="T9" fmla="*/ 5 h 5"/>
                  <a:gd name="T10" fmla="*/ 53 w 53"/>
                  <a:gd name="T11" fmla="*/ 2 h 5"/>
                  <a:gd name="T12" fmla="*/ 50 w 53"/>
                  <a:gd name="T13" fmla="*/ 0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3" h="5">
                    <a:moveTo>
                      <a:pt x="50" y="0"/>
                    </a:moveTo>
                    <a:cubicBezTo>
                      <a:pt x="3" y="0"/>
                      <a:pt x="3" y="0"/>
                      <a:pt x="3" y="0"/>
                    </a:cubicBezTo>
                    <a:cubicBezTo>
                      <a:pt x="2" y="0"/>
                      <a:pt x="0" y="1"/>
                      <a:pt x="0" y="2"/>
                    </a:cubicBezTo>
                    <a:cubicBezTo>
                      <a:pt x="0" y="4"/>
                      <a:pt x="2" y="5"/>
                      <a:pt x="3" y="5"/>
                    </a:cubicBezTo>
                    <a:cubicBezTo>
                      <a:pt x="50" y="5"/>
                      <a:pt x="50" y="5"/>
                      <a:pt x="50" y="5"/>
                    </a:cubicBezTo>
                    <a:cubicBezTo>
                      <a:pt x="52" y="5"/>
                      <a:pt x="53" y="4"/>
                      <a:pt x="53" y="2"/>
                    </a:cubicBezTo>
                    <a:cubicBezTo>
                      <a:pt x="53" y="1"/>
                      <a:pt x="52" y="0"/>
                      <a:pt x="50" y="0"/>
                    </a:cubicBezTo>
                    <a:close/>
                  </a:path>
                </a:pathLst>
              </a:cu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txBody>
              <a:bodyPr vert="horz" wrap="square" lIns="121920" tIns="60960" rIns="121920" bIns="60960" numCol="1" anchor="t" anchorCtr="0" compatLnSpc="1"/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65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+mn-cs"/>
                  <a:sym typeface="Arial" panose="020B0604020202020204" pitchFamily="34" charset="0"/>
                </a:endParaRPr>
              </a:p>
            </p:txBody>
          </p:sp>
          <p:sp>
            <p:nvSpPr>
              <p:cNvPr id="62" name="Freeform 9"/>
              <p:cNvSpPr>
                <a:spLocks noEditPoints="1"/>
              </p:cNvSpPr>
              <p:nvPr/>
            </p:nvSpPr>
            <p:spPr bwMode="auto">
              <a:xfrm>
                <a:off x="9901114" y="2953851"/>
                <a:ext cx="1094967" cy="1037471"/>
              </a:xfrm>
              <a:custGeom>
                <a:avLst/>
                <a:gdLst>
                  <a:gd name="T0" fmla="*/ 177 w 200"/>
                  <a:gd name="T1" fmla="*/ 3 h 149"/>
                  <a:gd name="T2" fmla="*/ 177 w 200"/>
                  <a:gd name="T3" fmla="*/ 17 h 149"/>
                  <a:gd name="T4" fmla="*/ 186 w 200"/>
                  <a:gd name="T5" fmla="*/ 21 h 149"/>
                  <a:gd name="T6" fmla="*/ 186 w 200"/>
                  <a:gd name="T7" fmla="*/ 134 h 149"/>
                  <a:gd name="T8" fmla="*/ 107 w 200"/>
                  <a:gd name="T9" fmla="*/ 134 h 149"/>
                  <a:gd name="T10" fmla="*/ 107 w 200"/>
                  <a:gd name="T11" fmla="*/ 21 h 149"/>
                  <a:gd name="T12" fmla="*/ 117 w 200"/>
                  <a:gd name="T13" fmla="*/ 17 h 149"/>
                  <a:gd name="T14" fmla="*/ 117 w 200"/>
                  <a:gd name="T15" fmla="*/ 3 h 149"/>
                  <a:gd name="T16" fmla="*/ 100 w 200"/>
                  <a:gd name="T17" fmla="*/ 9 h 149"/>
                  <a:gd name="T18" fmla="*/ 53 w 200"/>
                  <a:gd name="T19" fmla="*/ 0 h 149"/>
                  <a:gd name="T20" fmla="*/ 0 w 200"/>
                  <a:gd name="T21" fmla="*/ 20 h 149"/>
                  <a:gd name="T22" fmla="*/ 0 w 200"/>
                  <a:gd name="T23" fmla="*/ 142 h 149"/>
                  <a:gd name="T24" fmla="*/ 2 w 200"/>
                  <a:gd name="T25" fmla="*/ 147 h 149"/>
                  <a:gd name="T26" fmla="*/ 8 w 200"/>
                  <a:gd name="T27" fmla="*/ 149 h 149"/>
                  <a:gd name="T28" fmla="*/ 53 w 200"/>
                  <a:gd name="T29" fmla="*/ 145 h 149"/>
                  <a:gd name="T30" fmla="*/ 99 w 200"/>
                  <a:gd name="T31" fmla="*/ 149 h 149"/>
                  <a:gd name="T32" fmla="*/ 99 w 200"/>
                  <a:gd name="T33" fmla="*/ 149 h 149"/>
                  <a:gd name="T34" fmla="*/ 100 w 200"/>
                  <a:gd name="T35" fmla="*/ 149 h 149"/>
                  <a:gd name="T36" fmla="*/ 100 w 200"/>
                  <a:gd name="T37" fmla="*/ 149 h 149"/>
                  <a:gd name="T38" fmla="*/ 101 w 200"/>
                  <a:gd name="T39" fmla="*/ 149 h 149"/>
                  <a:gd name="T40" fmla="*/ 101 w 200"/>
                  <a:gd name="T41" fmla="*/ 149 h 149"/>
                  <a:gd name="T42" fmla="*/ 146 w 200"/>
                  <a:gd name="T43" fmla="*/ 145 h 149"/>
                  <a:gd name="T44" fmla="*/ 192 w 200"/>
                  <a:gd name="T45" fmla="*/ 149 h 149"/>
                  <a:gd name="T46" fmla="*/ 193 w 200"/>
                  <a:gd name="T47" fmla="*/ 149 h 149"/>
                  <a:gd name="T48" fmla="*/ 197 w 200"/>
                  <a:gd name="T49" fmla="*/ 147 h 149"/>
                  <a:gd name="T50" fmla="*/ 200 w 200"/>
                  <a:gd name="T51" fmla="*/ 142 h 149"/>
                  <a:gd name="T52" fmla="*/ 200 w 200"/>
                  <a:gd name="T53" fmla="*/ 20 h 149"/>
                  <a:gd name="T54" fmla="*/ 177 w 200"/>
                  <a:gd name="T55" fmla="*/ 3 h 149"/>
                  <a:gd name="T56" fmla="*/ 93 w 200"/>
                  <a:gd name="T57" fmla="*/ 134 h 149"/>
                  <a:gd name="T58" fmla="*/ 53 w 200"/>
                  <a:gd name="T59" fmla="*/ 131 h 149"/>
                  <a:gd name="T60" fmla="*/ 14 w 200"/>
                  <a:gd name="T61" fmla="*/ 134 h 149"/>
                  <a:gd name="T62" fmla="*/ 14 w 200"/>
                  <a:gd name="T63" fmla="*/ 21 h 149"/>
                  <a:gd name="T64" fmla="*/ 53 w 200"/>
                  <a:gd name="T65" fmla="*/ 14 h 149"/>
                  <a:gd name="T66" fmla="*/ 93 w 200"/>
                  <a:gd name="T67" fmla="*/ 21 h 149"/>
                  <a:gd name="T68" fmla="*/ 93 w 200"/>
                  <a:gd name="T69" fmla="*/ 134 h 1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</a:cxnLst>
                <a:rect l="0" t="0" r="r" b="b"/>
                <a:pathLst>
                  <a:path w="200" h="149">
                    <a:moveTo>
                      <a:pt x="177" y="3"/>
                    </a:moveTo>
                    <a:cubicBezTo>
                      <a:pt x="177" y="17"/>
                      <a:pt x="177" y="17"/>
                      <a:pt x="177" y="17"/>
                    </a:cubicBezTo>
                    <a:cubicBezTo>
                      <a:pt x="181" y="18"/>
                      <a:pt x="185" y="20"/>
                      <a:pt x="186" y="21"/>
                    </a:cubicBezTo>
                    <a:cubicBezTo>
                      <a:pt x="186" y="134"/>
                      <a:pt x="186" y="134"/>
                      <a:pt x="186" y="134"/>
                    </a:cubicBezTo>
                    <a:cubicBezTo>
                      <a:pt x="161" y="130"/>
                      <a:pt x="131" y="130"/>
                      <a:pt x="107" y="134"/>
                    </a:cubicBezTo>
                    <a:cubicBezTo>
                      <a:pt x="107" y="21"/>
                      <a:pt x="107" y="21"/>
                      <a:pt x="107" y="21"/>
                    </a:cubicBezTo>
                    <a:cubicBezTo>
                      <a:pt x="108" y="20"/>
                      <a:pt x="111" y="18"/>
                      <a:pt x="117" y="17"/>
                    </a:cubicBezTo>
                    <a:cubicBezTo>
                      <a:pt x="117" y="3"/>
                      <a:pt x="117" y="3"/>
                      <a:pt x="117" y="3"/>
                    </a:cubicBezTo>
                    <a:cubicBezTo>
                      <a:pt x="110" y="4"/>
                      <a:pt x="104" y="6"/>
                      <a:pt x="100" y="9"/>
                    </a:cubicBezTo>
                    <a:cubicBezTo>
                      <a:pt x="90" y="2"/>
                      <a:pt x="70" y="0"/>
                      <a:pt x="53" y="0"/>
                    </a:cubicBezTo>
                    <a:cubicBezTo>
                      <a:pt x="29" y="0"/>
                      <a:pt x="0" y="5"/>
                      <a:pt x="0" y="20"/>
                    </a:cubicBezTo>
                    <a:cubicBezTo>
                      <a:pt x="0" y="142"/>
                      <a:pt x="0" y="142"/>
                      <a:pt x="0" y="142"/>
                    </a:cubicBezTo>
                    <a:cubicBezTo>
                      <a:pt x="0" y="144"/>
                      <a:pt x="1" y="146"/>
                      <a:pt x="2" y="147"/>
                    </a:cubicBezTo>
                    <a:cubicBezTo>
                      <a:pt x="4" y="148"/>
                      <a:pt x="6" y="149"/>
                      <a:pt x="8" y="149"/>
                    </a:cubicBezTo>
                    <a:cubicBezTo>
                      <a:pt x="22" y="146"/>
                      <a:pt x="37" y="145"/>
                      <a:pt x="53" y="145"/>
                    </a:cubicBezTo>
                    <a:cubicBezTo>
                      <a:pt x="69" y="145"/>
                      <a:pt x="85" y="146"/>
                      <a:pt x="99" y="149"/>
                    </a:cubicBezTo>
                    <a:cubicBezTo>
                      <a:pt x="99" y="149"/>
                      <a:pt x="99" y="149"/>
                      <a:pt x="99" y="149"/>
                    </a:cubicBezTo>
                    <a:cubicBezTo>
                      <a:pt x="99" y="149"/>
                      <a:pt x="99" y="149"/>
                      <a:pt x="100" y="149"/>
                    </a:cubicBezTo>
                    <a:cubicBezTo>
                      <a:pt x="100" y="149"/>
                      <a:pt x="100" y="149"/>
                      <a:pt x="100" y="149"/>
                    </a:cubicBezTo>
                    <a:cubicBezTo>
                      <a:pt x="100" y="149"/>
                      <a:pt x="100" y="149"/>
                      <a:pt x="101" y="149"/>
                    </a:cubicBezTo>
                    <a:cubicBezTo>
                      <a:pt x="101" y="149"/>
                      <a:pt x="101" y="149"/>
                      <a:pt x="101" y="149"/>
                    </a:cubicBezTo>
                    <a:cubicBezTo>
                      <a:pt x="115" y="146"/>
                      <a:pt x="130" y="145"/>
                      <a:pt x="146" y="145"/>
                    </a:cubicBezTo>
                    <a:cubicBezTo>
                      <a:pt x="162" y="145"/>
                      <a:pt x="178" y="146"/>
                      <a:pt x="192" y="149"/>
                    </a:cubicBezTo>
                    <a:cubicBezTo>
                      <a:pt x="192" y="149"/>
                      <a:pt x="192" y="149"/>
                      <a:pt x="193" y="149"/>
                    </a:cubicBezTo>
                    <a:cubicBezTo>
                      <a:pt x="194" y="149"/>
                      <a:pt x="196" y="148"/>
                      <a:pt x="197" y="147"/>
                    </a:cubicBezTo>
                    <a:cubicBezTo>
                      <a:pt x="199" y="146"/>
                      <a:pt x="200" y="144"/>
                      <a:pt x="200" y="142"/>
                    </a:cubicBezTo>
                    <a:cubicBezTo>
                      <a:pt x="200" y="20"/>
                      <a:pt x="200" y="20"/>
                      <a:pt x="200" y="20"/>
                    </a:cubicBezTo>
                    <a:cubicBezTo>
                      <a:pt x="200" y="11"/>
                      <a:pt x="190" y="6"/>
                      <a:pt x="177" y="3"/>
                    </a:cubicBezTo>
                    <a:close/>
                    <a:moveTo>
                      <a:pt x="93" y="134"/>
                    </a:moveTo>
                    <a:cubicBezTo>
                      <a:pt x="80" y="132"/>
                      <a:pt x="67" y="131"/>
                      <a:pt x="53" y="131"/>
                    </a:cubicBezTo>
                    <a:cubicBezTo>
                      <a:pt x="40" y="131"/>
                      <a:pt x="26" y="132"/>
                      <a:pt x="14" y="134"/>
                    </a:cubicBezTo>
                    <a:cubicBezTo>
                      <a:pt x="14" y="21"/>
                      <a:pt x="14" y="21"/>
                      <a:pt x="14" y="21"/>
                    </a:cubicBezTo>
                    <a:cubicBezTo>
                      <a:pt x="16" y="18"/>
                      <a:pt x="30" y="14"/>
                      <a:pt x="53" y="14"/>
                    </a:cubicBezTo>
                    <a:cubicBezTo>
                      <a:pt x="76" y="14"/>
                      <a:pt x="90" y="18"/>
                      <a:pt x="93" y="21"/>
                    </a:cubicBezTo>
                    <a:lnTo>
                      <a:pt x="93" y="134"/>
                    </a:lnTo>
                    <a:close/>
                  </a:path>
                </a:pathLst>
              </a:cu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txBody>
              <a:bodyPr vert="horz" wrap="square" lIns="121920" tIns="60960" rIns="121920" bIns="60960" numCol="1" anchor="t" anchorCtr="0" compatLnSpc="1"/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65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+mn-cs"/>
                  <a:sym typeface="Arial" panose="020B0604020202020204" pitchFamily="34" charset="0"/>
                </a:endParaRPr>
              </a:p>
            </p:txBody>
          </p:sp>
        </p:grpSp>
      </p:grpSp>
      <p:grpSp>
        <p:nvGrpSpPr>
          <p:cNvPr id="63" name="组合 62"/>
          <p:cNvGrpSpPr/>
          <p:nvPr/>
        </p:nvGrpSpPr>
        <p:grpSpPr>
          <a:xfrm>
            <a:off x="7529563" y="2650283"/>
            <a:ext cx="999564" cy="1001763"/>
            <a:chOff x="3437020" y="4201727"/>
            <a:chExt cx="863676" cy="865576"/>
          </a:xfrm>
        </p:grpSpPr>
        <p:sp>
          <p:nvSpPr>
            <p:cNvPr id="64" name="椭圆 21"/>
            <p:cNvSpPr>
              <a:spLocks noChangeArrowheads="1"/>
            </p:cNvSpPr>
            <p:nvPr/>
          </p:nvSpPr>
          <p:spPr bwMode="auto">
            <a:xfrm>
              <a:off x="3437020" y="4201727"/>
              <a:ext cx="863676" cy="865576"/>
            </a:xfrm>
            <a:prstGeom prst="ellipse">
              <a:avLst/>
            </a:prstGeom>
            <a:solidFill>
              <a:schemeClr val="accent1"/>
            </a:solidFill>
            <a:ln w="38100">
              <a:solidFill>
                <a:schemeClr val="bg1">
                  <a:lumMod val="75000"/>
                </a:schemeClr>
              </a:solidFill>
              <a:miter lim="800000"/>
            </a:ln>
          </p:spPr>
          <p:txBody>
            <a:bodyPr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9pPr>
            </a:lstStyle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endParaRPr>
            </a:p>
          </p:txBody>
        </p:sp>
        <p:grpSp>
          <p:nvGrpSpPr>
            <p:cNvPr id="65" name="Group 4"/>
            <p:cNvGrpSpPr>
              <a:grpSpLocks noChangeAspect="1"/>
            </p:cNvGrpSpPr>
            <p:nvPr/>
          </p:nvGrpSpPr>
          <p:grpSpPr bwMode="auto">
            <a:xfrm>
              <a:off x="3626902" y="4339091"/>
              <a:ext cx="476560" cy="578496"/>
              <a:chOff x="2694" y="1931"/>
              <a:chExt cx="374" cy="454"/>
            </a:xfrm>
            <a:solidFill>
              <a:schemeClr val="bg1"/>
            </a:solidFill>
          </p:grpSpPr>
          <p:sp>
            <p:nvSpPr>
              <p:cNvPr id="66" name="Freeform 5"/>
              <p:cNvSpPr>
                <a:spLocks noEditPoints="1"/>
              </p:cNvSpPr>
              <p:nvPr/>
            </p:nvSpPr>
            <p:spPr bwMode="auto">
              <a:xfrm>
                <a:off x="2694" y="1931"/>
                <a:ext cx="374" cy="454"/>
              </a:xfrm>
              <a:custGeom>
                <a:avLst/>
                <a:gdLst>
                  <a:gd name="T0" fmla="*/ 127 w 155"/>
                  <a:gd name="T1" fmla="*/ 7 h 189"/>
                  <a:gd name="T2" fmla="*/ 124 w 155"/>
                  <a:gd name="T3" fmla="*/ 0 h 189"/>
                  <a:gd name="T4" fmla="*/ 122 w 155"/>
                  <a:gd name="T5" fmla="*/ 7 h 189"/>
                  <a:gd name="T6" fmla="*/ 96 w 155"/>
                  <a:gd name="T7" fmla="*/ 3 h 189"/>
                  <a:gd name="T8" fmla="*/ 90 w 155"/>
                  <a:gd name="T9" fmla="*/ 3 h 189"/>
                  <a:gd name="T10" fmla="*/ 64 w 155"/>
                  <a:gd name="T11" fmla="*/ 7 h 189"/>
                  <a:gd name="T12" fmla="*/ 62 w 155"/>
                  <a:gd name="T13" fmla="*/ 0 h 189"/>
                  <a:gd name="T14" fmla="*/ 59 w 155"/>
                  <a:gd name="T15" fmla="*/ 7 h 189"/>
                  <a:gd name="T16" fmla="*/ 33 w 155"/>
                  <a:gd name="T17" fmla="*/ 3 h 189"/>
                  <a:gd name="T18" fmla="*/ 27 w 155"/>
                  <a:gd name="T19" fmla="*/ 3 h 189"/>
                  <a:gd name="T20" fmla="*/ 7 w 155"/>
                  <a:gd name="T21" fmla="*/ 7 h 189"/>
                  <a:gd name="T22" fmla="*/ 0 w 155"/>
                  <a:gd name="T23" fmla="*/ 182 h 189"/>
                  <a:gd name="T24" fmla="*/ 148 w 155"/>
                  <a:gd name="T25" fmla="*/ 189 h 189"/>
                  <a:gd name="T26" fmla="*/ 155 w 155"/>
                  <a:gd name="T27" fmla="*/ 13 h 189"/>
                  <a:gd name="T28" fmla="*/ 124 w 155"/>
                  <a:gd name="T29" fmla="*/ 40 h 189"/>
                  <a:gd name="T30" fmla="*/ 127 w 155"/>
                  <a:gd name="T31" fmla="*/ 31 h 189"/>
                  <a:gd name="T32" fmla="*/ 124 w 155"/>
                  <a:gd name="T33" fmla="*/ 44 h 189"/>
                  <a:gd name="T34" fmla="*/ 122 w 155"/>
                  <a:gd name="T35" fmla="*/ 31 h 189"/>
                  <a:gd name="T36" fmla="*/ 124 w 155"/>
                  <a:gd name="T37" fmla="*/ 40 h 189"/>
                  <a:gd name="T38" fmla="*/ 96 w 155"/>
                  <a:gd name="T39" fmla="*/ 37 h 189"/>
                  <a:gd name="T40" fmla="*/ 100 w 155"/>
                  <a:gd name="T41" fmla="*/ 37 h 189"/>
                  <a:gd name="T42" fmla="*/ 86 w 155"/>
                  <a:gd name="T43" fmla="*/ 37 h 189"/>
                  <a:gd name="T44" fmla="*/ 90 w 155"/>
                  <a:gd name="T45" fmla="*/ 37 h 189"/>
                  <a:gd name="T46" fmla="*/ 62 w 155"/>
                  <a:gd name="T47" fmla="*/ 40 h 189"/>
                  <a:gd name="T48" fmla="*/ 64 w 155"/>
                  <a:gd name="T49" fmla="*/ 31 h 189"/>
                  <a:gd name="T50" fmla="*/ 62 w 155"/>
                  <a:gd name="T51" fmla="*/ 44 h 189"/>
                  <a:gd name="T52" fmla="*/ 59 w 155"/>
                  <a:gd name="T53" fmla="*/ 31 h 189"/>
                  <a:gd name="T54" fmla="*/ 62 w 155"/>
                  <a:gd name="T55" fmla="*/ 40 h 189"/>
                  <a:gd name="T56" fmla="*/ 33 w 155"/>
                  <a:gd name="T57" fmla="*/ 37 h 189"/>
                  <a:gd name="T58" fmla="*/ 37 w 155"/>
                  <a:gd name="T59" fmla="*/ 37 h 189"/>
                  <a:gd name="T60" fmla="*/ 23 w 155"/>
                  <a:gd name="T61" fmla="*/ 37 h 189"/>
                  <a:gd name="T62" fmla="*/ 27 w 155"/>
                  <a:gd name="T63" fmla="*/ 37 h 189"/>
                  <a:gd name="T64" fmla="*/ 141 w 155"/>
                  <a:gd name="T65" fmla="*/ 175 h 189"/>
                  <a:gd name="T66" fmla="*/ 14 w 155"/>
                  <a:gd name="T67" fmla="*/ 20 h 189"/>
                  <a:gd name="T68" fmla="*/ 27 w 155"/>
                  <a:gd name="T69" fmla="*/ 25 h 189"/>
                  <a:gd name="T70" fmla="*/ 30 w 155"/>
                  <a:gd name="T71" fmla="*/ 50 h 189"/>
                  <a:gd name="T72" fmla="*/ 33 w 155"/>
                  <a:gd name="T73" fmla="*/ 25 h 189"/>
                  <a:gd name="T74" fmla="*/ 59 w 155"/>
                  <a:gd name="T75" fmla="*/ 20 h 189"/>
                  <a:gd name="T76" fmla="*/ 49 w 155"/>
                  <a:gd name="T77" fmla="*/ 37 h 189"/>
                  <a:gd name="T78" fmla="*/ 74 w 155"/>
                  <a:gd name="T79" fmla="*/ 37 h 189"/>
                  <a:gd name="T80" fmla="*/ 64 w 155"/>
                  <a:gd name="T81" fmla="*/ 20 h 189"/>
                  <a:gd name="T82" fmla="*/ 90 w 155"/>
                  <a:gd name="T83" fmla="*/ 25 h 189"/>
                  <a:gd name="T84" fmla="*/ 93 w 155"/>
                  <a:gd name="T85" fmla="*/ 50 h 189"/>
                  <a:gd name="T86" fmla="*/ 96 w 155"/>
                  <a:gd name="T87" fmla="*/ 25 h 189"/>
                  <a:gd name="T88" fmla="*/ 122 w 155"/>
                  <a:gd name="T89" fmla="*/ 20 h 189"/>
                  <a:gd name="T90" fmla="*/ 112 w 155"/>
                  <a:gd name="T91" fmla="*/ 37 h 189"/>
                  <a:gd name="T92" fmla="*/ 137 w 155"/>
                  <a:gd name="T93" fmla="*/ 37 h 189"/>
                  <a:gd name="T94" fmla="*/ 127 w 155"/>
                  <a:gd name="T95" fmla="*/ 20 h 189"/>
                  <a:gd name="T96" fmla="*/ 141 w 155"/>
                  <a:gd name="T97" fmla="*/ 175 h 1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</a:cxnLst>
                <a:rect l="0" t="0" r="r" b="b"/>
                <a:pathLst>
                  <a:path w="155" h="189">
                    <a:moveTo>
                      <a:pt x="148" y="7"/>
                    </a:moveTo>
                    <a:cubicBezTo>
                      <a:pt x="127" y="7"/>
                      <a:pt x="127" y="7"/>
                      <a:pt x="127" y="7"/>
                    </a:cubicBezTo>
                    <a:cubicBezTo>
                      <a:pt x="127" y="3"/>
                      <a:pt x="127" y="3"/>
                      <a:pt x="127" y="3"/>
                    </a:cubicBezTo>
                    <a:cubicBezTo>
                      <a:pt x="127" y="1"/>
                      <a:pt x="126" y="0"/>
                      <a:pt x="124" y="0"/>
                    </a:cubicBezTo>
                    <a:cubicBezTo>
                      <a:pt x="123" y="0"/>
                      <a:pt x="122" y="1"/>
                      <a:pt x="122" y="3"/>
                    </a:cubicBezTo>
                    <a:cubicBezTo>
                      <a:pt x="122" y="7"/>
                      <a:pt x="122" y="7"/>
                      <a:pt x="122" y="7"/>
                    </a:cubicBezTo>
                    <a:cubicBezTo>
                      <a:pt x="96" y="7"/>
                      <a:pt x="96" y="7"/>
                      <a:pt x="96" y="7"/>
                    </a:cubicBezTo>
                    <a:cubicBezTo>
                      <a:pt x="96" y="3"/>
                      <a:pt x="96" y="3"/>
                      <a:pt x="96" y="3"/>
                    </a:cubicBezTo>
                    <a:cubicBezTo>
                      <a:pt x="96" y="1"/>
                      <a:pt x="94" y="0"/>
                      <a:pt x="93" y="0"/>
                    </a:cubicBezTo>
                    <a:cubicBezTo>
                      <a:pt x="91" y="0"/>
                      <a:pt x="90" y="1"/>
                      <a:pt x="90" y="3"/>
                    </a:cubicBezTo>
                    <a:cubicBezTo>
                      <a:pt x="90" y="7"/>
                      <a:pt x="90" y="7"/>
                      <a:pt x="90" y="7"/>
                    </a:cubicBezTo>
                    <a:cubicBezTo>
                      <a:pt x="64" y="7"/>
                      <a:pt x="64" y="7"/>
                      <a:pt x="64" y="7"/>
                    </a:cubicBezTo>
                    <a:cubicBezTo>
                      <a:pt x="64" y="3"/>
                      <a:pt x="64" y="3"/>
                      <a:pt x="64" y="3"/>
                    </a:cubicBezTo>
                    <a:cubicBezTo>
                      <a:pt x="64" y="1"/>
                      <a:pt x="63" y="0"/>
                      <a:pt x="62" y="0"/>
                    </a:cubicBezTo>
                    <a:cubicBezTo>
                      <a:pt x="60" y="0"/>
                      <a:pt x="59" y="1"/>
                      <a:pt x="59" y="3"/>
                    </a:cubicBezTo>
                    <a:cubicBezTo>
                      <a:pt x="59" y="7"/>
                      <a:pt x="59" y="7"/>
                      <a:pt x="59" y="7"/>
                    </a:cubicBezTo>
                    <a:cubicBezTo>
                      <a:pt x="33" y="7"/>
                      <a:pt x="33" y="7"/>
                      <a:pt x="33" y="7"/>
                    </a:cubicBezTo>
                    <a:cubicBezTo>
                      <a:pt x="33" y="3"/>
                      <a:pt x="33" y="3"/>
                      <a:pt x="33" y="3"/>
                    </a:cubicBezTo>
                    <a:cubicBezTo>
                      <a:pt x="33" y="1"/>
                      <a:pt x="32" y="0"/>
                      <a:pt x="30" y="0"/>
                    </a:cubicBezTo>
                    <a:cubicBezTo>
                      <a:pt x="29" y="0"/>
                      <a:pt x="27" y="1"/>
                      <a:pt x="27" y="3"/>
                    </a:cubicBezTo>
                    <a:cubicBezTo>
                      <a:pt x="27" y="7"/>
                      <a:pt x="27" y="7"/>
                      <a:pt x="27" y="7"/>
                    </a:cubicBezTo>
                    <a:cubicBezTo>
                      <a:pt x="7" y="7"/>
                      <a:pt x="7" y="7"/>
                      <a:pt x="7" y="7"/>
                    </a:cubicBezTo>
                    <a:cubicBezTo>
                      <a:pt x="3" y="7"/>
                      <a:pt x="0" y="10"/>
                      <a:pt x="0" y="13"/>
                    </a:cubicBezTo>
                    <a:cubicBezTo>
                      <a:pt x="0" y="182"/>
                      <a:pt x="0" y="182"/>
                      <a:pt x="0" y="182"/>
                    </a:cubicBezTo>
                    <a:cubicBezTo>
                      <a:pt x="0" y="186"/>
                      <a:pt x="3" y="189"/>
                      <a:pt x="7" y="189"/>
                    </a:cubicBezTo>
                    <a:cubicBezTo>
                      <a:pt x="148" y="189"/>
                      <a:pt x="148" y="189"/>
                      <a:pt x="148" y="189"/>
                    </a:cubicBezTo>
                    <a:cubicBezTo>
                      <a:pt x="152" y="189"/>
                      <a:pt x="155" y="186"/>
                      <a:pt x="155" y="182"/>
                    </a:cubicBezTo>
                    <a:cubicBezTo>
                      <a:pt x="155" y="13"/>
                      <a:pt x="155" y="13"/>
                      <a:pt x="155" y="13"/>
                    </a:cubicBezTo>
                    <a:cubicBezTo>
                      <a:pt x="155" y="10"/>
                      <a:pt x="152" y="7"/>
                      <a:pt x="148" y="7"/>
                    </a:cubicBezTo>
                    <a:close/>
                    <a:moveTo>
                      <a:pt x="124" y="40"/>
                    </a:moveTo>
                    <a:cubicBezTo>
                      <a:pt x="126" y="40"/>
                      <a:pt x="127" y="39"/>
                      <a:pt x="127" y="37"/>
                    </a:cubicBezTo>
                    <a:cubicBezTo>
                      <a:pt x="127" y="31"/>
                      <a:pt x="127" y="31"/>
                      <a:pt x="127" y="31"/>
                    </a:cubicBezTo>
                    <a:cubicBezTo>
                      <a:pt x="130" y="32"/>
                      <a:pt x="131" y="35"/>
                      <a:pt x="131" y="37"/>
                    </a:cubicBezTo>
                    <a:cubicBezTo>
                      <a:pt x="131" y="41"/>
                      <a:pt x="128" y="44"/>
                      <a:pt x="124" y="44"/>
                    </a:cubicBezTo>
                    <a:cubicBezTo>
                      <a:pt x="120" y="44"/>
                      <a:pt x="117" y="41"/>
                      <a:pt x="117" y="37"/>
                    </a:cubicBezTo>
                    <a:cubicBezTo>
                      <a:pt x="117" y="34"/>
                      <a:pt x="119" y="32"/>
                      <a:pt x="122" y="31"/>
                    </a:cubicBezTo>
                    <a:cubicBezTo>
                      <a:pt x="122" y="37"/>
                      <a:pt x="122" y="37"/>
                      <a:pt x="122" y="37"/>
                    </a:cubicBezTo>
                    <a:cubicBezTo>
                      <a:pt x="122" y="39"/>
                      <a:pt x="123" y="40"/>
                      <a:pt x="124" y="40"/>
                    </a:cubicBezTo>
                    <a:close/>
                    <a:moveTo>
                      <a:pt x="93" y="40"/>
                    </a:moveTo>
                    <a:cubicBezTo>
                      <a:pt x="94" y="40"/>
                      <a:pt x="96" y="39"/>
                      <a:pt x="96" y="37"/>
                    </a:cubicBezTo>
                    <a:cubicBezTo>
                      <a:pt x="96" y="31"/>
                      <a:pt x="96" y="31"/>
                      <a:pt x="96" y="31"/>
                    </a:cubicBezTo>
                    <a:cubicBezTo>
                      <a:pt x="98" y="32"/>
                      <a:pt x="100" y="35"/>
                      <a:pt x="100" y="37"/>
                    </a:cubicBezTo>
                    <a:cubicBezTo>
                      <a:pt x="100" y="41"/>
                      <a:pt x="97" y="44"/>
                      <a:pt x="93" y="44"/>
                    </a:cubicBezTo>
                    <a:cubicBezTo>
                      <a:pt x="89" y="44"/>
                      <a:pt x="86" y="41"/>
                      <a:pt x="86" y="37"/>
                    </a:cubicBezTo>
                    <a:cubicBezTo>
                      <a:pt x="86" y="34"/>
                      <a:pt x="88" y="32"/>
                      <a:pt x="90" y="31"/>
                    </a:cubicBezTo>
                    <a:cubicBezTo>
                      <a:pt x="90" y="37"/>
                      <a:pt x="90" y="37"/>
                      <a:pt x="90" y="37"/>
                    </a:cubicBezTo>
                    <a:cubicBezTo>
                      <a:pt x="90" y="39"/>
                      <a:pt x="91" y="40"/>
                      <a:pt x="93" y="40"/>
                    </a:cubicBezTo>
                    <a:close/>
                    <a:moveTo>
                      <a:pt x="62" y="40"/>
                    </a:moveTo>
                    <a:cubicBezTo>
                      <a:pt x="63" y="40"/>
                      <a:pt x="64" y="39"/>
                      <a:pt x="64" y="37"/>
                    </a:cubicBezTo>
                    <a:cubicBezTo>
                      <a:pt x="64" y="31"/>
                      <a:pt x="64" y="31"/>
                      <a:pt x="64" y="31"/>
                    </a:cubicBezTo>
                    <a:cubicBezTo>
                      <a:pt x="67" y="32"/>
                      <a:pt x="69" y="35"/>
                      <a:pt x="69" y="37"/>
                    </a:cubicBezTo>
                    <a:cubicBezTo>
                      <a:pt x="69" y="41"/>
                      <a:pt x="65" y="44"/>
                      <a:pt x="62" y="44"/>
                    </a:cubicBezTo>
                    <a:cubicBezTo>
                      <a:pt x="58" y="44"/>
                      <a:pt x="54" y="41"/>
                      <a:pt x="54" y="37"/>
                    </a:cubicBezTo>
                    <a:cubicBezTo>
                      <a:pt x="54" y="34"/>
                      <a:pt x="56" y="32"/>
                      <a:pt x="59" y="31"/>
                    </a:cubicBezTo>
                    <a:cubicBezTo>
                      <a:pt x="59" y="37"/>
                      <a:pt x="59" y="37"/>
                      <a:pt x="59" y="37"/>
                    </a:cubicBezTo>
                    <a:cubicBezTo>
                      <a:pt x="59" y="39"/>
                      <a:pt x="60" y="40"/>
                      <a:pt x="62" y="40"/>
                    </a:cubicBezTo>
                    <a:close/>
                    <a:moveTo>
                      <a:pt x="30" y="40"/>
                    </a:moveTo>
                    <a:cubicBezTo>
                      <a:pt x="32" y="40"/>
                      <a:pt x="33" y="39"/>
                      <a:pt x="33" y="37"/>
                    </a:cubicBezTo>
                    <a:cubicBezTo>
                      <a:pt x="33" y="31"/>
                      <a:pt x="33" y="31"/>
                      <a:pt x="33" y="31"/>
                    </a:cubicBezTo>
                    <a:cubicBezTo>
                      <a:pt x="35" y="32"/>
                      <a:pt x="37" y="35"/>
                      <a:pt x="37" y="37"/>
                    </a:cubicBezTo>
                    <a:cubicBezTo>
                      <a:pt x="37" y="41"/>
                      <a:pt x="34" y="44"/>
                      <a:pt x="30" y="44"/>
                    </a:cubicBezTo>
                    <a:cubicBezTo>
                      <a:pt x="26" y="44"/>
                      <a:pt x="23" y="41"/>
                      <a:pt x="23" y="37"/>
                    </a:cubicBezTo>
                    <a:cubicBezTo>
                      <a:pt x="23" y="34"/>
                      <a:pt x="25" y="32"/>
                      <a:pt x="27" y="31"/>
                    </a:cubicBezTo>
                    <a:cubicBezTo>
                      <a:pt x="27" y="37"/>
                      <a:pt x="27" y="37"/>
                      <a:pt x="27" y="37"/>
                    </a:cubicBezTo>
                    <a:cubicBezTo>
                      <a:pt x="27" y="39"/>
                      <a:pt x="29" y="40"/>
                      <a:pt x="30" y="40"/>
                    </a:cubicBezTo>
                    <a:close/>
                    <a:moveTo>
                      <a:pt x="141" y="175"/>
                    </a:moveTo>
                    <a:cubicBezTo>
                      <a:pt x="14" y="175"/>
                      <a:pt x="14" y="175"/>
                      <a:pt x="14" y="175"/>
                    </a:cubicBezTo>
                    <a:cubicBezTo>
                      <a:pt x="14" y="20"/>
                      <a:pt x="14" y="20"/>
                      <a:pt x="14" y="20"/>
                    </a:cubicBezTo>
                    <a:cubicBezTo>
                      <a:pt x="27" y="20"/>
                      <a:pt x="27" y="20"/>
                      <a:pt x="27" y="20"/>
                    </a:cubicBezTo>
                    <a:cubicBezTo>
                      <a:pt x="27" y="25"/>
                      <a:pt x="27" y="25"/>
                      <a:pt x="27" y="25"/>
                    </a:cubicBezTo>
                    <a:cubicBezTo>
                      <a:pt x="22" y="26"/>
                      <a:pt x="18" y="31"/>
                      <a:pt x="18" y="37"/>
                    </a:cubicBezTo>
                    <a:cubicBezTo>
                      <a:pt x="18" y="44"/>
                      <a:pt x="23" y="50"/>
                      <a:pt x="30" y="50"/>
                    </a:cubicBezTo>
                    <a:cubicBezTo>
                      <a:pt x="37" y="50"/>
                      <a:pt x="43" y="44"/>
                      <a:pt x="43" y="37"/>
                    </a:cubicBezTo>
                    <a:cubicBezTo>
                      <a:pt x="43" y="31"/>
                      <a:pt x="39" y="26"/>
                      <a:pt x="33" y="25"/>
                    </a:cubicBezTo>
                    <a:cubicBezTo>
                      <a:pt x="33" y="20"/>
                      <a:pt x="33" y="20"/>
                      <a:pt x="33" y="20"/>
                    </a:cubicBezTo>
                    <a:cubicBezTo>
                      <a:pt x="59" y="20"/>
                      <a:pt x="59" y="20"/>
                      <a:pt x="59" y="20"/>
                    </a:cubicBezTo>
                    <a:cubicBezTo>
                      <a:pt x="59" y="25"/>
                      <a:pt x="59" y="25"/>
                      <a:pt x="59" y="25"/>
                    </a:cubicBezTo>
                    <a:cubicBezTo>
                      <a:pt x="53" y="26"/>
                      <a:pt x="49" y="31"/>
                      <a:pt x="49" y="37"/>
                    </a:cubicBezTo>
                    <a:cubicBezTo>
                      <a:pt x="49" y="44"/>
                      <a:pt x="55" y="50"/>
                      <a:pt x="62" y="50"/>
                    </a:cubicBezTo>
                    <a:cubicBezTo>
                      <a:pt x="68" y="50"/>
                      <a:pt x="74" y="44"/>
                      <a:pt x="74" y="37"/>
                    </a:cubicBezTo>
                    <a:cubicBezTo>
                      <a:pt x="74" y="31"/>
                      <a:pt x="70" y="26"/>
                      <a:pt x="64" y="25"/>
                    </a:cubicBezTo>
                    <a:cubicBezTo>
                      <a:pt x="64" y="20"/>
                      <a:pt x="64" y="20"/>
                      <a:pt x="64" y="20"/>
                    </a:cubicBezTo>
                    <a:cubicBezTo>
                      <a:pt x="90" y="20"/>
                      <a:pt x="90" y="20"/>
                      <a:pt x="90" y="20"/>
                    </a:cubicBezTo>
                    <a:cubicBezTo>
                      <a:pt x="90" y="25"/>
                      <a:pt x="90" y="25"/>
                      <a:pt x="90" y="25"/>
                    </a:cubicBezTo>
                    <a:cubicBezTo>
                      <a:pt x="85" y="26"/>
                      <a:pt x="80" y="31"/>
                      <a:pt x="80" y="37"/>
                    </a:cubicBezTo>
                    <a:cubicBezTo>
                      <a:pt x="80" y="44"/>
                      <a:pt x="86" y="50"/>
                      <a:pt x="93" y="50"/>
                    </a:cubicBezTo>
                    <a:cubicBezTo>
                      <a:pt x="100" y="50"/>
                      <a:pt x="105" y="44"/>
                      <a:pt x="105" y="37"/>
                    </a:cubicBezTo>
                    <a:cubicBezTo>
                      <a:pt x="105" y="31"/>
                      <a:pt x="101" y="26"/>
                      <a:pt x="96" y="25"/>
                    </a:cubicBezTo>
                    <a:cubicBezTo>
                      <a:pt x="96" y="20"/>
                      <a:pt x="96" y="20"/>
                      <a:pt x="96" y="20"/>
                    </a:cubicBezTo>
                    <a:cubicBezTo>
                      <a:pt x="122" y="20"/>
                      <a:pt x="122" y="20"/>
                      <a:pt x="122" y="20"/>
                    </a:cubicBezTo>
                    <a:cubicBezTo>
                      <a:pt x="122" y="25"/>
                      <a:pt x="122" y="25"/>
                      <a:pt x="122" y="25"/>
                    </a:cubicBezTo>
                    <a:cubicBezTo>
                      <a:pt x="116" y="26"/>
                      <a:pt x="112" y="31"/>
                      <a:pt x="112" y="37"/>
                    </a:cubicBezTo>
                    <a:cubicBezTo>
                      <a:pt x="112" y="44"/>
                      <a:pt x="117" y="50"/>
                      <a:pt x="124" y="50"/>
                    </a:cubicBezTo>
                    <a:cubicBezTo>
                      <a:pt x="131" y="50"/>
                      <a:pt x="137" y="44"/>
                      <a:pt x="137" y="37"/>
                    </a:cubicBezTo>
                    <a:cubicBezTo>
                      <a:pt x="137" y="31"/>
                      <a:pt x="133" y="26"/>
                      <a:pt x="127" y="25"/>
                    </a:cubicBezTo>
                    <a:cubicBezTo>
                      <a:pt x="127" y="20"/>
                      <a:pt x="127" y="20"/>
                      <a:pt x="127" y="20"/>
                    </a:cubicBezTo>
                    <a:cubicBezTo>
                      <a:pt x="141" y="20"/>
                      <a:pt x="141" y="20"/>
                      <a:pt x="141" y="20"/>
                    </a:cubicBezTo>
                    <a:lnTo>
                      <a:pt x="141" y="1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121920" tIns="60960" rIns="121920" bIns="60960" numCol="1" anchor="t" anchorCtr="0" compatLnSpc="1"/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65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+mn-cs"/>
                  <a:sym typeface="Arial" panose="020B0604020202020204" pitchFamily="34" charset="0"/>
                </a:endParaRPr>
              </a:p>
            </p:txBody>
          </p:sp>
          <p:sp>
            <p:nvSpPr>
              <p:cNvPr id="67" name="Freeform 6"/>
              <p:cNvSpPr/>
              <p:nvPr/>
            </p:nvSpPr>
            <p:spPr bwMode="auto">
              <a:xfrm>
                <a:off x="2820" y="2272"/>
                <a:ext cx="181" cy="12"/>
              </a:xfrm>
              <a:custGeom>
                <a:avLst/>
                <a:gdLst>
                  <a:gd name="T0" fmla="*/ 73 w 75"/>
                  <a:gd name="T1" fmla="*/ 0 h 5"/>
                  <a:gd name="T2" fmla="*/ 2 w 75"/>
                  <a:gd name="T3" fmla="*/ 0 h 5"/>
                  <a:gd name="T4" fmla="*/ 0 w 75"/>
                  <a:gd name="T5" fmla="*/ 3 h 5"/>
                  <a:gd name="T6" fmla="*/ 2 w 75"/>
                  <a:gd name="T7" fmla="*/ 5 h 5"/>
                  <a:gd name="T8" fmla="*/ 73 w 75"/>
                  <a:gd name="T9" fmla="*/ 5 h 5"/>
                  <a:gd name="T10" fmla="*/ 75 w 75"/>
                  <a:gd name="T11" fmla="*/ 3 h 5"/>
                  <a:gd name="T12" fmla="*/ 73 w 75"/>
                  <a:gd name="T13" fmla="*/ 0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5" h="5">
                    <a:moveTo>
                      <a:pt x="73" y="0"/>
                    </a:moveTo>
                    <a:cubicBezTo>
                      <a:pt x="2" y="0"/>
                      <a:pt x="2" y="0"/>
                      <a:pt x="2" y="0"/>
                    </a:cubicBezTo>
                    <a:cubicBezTo>
                      <a:pt x="1" y="0"/>
                      <a:pt x="0" y="1"/>
                      <a:pt x="0" y="3"/>
                    </a:cubicBezTo>
                    <a:cubicBezTo>
                      <a:pt x="0" y="4"/>
                      <a:pt x="1" y="5"/>
                      <a:pt x="2" y="5"/>
                    </a:cubicBezTo>
                    <a:cubicBezTo>
                      <a:pt x="73" y="5"/>
                      <a:pt x="73" y="5"/>
                      <a:pt x="73" y="5"/>
                    </a:cubicBezTo>
                    <a:cubicBezTo>
                      <a:pt x="74" y="5"/>
                      <a:pt x="75" y="4"/>
                      <a:pt x="75" y="3"/>
                    </a:cubicBezTo>
                    <a:cubicBezTo>
                      <a:pt x="75" y="1"/>
                      <a:pt x="74" y="0"/>
                      <a:pt x="73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121920" tIns="60960" rIns="121920" bIns="60960" numCol="1" anchor="t" anchorCtr="0" compatLnSpc="1"/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65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+mn-cs"/>
                  <a:sym typeface="Arial" panose="020B0604020202020204" pitchFamily="34" charset="0"/>
                </a:endParaRPr>
              </a:p>
            </p:txBody>
          </p:sp>
          <p:sp>
            <p:nvSpPr>
              <p:cNvPr id="68" name="Freeform 7"/>
              <p:cNvSpPr/>
              <p:nvPr/>
            </p:nvSpPr>
            <p:spPr bwMode="auto">
              <a:xfrm>
                <a:off x="2820" y="2190"/>
                <a:ext cx="181" cy="14"/>
              </a:xfrm>
              <a:custGeom>
                <a:avLst/>
                <a:gdLst>
                  <a:gd name="T0" fmla="*/ 73 w 75"/>
                  <a:gd name="T1" fmla="*/ 0 h 6"/>
                  <a:gd name="T2" fmla="*/ 2 w 75"/>
                  <a:gd name="T3" fmla="*/ 0 h 6"/>
                  <a:gd name="T4" fmla="*/ 0 w 75"/>
                  <a:gd name="T5" fmla="*/ 3 h 6"/>
                  <a:gd name="T6" fmla="*/ 2 w 75"/>
                  <a:gd name="T7" fmla="*/ 6 h 6"/>
                  <a:gd name="T8" fmla="*/ 73 w 75"/>
                  <a:gd name="T9" fmla="*/ 6 h 6"/>
                  <a:gd name="T10" fmla="*/ 75 w 75"/>
                  <a:gd name="T11" fmla="*/ 3 h 6"/>
                  <a:gd name="T12" fmla="*/ 73 w 75"/>
                  <a:gd name="T13" fmla="*/ 0 h 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5" h="6">
                    <a:moveTo>
                      <a:pt x="73" y="0"/>
                    </a:moveTo>
                    <a:cubicBezTo>
                      <a:pt x="2" y="0"/>
                      <a:pt x="2" y="0"/>
                      <a:pt x="2" y="0"/>
                    </a:cubicBezTo>
                    <a:cubicBezTo>
                      <a:pt x="1" y="0"/>
                      <a:pt x="0" y="2"/>
                      <a:pt x="0" y="3"/>
                    </a:cubicBezTo>
                    <a:cubicBezTo>
                      <a:pt x="0" y="5"/>
                      <a:pt x="1" y="6"/>
                      <a:pt x="2" y="6"/>
                    </a:cubicBezTo>
                    <a:cubicBezTo>
                      <a:pt x="73" y="6"/>
                      <a:pt x="73" y="6"/>
                      <a:pt x="73" y="6"/>
                    </a:cubicBezTo>
                    <a:cubicBezTo>
                      <a:pt x="74" y="6"/>
                      <a:pt x="75" y="5"/>
                      <a:pt x="75" y="3"/>
                    </a:cubicBezTo>
                    <a:cubicBezTo>
                      <a:pt x="75" y="2"/>
                      <a:pt x="74" y="0"/>
                      <a:pt x="73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121920" tIns="60960" rIns="121920" bIns="60960" numCol="1" anchor="t" anchorCtr="0" compatLnSpc="1"/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65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+mn-cs"/>
                  <a:sym typeface="Arial" panose="020B0604020202020204" pitchFamily="34" charset="0"/>
                </a:endParaRPr>
              </a:p>
            </p:txBody>
          </p:sp>
          <p:sp>
            <p:nvSpPr>
              <p:cNvPr id="69" name="Freeform 8"/>
              <p:cNvSpPr/>
              <p:nvPr/>
            </p:nvSpPr>
            <p:spPr bwMode="auto">
              <a:xfrm>
                <a:off x="2820" y="2111"/>
                <a:ext cx="181" cy="12"/>
              </a:xfrm>
              <a:custGeom>
                <a:avLst/>
                <a:gdLst>
                  <a:gd name="T0" fmla="*/ 73 w 75"/>
                  <a:gd name="T1" fmla="*/ 0 h 5"/>
                  <a:gd name="T2" fmla="*/ 2 w 75"/>
                  <a:gd name="T3" fmla="*/ 0 h 5"/>
                  <a:gd name="T4" fmla="*/ 0 w 75"/>
                  <a:gd name="T5" fmla="*/ 3 h 5"/>
                  <a:gd name="T6" fmla="*/ 2 w 75"/>
                  <a:gd name="T7" fmla="*/ 5 h 5"/>
                  <a:gd name="T8" fmla="*/ 73 w 75"/>
                  <a:gd name="T9" fmla="*/ 5 h 5"/>
                  <a:gd name="T10" fmla="*/ 75 w 75"/>
                  <a:gd name="T11" fmla="*/ 3 h 5"/>
                  <a:gd name="T12" fmla="*/ 73 w 75"/>
                  <a:gd name="T13" fmla="*/ 0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5" h="5">
                    <a:moveTo>
                      <a:pt x="73" y="0"/>
                    </a:moveTo>
                    <a:cubicBezTo>
                      <a:pt x="2" y="0"/>
                      <a:pt x="2" y="0"/>
                      <a:pt x="2" y="0"/>
                    </a:cubicBezTo>
                    <a:cubicBezTo>
                      <a:pt x="1" y="0"/>
                      <a:pt x="0" y="1"/>
                      <a:pt x="0" y="3"/>
                    </a:cubicBezTo>
                    <a:cubicBezTo>
                      <a:pt x="0" y="4"/>
                      <a:pt x="1" y="5"/>
                      <a:pt x="2" y="5"/>
                    </a:cubicBezTo>
                    <a:cubicBezTo>
                      <a:pt x="73" y="5"/>
                      <a:pt x="73" y="5"/>
                      <a:pt x="73" y="5"/>
                    </a:cubicBezTo>
                    <a:cubicBezTo>
                      <a:pt x="74" y="5"/>
                      <a:pt x="75" y="4"/>
                      <a:pt x="75" y="3"/>
                    </a:cubicBezTo>
                    <a:cubicBezTo>
                      <a:pt x="75" y="1"/>
                      <a:pt x="74" y="0"/>
                      <a:pt x="73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121920" tIns="60960" rIns="121920" bIns="60960" numCol="1" anchor="t" anchorCtr="0" compatLnSpc="1"/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65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+mn-cs"/>
                  <a:sym typeface="Arial" panose="020B0604020202020204" pitchFamily="34" charset="0"/>
                </a:endParaRPr>
              </a:p>
            </p:txBody>
          </p:sp>
          <p:sp>
            <p:nvSpPr>
              <p:cNvPr id="70" name="Freeform 9"/>
              <p:cNvSpPr/>
              <p:nvPr/>
            </p:nvSpPr>
            <p:spPr bwMode="auto">
              <a:xfrm>
                <a:off x="2755" y="2096"/>
                <a:ext cx="41" cy="41"/>
              </a:xfrm>
              <a:custGeom>
                <a:avLst/>
                <a:gdLst>
                  <a:gd name="T0" fmla="*/ 15 w 17"/>
                  <a:gd name="T1" fmla="*/ 0 h 17"/>
                  <a:gd name="T2" fmla="*/ 3 w 17"/>
                  <a:gd name="T3" fmla="*/ 0 h 17"/>
                  <a:gd name="T4" fmla="*/ 0 w 17"/>
                  <a:gd name="T5" fmla="*/ 3 h 17"/>
                  <a:gd name="T6" fmla="*/ 0 w 17"/>
                  <a:gd name="T7" fmla="*/ 15 h 17"/>
                  <a:gd name="T8" fmla="*/ 3 w 17"/>
                  <a:gd name="T9" fmla="*/ 17 h 17"/>
                  <a:gd name="T10" fmla="*/ 15 w 17"/>
                  <a:gd name="T11" fmla="*/ 17 h 17"/>
                  <a:gd name="T12" fmla="*/ 17 w 17"/>
                  <a:gd name="T13" fmla="*/ 15 h 17"/>
                  <a:gd name="T14" fmla="*/ 17 w 17"/>
                  <a:gd name="T15" fmla="*/ 3 h 17"/>
                  <a:gd name="T16" fmla="*/ 15 w 17"/>
                  <a:gd name="T17" fmla="*/ 0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" h="17">
                    <a:moveTo>
                      <a:pt x="15" y="0"/>
                    </a:moveTo>
                    <a:cubicBezTo>
                      <a:pt x="3" y="0"/>
                      <a:pt x="3" y="0"/>
                      <a:pt x="3" y="0"/>
                    </a:cubicBezTo>
                    <a:cubicBezTo>
                      <a:pt x="1" y="0"/>
                      <a:pt x="0" y="1"/>
                      <a:pt x="0" y="3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0" y="16"/>
                      <a:pt x="1" y="17"/>
                      <a:pt x="3" y="17"/>
                    </a:cubicBezTo>
                    <a:cubicBezTo>
                      <a:pt x="15" y="17"/>
                      <a:pt x="15" y="17"/>
                      <a:pt x="15" y="17"/>
                    </a:cubicBezTo>
                    <a:cubicBezTo>
                      <a:pt x="16" y="17"/>
                      <a:pt x="17" y="16"/>
                      <a:pt x="17" y="15"/>
                    </a:cubicBezTo>
                    <a:cubicBezTo>
                      <a:pt x="17" y="3"/>
                      <a:pt x="17" y="3"/>
                      <a:pt x="17" y="3"/>
                    </a:cubicBezTo>
                    <a:cubicBezTo>
                      <a:pt x="17" y="1"/>
                      <a:pt x="16" y="0"/>
                      <a:pt x="15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121920" tIns="60960" rIns="121920" bIns="60960" numCol="1" anchor="t" anchorCtr="0" compatLnSpc="1"/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65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+mn-cs"/>
                  <a:sym typeface="Arial" panose="020B0604020202020204" pitchFamily="34" charset="0"/>
                </a:endParaRPr>
              </a:p>
            </p:txBody>
          </p:sp>
          <p:sp>
            <p:nvSpPr>
              <p:cNvPr id="71" name="Freeform 10"/>
              <p:cNvSpPr/>
              <p:nvPr/>
            </p:nvSpPr>
            <p:spPr bwMode="auto">
              <a:xfrm>
                <a:off x="2755" y="2176"/>
                <a:ext cx="41" cy="43"/>
              </a:xfrm>
              <a:custGeom>
                <a:avLst/>
                <a:gdLst>
                  <a:gd name="T0" fmla="*/ 15 w 17"/>
                  <a:gd name="T1" fmla="*/ 0 h 18"/>
                  <a:gd name="T2" fmla="*/ 3 w 17"/>
                  <a:gd name="T3" fmla="*/ 0 h 18"/>
                  <a:gd name="T4" fmla="*/ 0 w 17"/>
                  <a:gd name="T5" fmla="*/ 3 h 18"/>
                  <a:gd name="T6" fmla="*/ 0 w 17"/>
                  <a:gd name="T7" fmla="*/ 15 h 18"/>
                  <a:gd name="T8" fmla="*/ 3 w 17"/>
                  <a:gd name="T9" fmla="*/ 18 h 18"/>
                  <a:gd name="T10" fmla="*/ 15 w 17"/>
                  <a:gd name="T11" fmla="*/ 18 h 18"/>
                  <a:gd name="T12" fmla="*/ 17 w 17"/>
                  <a:gd name="T13" fmla="*/ 15 h 18"/>
                  <a:gd name="T14" fmla="*/ 17 w 17"/>
                  <a:gd name="T15" fmla="*/ 3 h 18"/>
                  <a:gd name="T16" fmla="*/ 15 w 17"/>
                  <a:gd name="T17" fmla="*/ 0 h 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" h="18">
                    <a:moveTo>
                      <a:pt x="15" y="0"/>
                    </a:moveTo>
                    <a:cubicBezTo>
                      <a:pt x="3" y="0"/>
                      <a:pt x="3" y="0"/>
                      <a:pt x="3" y="0"/>
                    </a:cubicBezTo>
                    <a:cubicBezTo>
                      <a:pt x="1" y="0"/>
                      <a:pt x="0" y="2"/>
                      <a:pt x="0" y="3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0" y="17"/>
                      <a:pt x="1" y="18"/>
                      <a:pt x="3" y="18"/>
                    </a:cubicBezTo>
                    <a:cubicBezTo>
                      <a:pt x="15" y="18"/>
                      <a:pt x="15" y="18"/>
                      <a:pt x="15" y="18"/>
                    </a:cubicBezTo>
                    <a:cubicBezTo>
                      <a:pt x="16" y="18"/>
                      <a:pt x="17" y="17"/>
                      <a:pt x="17" y="15"/>
                    </a:cubicBezTo>
                    <a:cubicBezTo>
                      <a:pt x="17" y="3"/>
                      <a:pt x="17" y="3"/>
                      <a:pt x="17" y="3"/>
                    </a:cubicBezTo>
                    <a:cubicBezTo>
                      <a:pt x="17" y="2"/>
                      <a:pt x="16" y="0"/>
                      <a:pt x="15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121920" tIns="60960" rIns="121920" bIns="60960" numCol="1" anchor="t" anchorCtr="0" compatLnSpc="1"/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65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+mn-cs"/>
                  <a:sym typeface="Arial" panose="020B0604020202020204" pitchFamily="34" charset="0"/>
                </a:endParaRPr>
              </a:p>
            </p:txBody>
          </p:sp>
          <p:sp>
            <p:nvSpPr>
              <p:cNvPr id="72" name="Freeform 11"/>
              <p:cNvSpPr/>
              <p:nvPr/>
            </p:nvSpPr>
            <p:spPr bwMode="auto">
              <a:xfrm>
                <a:off x="2755" y="2257"/>
                <a:ext cx="41" cy="41"/>
              </a:xfrm>
              <a:custGeom>
                <a:avLst/>
                <a:gdLst>
                  <a:gd name="T0" fmla="*/ 15 w 17"/>
                  <a:gd name="T1" fmla="*/ 0 h 17"/>
                  <a:gd name="T2" fmla="*/ 3 w 17"/>
                  <a:gd name="T3" fmla="*/ 0 h 17"/>
                  <a:gd name="T4" fmla="*/ 0 w 17"/>
                  <a:gd name="T5" fmla="*/ 3 h 17"/>
                  <a:gd name="T6" fmla="*/ 0 w 17"/>
                  <a:gd name="T7" fmla="*/ 15 h 17"/>
                  <a:gd name="T8" fmla="*/ 3 w 17"/>
                  <a:gd name="T9" fmla="*/ 17 h 17"/>
                  <a:gd name="T10" fmla="*/ 15 w 17"/>
                  <a:gd name="T11" fmla="*/ 17 h 17"/>
                  <a:gd name="T12" fmla="*/ 17 w 17"/>
                  <a:gd name="T13" fmla="*/ 15 h 17"/>
                  <a:gd name="T14" fmla="*/ 17 w 17"/>
                  <a:gd name="T15" fmla="*/ 3 h 17"/>
                  <a:gd name="T16" fmla="*/ 15 w 17"/>
                  <a:gd name="T17" fmla="*/ 0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" h="17">
                    <a:moveTo>
                      <a:pt x="15" y="0"/>
                    </a:moveTo>
                    <a:cubicBezTo>
                      <a:pt x="3" y="0"/>
                      <a:pt x="3" y="0"/>
                      <a:pt x="3" y="0"/>
                    </a:cubicBezTo>
                    <a:cubicBezTo>
                      <a:pt x="1" y="0"/>
                      <a:pt x="0" y="1"/>
                      <a:pt x="0" y="3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0" y="16"/>
                      <a:pt x="1" y="17"/>
                      <a:pt x="3" y="17"/>
                    </a:cubicBezTo>
                    <a:cubicBezTo>
                      <a:pt x="15" y="17"/>
                      <a:pt x="15" y="17"/>
                      <a:pt x="15" y="17"/>
                    </a:cubicBezTo>
                    <a:cubicBezTo>
                      <a:pt x="16" y="17"/>
                      <a:pt x="17" y="16"/>
                      <a:pt x="17" y="15"/>
                    </a:cubicBezTo>
                    <a:cubicBezTo>
                      <a:pt x="17" y="3"/>
                      <a:pt x="17" y="3"/>
                      <a:pt x="17" y="3"/>
                    </a:cubicBezTo>
                    <a:cubicBezTo>
                      <a:pt x="17" y="1"/>
                      <a:pt x="16" y="0"/>
                      <a:pt x="15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121920" tIns="60960" rIns="121920" bIns="60960" numCol="1" anchor="t" anchorCtr="0" compatLnSpc="1"/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65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+mn-cs"/>
                  <a:sym typeface="Arial" panose="020B0604020202020204" pitchFamily="34" charset="0"/>
                </a:endParaRPr>
              </a:p>
            </p:txBody>
          </p:sp>
        </p:grpSp>
      </p:grpSp>
      <p:grpSp>
        <p:nvGrpSpPr>
          <p:cNvPr id="73" name="组合 72"/>
          <p:cNvGrpSpPr/>
          <p:nvPr/>
        </p:nvGrpSpPr>
        <p:grpSpPr>
          <a:xfrm>
            <a:off x="9858482" y="2882545"/>
            <a:ext cx="999564" cy="1001763"/>
            <a:chOff x="3437020" y="5246272"/>
            <a:chExt cx="863676" cy="865576"/>
          </a:xfrm>
        </p:grpSpPr>
        <p:sp>
          <p:nvSpPr>
            <p:cNvPr id="74" name="椭圆 21"/>
            <p:cNvSpPr>
              <a:spLocks noChangeArrowheads="1"/>
            </p:cNvSpPr>
            <p:nvPr/>
          </p:nvSpPr>
          <p:spPr bwMode="auto">
            <a:xfrm>
              <a:off x="3437020" y="5246272"/>
              <a:ext cx="863676" cy="865576"/>
            </a:xfrm>
            <a:prstGeom prst="ellipse">
              <a:avLst/>
            </a:prstGeom>
            <a:solidFill>
              <a:schemeClr val="accent1"/>
            </a:solidFill>
            <a:ln w="38100">
              <a:solidFill>
                <a:schemeClr val="bg1">
                  <a:lumMod val="75000"/>
                </a:schemeClr>
              </a:solidFill>
              <a:miter lim="800000"/>
            </a:ln>
          </p:spPr>
          <p:txBody>
            <a:bodyPr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9pPr>
            </a:lstStyle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endParaRPr>
            </a:p>
          </p:txBody>
        </p:sp>
        <p:sp>
          <p:nvSpPr>
            <p:cNvPr id="75" name="Freeform 9"/>
            <p:cNvSpPr>
              <a:spLocks noEditPoints="1"/>
            </p:cNvSpPr>
            <p:nvPr/>
          </p:nvSpPr>
          <p:spPr bwMode="auto">
            <a:xfrm>
              <a:off x="3564624" y="5446833"/>
              <a:ext cx="605440" cy="464249"/>
            </a:xfrm>
            <a:custGeom>
              <a:avLst/>
              <a:gdLst>
                <a:gd name="T0" fmla="*/ 16 w 104"/>
                <a:gd name="T1" fmla="*/ 2 h 79"/>
                <a:gd name="T2" fmla="*/ 27 w 104"/>
                <a:gd name="T3" fmla="*/ 4 h 79"/>
                <a:gd name="T4" fmla="*/ 19 w 104"/>
                <a:gd name="T5" fmla="*/ 48 h 79"/>
                <a:gd name="T6" fmla="*/ 4 w 104"/>
                <a:gd name="T7" fmla="*/ 45 h 79"/>
                <a:gd name="T8" fmla="*/ 16 w 104"/>
                <a:gd name="T9" fmla="*/ 2 h 79"/>
                <a:gd name="T10" fmla="*/ 18 w 104"/>
                <a:gd name="T11" fmla="*/ 65 h 79"/>
                <a:gd name="T12" fmla="*/ 16 w 104"/>
                <a:gd name="T13" fmla="*/ 72 h 79"/>
                <a:gd name="T14" fmla="*/ 101 w 104"/>
                <a:gd name="T15" fmla="*/ 72 h 79"/>
                <a:gd name="T16" fmla="*/ 104 w 104"/>
                <a:gd name="T17" fmla="*/ 72 h 79"/>
                <a:gd name="T18" fmla="*/ 104 w 104"/>
                <a:gd name="T19" fmla="*/ 68 h 79"/>
                <a:gd name="T20" fmla="*/ 104 w 104"/>
                <a:gd name="T21" fmla="*/ 26 h 79"/>
                <a:gd name="T22" fmla="*/ 104 w 104"/>
                <a:gd name="T23" fmla="*/ 24 h 79"/>
                <a:gd name="T24" fmla="*/ 103 w 104"/>
                <a:gd name="T25" fmla="*/ 23 h 79"/>
                <a:gd name="T26" fmla="*/ 90 w 104"/>
                <a:gd name="T27" fmla="*/ 10 h 79"/>
                <a:gd name="T28" fmla="*/ 89 w 104"/>
                <a:gd name="T29" fmla="*/ 9 h 79"/>
                <a:gd name="T30" fmla="*/ 87 w 104"/>
                <a:gd name="T31" fmla="*/ 9 h 79"/>
                <a:gd name="T32" fmla="*/ 31 w 104"/>
                <a:gd name="T33" fmla="*/ 9 h 79"/>
                <a:gd name="T34" fmla="*/ 31 w 104"/>
                <a:gd name="T35" fmla="*/ 17 h 79"/>
                <a:gd name="T36" fmla="*/ 84 w 104"/>
                <a:gd name="T37" fmla="*/ 17 h 79"/>
                <a:gd name="T38" fmla="*/ 83 w 104"/>
                <a:gd name="T39" fmla="*/ 28 h 79"/>
                <a:gd name="T40" fmla="*/ 83 w 104"/>
                <a:gd name="T41" fmla="*/ 30 h 79"/>
                <a:gd name="T42" fmla="*/ 85 w 104"/>
                <a:gd name="T43" fmla="*/ 30 h 79"/>
                <a:gd name="T44" fmla="*/ 97 w 104"/>
                <a:gd name="T45" fmla="*/ 29 h 79"/>
                <a:gd name="T46" fmla="*/ 97 w 104"/>
                <a:gd name="T47" fmla="*/ 65 h 79"/>
                <a:gd name="T48" fmla="*/ 18 w 104"/>
                <a:gd name="T49" fmla="*/ 65 h 79"/>
                <a:gd name="T50" fmla="*/ 95 w 104"/>
                <a:gd name="T51" fmla="*/ 26 h 79"/>
                <a:gd name="T52" fmla="*/ 86 w 104"/>
                <a:gd name="T53" fmla="*/ 26 h 79"/>
                <a:gd name="T54" fmla="*/ 87 w 104"/>
                <a:gd name="T55" fmla="*/ 18 h 79"/>
                <a:gd name="T56" fmla="*/ 95 w 104"/>
                <a:gd name="T57" fmla="*/ 26 h 79"/>
                <a:gd name="T58" fmla="*/ 32 w 104"/>
                <a:gd name="T59" fmla="*/ 43 h 79"/>
                <a:gd name="T60" fmla="*/ 74 w 104"/>
                <a:gd name="T61" fmla="*/ 43 h 79"/>
                <a:gd name="T62" fmla="*/ 74 w 104"/>
                <a:gd name="T63" fmla="*/ 45 h 79"/>
                <a:gd name="T64" fmla="*/ 32 w 104"/>
                <a:gd name="T65" fmla="*/ 45 h 79"/>
                <a:gd name="T66" fmla="*/ 32 w 104"/>
                <a:gd name="T67" fmla="*/ 43 h 79"/>
                <a:gd name="T68" fmla="*/ 32 w 104"/>
                <a:gd name="T69" fmla="*/ 32 h 79"/>
                <a:gd name="T70" fmla="*/ 71 w 104"/>
                <a:gd name="T71" fmla="*/ 32 h 79"/>
                <a:gd name="T72" fmla="*/ 71 w 104"/>
                <a:gd name="T73" fmla="*/ 35 h 79"/>
                <a:gd name="T74" fmla="*/ 32 w 104"/>
                <a:gd name="T75" fmla="*/ 35 h 79"/>
                <a:gd name="T76" fmla="*/ 32 w 104"/>
                <a:gd name="T77" fmla="*/ 32 h 79"/>
                <a:gd name="T78" fmla="*/ 32 w 104"/>
                <a:gd name="T79" fmla="*/ 22 h 79"/>
                <a:gd name="T80" fmla="*/ 71 w 104"/>
                <a:gd name="T81" fmla="*/ 22 h 79"/>
                <a:gd name="T82" fmla="*/ 71 w 104"/>
                <a:gd name="T83" fmla="*/ 25 h 79"/>
                <a:gd name="T84" fmla="*/ 32 w 104"/>
                <a:gd name="T85" fmla="*/ 25 h 79"/>
                <a:gd name="T86" fmla="*/ 32 w 104"/>
                <a:gd name="T87" fmla="*/ 22 h 79"/>
                <a:gd name="T88" fmla="*/ 3 w 104"/>
                <a:gd name="T89" fmla="*/ 66 h 79"/>
                <a:gd name="T90" fmla="*/ 9 w 104"/>
                <a:gd name="T91" fmla="*/ 68 h 79"/>
                <a:gd name="T92" fmla="*/ 9 w 104"/>
                <a:gd name="T93" fmla="*/ 74 h 79"/>
                <a:gd name="T94" fmla="*/ 5 w 104"/>
                <a:gd name="T95" fmla="*/ 79 h 79"/>
                <a:gd name="T96" fmla="*/ 2 w 104"/>
                <a:gd name="T97" fmla="*/ 78 h 79"/>
                <a:gd name="T98" fmla="*/ 0 w 104"/>
                <a:gd name="T99" fmla="*/ 72 h 79"/>
                <a:gd name="T100" fmla="*/ 3 w 104"/>
                <a:gd name="T101" fmla="*/ 66 h 79"/>
                <a:gd name="T102" fmla="*/ 4 w 104"/>
                <a:gd name="T103" fmla="*/ 48 h 79"/>
                <a:gd name="T104" fmla="*/ 2 w 104"/>
                <a:gd name="T105" fmla="*/ 65 h 79"/>
                <a:gd name="T106" fmla="*/ 12 w 104"/>
                <a:gd name="T107" fmla="*/ 67 h 79"/>
                <a:gd name="T108" fmla="*/ 17 w 104"/>
                <a:gd name="T109" fmla="*/ 51 h 79"/>
                <a:gd name="T110" fmla="*/ 4 w 104"/>
                <a:gd name="T111" fmla="*/ 48 h 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04" h="79">
                  <a:moveTo>
                    <a:pt x="16" y="2"/>
                  </a:moveTo>
                  <a:cubicBezTo>
                    <a:pt x="21" y="0"/>
                    <a:pt x="24" y="1"/>
                    <a:pt x="27" y="4"/>
                  </a:cubicBezTo>
                  <a:cubicBezTo>
                    <a:pt x="26" y="20"/>
                    <a:pt x="23" y="35"/>
                    <a:pt x="19" y="48"/>
                  </a:cubicBezTo>
                  <a:cubicBezTo>
                    <a:pt x="14" y="47"/>
                    <a:pt x="9" y="46"/>
                    <a:pt x="4" y="45"/>
                  </a:cubicBezTo>
                  <a:cubicBezTo>
                    <a:pt x="6" y="29"/>
                    <a:pt x="10" y="15"/>
                    <a:pt x="16" y="2"/>
                  </a:cubicBezTo>
                  <a:close/>
                  <a:moveTo>
                    <a:pt x="18" y="65"/>
                  </a:moveTo>
                  <a:cubicBezTo>
                    <a:pt x="16" y="72"/>
                    <a:pt x="16" y="72"/>
                    <a:pt x="16" y="72"/>
                  </a:cubicBezTo>
                  <a:cubicBezTo>
                    <a:pt x="69" y="72"/>
                    <a:pt x="74" y="72"/>
                    <a:pt x="101" y="72"/>
                  </a:cubicBezTo>
                  <a:cubicBezTo>
                    <a:pt x="104" y="72"/>
                    <a:pt x="104" y="72"/>
                    <a:pt x="104" y="72"/>
                  </a:cubicBezTo>
                  <a:cubicBezTo>
                    <a:pt x="104" y="68"/>
                    <a:pt x="104" y="68"/>
                    <a:pt x="104" y="68"/>
                  </a:cubicBezTo>
                  <a:cubicBezTo>
                    <a:pt x="104" y="26"/>
                    <a:pt x="104" y="26"/>
                    <a:pt x="104" y="26"/>
                  </a:cubicBezTo>
                  <a:cubicBezTo>
                    <a:pt x="104" y="24"/>
                    <a:pt x="104" y="24"/>
                    <a:pt x="104" y="24"/>
                  </a:cubicBezTo>
                  <a:cubicBezTo>
                    <a:pt x="103" y="23"/>
                    <a:pt x="103" y="23"/>
                    <a:pt x="103" y="23"/>
                  </a:cubicBezTo>
                  <a:cubicBezTo>
                    <a:pt x="90" y="10"/>
                    <a:pt x="90" y="10"/>
                    <a:pt x="90" y="10"/>
                  </a:cubicBezTo>
                  <a:cubicBezTo>
                    <a:pt x="89" y="9"/>
                    <a:pt x="89" y="9"/>
                    <a:pt x="89" y="9"/>
                  </a:cubicBezTo>
                  <a:cubicBezTo>
                    <a:pt x="87" y="9"/>
                    <a:pt x="87" y="9"/>
                    <a:pt x="87" y="9"/>
                  </a:cubicBezTo>
                  <a:cubicBezTo>
                    <a:pt x="31" y="9"/>
                    <a:pt x="31" y="9"/>
                    <a:pt x="31" y="9"/>
                  </a:cubicBezTo>
                  <a:cubicBezTo>
                    <a:pt x="31" y="12"/>
                    <a:pt x="31" y="14"/>
                    <a:pt x="31" y="17"/>
                  </a:cubicBezTo>
                  <a:cubicBezTo>
                    <a:pt x="84" y="17"/>
                    <a:pt x="84" y="17"/>
                    <a:pt x="84" y="17"/>
                  </a:cubicBezTo>
                  <a:cubicBezTo>
                    <a:pt x="83" y="28"/>
                    <a:pt x="83" y="28"/>
                    <a:pt x="83" y="28"/>
                  </a:cubicBezTo>
                  <a:cubicBezTo>
                    <a:pt x="83" y="30"/>
                    <a:pt x="83" y="30"/>
                    <a:pt x="83" y="30"/>
                  </a:cubicBezTo>
                  <a:cubicBezTo>
                    <a:pt x="85" y="30"/>
                    <a:pt x="85" y="30"/>
                    <a:pt x="85" y="30"/>
                  </a:cubicBezTo>
                  <a:cubicBezTo>
                    <a:pt x="97" y="29"/>
                    <a:pt x="97" y="29"/>
                    <a:pt x="97" y="29"/>
                  </a:cubicBezTo>
                  <a:cubicBezTo>
                    <a:pt x="97" y="65"/>
                    <a:pt x="97" y="65"/>
                    <a:pt x="97" y="65"/>
                  </a:cubicBezTo>
                  <a:cubicBezTo>
                    <a:pt x="79" y="65"/>
                    <a:pt x="57" y="65"/>
                    <a:pt x="18" y="65"/>
                  </a:cubicBezTo>
                  <a:close/>
                  <a:moveTo>
                    <a:pt x="95" y="26"/>
                  </a:moveTo>
                  <a:cubicBezTo>
                    <a:pt x="86" y="26"/>
                    <a:pt x="86" y="26"/>
                    <a:pt x="86" y="26"/>
                  </a:cubicBezTo>
                  <a:cubicBezTo>
                    <a:pt x="87" y="18"/>
                    <a:pt x="87" y="18"/>
                    <a:pt x="87" y="18"/>
                  </a:cubicBezTo>
                  <a:cubicBezTo>
                    <a:pt x="95" y="26"/>
                    <a:pt x="95" y="26"/>
                    <a:pt x="95" y="26"/>
                  </a:cubicBezTo>
                  <a:close/>
                  <a:moveTo>
                    <a:pt x="32" y="43"/>
                  </a:moveTo>
                  <a:cubicBezTo>
                    <a:pt x="74" y="43"/>
                    <a:pt x="74" y="43"/>
                    <a:pt x="74" y="43"/>
                  </a:cubicBezTo>
                  <a:cubicBezTo>
                    <a:pt x="74" y="45"/>
                    <a:pt x="74" y="45"/>
                    <a:pt x="74" y="45"/>
                  </a:cubicBezTo>
                  <a:cubicBezTo>
                    <a:pt x="32" y="45"/>
                    <a:pt x="32" y="45"/>
                    <a:pt x="32" y="45"/>
                  </a:cubicBezTo>
                  <a:cubicBezTo>
                    <a:pt x="32" y="43"/>
                    <a:pt x="32" y="43"/>
                    <a:pt x="32" y="43"/>
                  </a:cubicBezTo>
                  <a:close/>
                  <a:moveTo>
                    <a:pt x="32" y="32"/>
                  </a:moveTo>
                  <a:cubicBezTo>
                    <a:pt x="71" y="32"/>
                    <a:pt x="71" y="32"/>
                    <a:pt x="71" y="32"/>
                  </a:cubicBezTo>
                  <a:cubicBezTo>
                    <a:pt x="71" y="35"/>
                    <a:pt x="71" y="35"/>
                    <a:pt x="71" y="35"/>
                  </a:cubicBezTo>
                  <a:cubicBezTo>
                    <a:pt x="32" y="35"/>
                    <a:pt x="32" y="35"/>
                    <a:pt x="32" y="35"/>
                  </a:cubicBezTo>
                  <a:cubicBezTo>
                    <a:pt x="32" y="32"/>
                    <a:pt x="32" y="32"/>
                    <a:pt x="32" y="32"/>
                  </a:cubicBezTo>
                  <a:close/>
                  <a:moveTo>
                    <a:pt x="32" y="22"/>
                  </a:moveTo>
                  <a:cubicBezTo>
                    <a:pt x="71" y="22"/>
                    <a:pt x="71" y="22"/>
                    <a:pt x="71" y="22"/>
                  </a:cubicBezTo>
                  <a:cubicBezTo>
                    <a:pt x="71" y="25"/>
                    <a:pt x="71" y="25"/>
                    <a:pt x="71" y="25"/>
                  </a:cubicBezTo>
                  <a:cubicBezTo>
                    <a:pt x="32" y="25"/>
                    <a:pt x="32" y="25"/>
                    <a:pt x="32" y="25"/>
                  </a:cubicBezTo>
                  <a:cubicBezTo>
                    <a:pt x="32" y="22"/>
                    <a:pt x="32" y="22"/>
                    <a:pt x="32" y="22"/>
                  </a:cubicBezTo>
                  <a:close/>
                  <a:moveTo>
                    <a:pt x="3" y="66"/>
                  </a:moveTo>
                  <a:cubicBezTo>
                    <a:pt x="9" y="68"/>
                    <a:pt x="9" y="68"/>
                    <a:pt x="9" y="68"/>
                  </a:cubicBezTo>
                  <a:cubicBezTo>
                    <a:pt x="9" y="74"/>
                    <a:pt x="9" y="74"/>
                    <a:pt x="9" y="74"/>
                  </a:cubicBezTo>
                  <a:cubicBezTo>
                    <a:pt x="5" y="79"/>
                    <a:pt x="5" y="79"/>
                    <a:pt x="5" y="79"/>
                  </a:cubicBezTo>
                  <a:cubicBezTo>
                    <a:pt x="4" y="79"/>
                    <a:pt x="3" y="79"/>
                    <a:pt x="2" y="78"/>
                  </a:cubicBezTo>
                  <a:cubicBezTo>
                    <a:pt x="0" y="72"/>
                    <a:pt x="0" y="72"/>
                    <a:pt x="0" y="72"/>
                  </a:cubicBezTo>
                  <a:cubicBezTo>
                    <a:pt x="3" y="66"/>
                    <a:pt x="3" y="66"/>
                    <a:pt x="3" y="66"/>
                  </a:cubicBezTo>
                  <a:close/>
                  <a:moveTo>
                    <a:pt x="4" y="48"/>
                  </a:moveTo>
                  <a:cubicBezTo>
                    <a:pt x="3" y="53"/>
                    <a:pt x="3" y="59"/>
                    <a:pt x="2" y="65"/>
                  </a:cubicBezTo>
                  <a:cubicBezTo>
                    <a:pt x="5" y="65"/>
                    <a:pt x="9" y="66"/>
                    <a:pt x="12" y="67"/>
                  </a:cubicBezTo>
                  <a:cubicBezTo>
                    <a:pt x="14" y="61"/>
                    <a:pt x="15" y="56"/>
                    <a:pt x="17" y="51"/>
                  </a:cubicBezTo>
                  <a:cubicBezTo>
                    <a:pt x="13" y="50"/>
                    <a:pt x="9" y="49"/>
                    <a:pt x="4" y="48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65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endParaRPr>
            </a:p>
          </p:txBody>
        </p:sp>
      </p:grpSp>
      <p:pic>
        <p:nvPicPr>
          <p:cNvPr id="76" name="图片 75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37162" y="127470"/>
            <a:ext cx="2539398" cy="681826"/>
          </a:xfrm>
          <a:prstGeom prst="rect">
            <a:avLst/>
          </a:prstGeom>
        </p:spPr>
      </p:pic>
      <p:sp>
        <p:nvSpPr>
          <p:cNvPr id="2" name="矩形 64">
            <a:extLst>
              <a:ext uri="{FF2B5EF4-FFF2-40B4-BE49-F238E27FC236}">
                <a16:creationId xmlns:a16="http://schemas.microsoft.com/office/drawing/2014/main" id="{2D0A8099-359E-1A07-E9E0-19696DC454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76165" y="4325357"/>
            <a:ext cx="2068801" cy="4308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9" rIns="121917" bIns="60959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rPr>
              <a:t>实验过程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cover/>
      </p:transition>
    </mc:Choice>
    <mc:Fallback>
      <p:transition>
        <p:cover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梯形 36"/>
          <p:cNvSpPr/>
          <p:nvPr/>
        </p:nvSpPr>
        <p:spPr>
          <a:xfrm rot="5400000">
            <a:off x="1331640" y="636804"/>
            <a:ext cx="2344067" cy="5007345"/>
          </a:xfrm>
          <a:prstGeom prst="trapezoid">
            <a:avLst>
              <a:gd name="adj" fmla="val 17865"/>
            </a:avLst>
          </a:prstGeom>
          <a:solidFill>
            <a:schemeClr val="bg1">
              <a:lumMod val="5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5" name="梯形 34"/>
          <p:cNvSpPr/>
          <p:nvPr/>
        </p:nvSpPr>
        <p:spPr>
          <a:xfrm rot="16200000">
            <a:off x="7446198" y="-451317"/>
            <a:ext cx="2291737" cy="7199871"/>
          </a:xfrm>
          <a:prstGeom prst="trapezoid">
            <a:avLst>
              <a:gd name="adj" fmla="val 16935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7" name="文本框 2"/>
          <p:cNvSpPr txBox="1"/>
          <p:nvPr/>
        </p:nvSpPr>
        <p:spPr>
          <a:xfrm>
            <a:off x="3729079" y="2556165"/>
            <a:ext cx="1164101" cy="1200329"/>
          </a:xfrm>
          <a:prstGeom prst="rect">
            <a:avLst/>
          </a:prstGeom>
          <a:noFill/>
        </p:spPr>
        <p:txBody>
          <a:bodyPr wrap="none" lIns="91440" tIns="45720" rIns="91440" bIns="45720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65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Part</a:t>
            </a:r>
            <a:r>
              <a:rPr kumimoji="0" lang="en-US" altLang="zh-CN" sz="7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1</a:t>
            </a:r>
            <a:endParaRPr kumimoji="0" lang="zh-CN" altLang="en-US" sz="7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5638798" y="2692405"/>
            <a:ext cx="2646878" cy="1569660"/>
          </a:xfrm>
          <a:prstGeom prst="rect">
            <a:avLst/>
          </a:prstGeom>
        </p:spPr>
        <p:txBody>
          <a:bodyPr wrap="none" lIns="91440" tIns="45720" rIns="91440" bIns="4572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4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课题简介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" name="椭圆 2"/>
          <p:cNvSpPr/>
          <p:nvPr/>
        </p:nvSpPr>
        <p:spPr>
          <a:xfrm>
            <a:off x="464768" y="1391626"/>
            <a:ext cx="3102819" cy="3102819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13184" y="1542950"/>
            <a:ext cx="2800169" cy="280016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cover/>
      </p:transition>
    </mc:Choice>
    <mc:Fallback>
      <p:transition>
        <p:cover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矩形 46"/>
          <p:cNvSpPr>
            <a:spLocks noChangeArrowheads="1"/>
          </p:cNvSpPr>
          <p:nvPr/>
        </p:nvSpPr>
        <p:spPr bwMode="auto">
          <a:xfrm>
            <a:off x="634918" y="237124"/>
            <a:ext cx="1887690" cy="6155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21917" tIns="60959" rIns="121917" bIns="60959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Calibri" panose="020F0502020204030204" pitchFamily="34" charset="0"/>
              </a:rPr>
              <a:t>课题简介</a:t>
            </a:r>
          </a:p>
        </p:txBody>
      </p:sp>
      <p:sp>
        <p:nvSpPr>
          <p:cNvPr id="34" name="等腰三角形 47"/>
          <p:cNvSpPr>
            <a:spLocks noChangeArrowheads="1"/>
          </p:cNvSpPr>
          <p:nvPr/>
        </p:nvSpPr>
        <p:spPr bwMode="auto">
          <a:xfrm rot="5400000">
            <a:off x="-53049" y="209721"/>
            <a:ext cx="774879" cy="668780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lIns="121917" tIns="60959" rIns="121917" bIns="60959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zh-CN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微软雅黑" panose="020B0503020204020204" pitchFamily="34" charset="-122"/>
            </a:endParaRPr>
          </a:p>
        </p:txBody>
      </p:sp>
      <p:sp>
        <p:nvSpPr>
          <p:cNvPr id="4" name="TextBox 18">
            <a:extLst>
              <a:ext uri="{FF2B5EF4-FFF2-40B4-BE49-F238E27FC236}">
                <a16:creationId xmlns:a16="http://schemas.microsoft.com/office/drawing/2014/main" id="{23965CF0-054F-A009-DC66-AA4C84E1601A}"/>
              </a:ext>
            </a:extLst>
          </p:cNvPr>
          <p:cNvSpPr txBox="1"/>
          <p:nvPr/>
        </p:nvSpPr>
        <p:spPr>
          <a:xfrm>
            <a:off x="831849" y="1902154"/>
            <a:ext cx="9677401" cy="350865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algn="just">
              <a:lnSpc>
                <a:spcPts val="1300"/>
              </a:lnSpc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 algn="l" defTabSz="457200">
              <a:lnSpc>
                <a:spcPct val="100000"/>
              </a:lnSpc>
              <a:defRPr/>
            </a:pPr>
            <a:r>
              <a:rPr lang="en-US" altLang="zh-CN" sz="2000" dirty="0">
                <a:solidFill>
                  <a:schemeClr val="tx1"/>
                </a:solidFill>
                <a:latin typeface="Segoe UI Symbol" panose="020B0502040204020203" pitchFamily="34" charset="0"/>
                <a:ea typeface="Segoe UI Symbol" panose="020B0502040204020203" pitchFamily="34" charset="0"/>
              </a:rPr>
              <a:t>⮚</a:t>
            </a:r>
            <a:r>
              <a:rPr lang="en-US" altLang="zh-CN" sz="2000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zh-CN" altLang="en-US" sz="20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选题</a:t>
            </a:r>
            <a:endParaRPr lang="en-US" altLang="zh-CN" sz="2000" b="1" dirty="0">
              <a:solidFill>
                <a:schemeClr val="tx1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lvl="0" algn="l" defTabSz="457200">
              <a:lnSpc>
                <a:spcPct val="100000"/>
              </a:lnSpc>
              <a:defRPr/>
            </a:pPr>
            <a:r>
              <a:rPr lang="en-US" altLang="zh-CN" sz="1800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I.</a:t>
            </a:r>
            <a:r>
              <a:rPr lang="zh-CN" altLang="en-US" sz="1800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基于</a:t>
            </a:r>
            <a:r>
              <a:rPr lang="en-US" altLang="zh-CN" sz="1800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Spark</a:t>
            </a:r>
            <a:r>
              <a:rPr lang="zh-CN" altLang="en-US" sz="1800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的分布式矩阵乘法实现与优化</a:t>
            </a:r>
            <a:endParaRPr lang="en-US" altLang="zh-CN" sz="1800" dirty="0">
              <a:solidFill>
                <a:schemeClr val="tx1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marL="400050" lvl="0" indent="-400050" algn="l" defTabSz="457200">
              <a:lnSpc>
                <a:spcPct val="100000"/>
              </a:lnSpc>
              <a:buAutoNum type="romanUcPeriod"/>
              <a:defRPr/>
            </a:pPr>
            <a:endParaRPr lang="en-US" altLang="zh-CN" sz="1800" dirty="0">
              <a:solidFill>
                <a:schemeClr val="tx1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marL="400050" lvl="0" indent="-400050" algn="l" defTabSz="457200">
              <a:lnSpc>
                <a:spcPct val="100000"/>
              </a:lnSpc>
              <a:buAutoNum type="romanUcPeriod"/>
              <a:defRPr/>
            </a:pPr>
            <a:endParaRPr lang="en-US" altLang="zh-CN" sz="1800" dirty="0">
              <a:solidFill>
                <a:schemeClr val="tx1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lvl="0" algn="l" defTabSz="457200">
              <a:lnSpc>
                <a:spcPct val="100000"/>
              </a:lnSpc>
              <a:defRPr/>
            </a:pPr>
            <a:r>
              <a:rPr lang="en-US" altLang="zh-CN" sz="2000" dirty="0">
                <a:solidFill>
                  <a:schemeClr val="tx1"/>
                </a:solidFill>
                <a:latin typeface="Segoe UI Symbol" panose="020B0502040204020203" pitchFamily="34" charset="0"/>
                <a:ea typeface="Segoe UI Symbol" panose="020B0502040204020203" pitchFamily="34" charset="0"/>
              </a:rPr>
              <a:t>⮚ </a:t>
            </a:r>
            <a:r>
              <a:rPr lang="zh-CN" altLang="en-US" sz="20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研究目的</a:t>
            </a:r>
            <a:endParaRPr lang="en-US" altLang="zh-CN" sz="2000" b="1" dirty="0">
              <a:solidFill>
                <a:schemeClr val="tx1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lvl="0" algn="l" defTabSz="457200">
              <a:lnSpc>
                <a:spcPct val="100000"/>
              </a:lnSpc>
              <a:defRPr/>
            </a:pPr>
            <a:r>
              <a:rPr lang="zh-CN" altLang="en-US" sz="2000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基于</a:t>
            </a:r>
            <a:r>
              <a:rPr lang="en-US" altLang="zh-CN" sz="2000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Spark</a:t>
            </a:r>
            <a:r>
              <a:rPr lang="zh-CN" altLang="en-US" sz="2000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实现分布式矩阵乘法，并与</a:t>
            </a:r>
            <a:r>
              <a:rPr lang="en-US" altLang="zh-CN" sz="2000" dirty="0" err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SystemDS</a:t>
            </a:r>
            <a:r>
              <a:rPr lang="zh-CN" altLang="en-US" sz="2000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中的实现进行比较。</a:t>
            </a:r>
            <a:endParaRPr lang="en-US" altLang="zh-CN" sz="2000" dirty="0">
              <a:solidFill>
                <a:schemeClr val="tx1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lvl="0" algn="l" defTabSz="457200">
              <a:lnSpc>
                <a:spcPct val="100000"/>
              </a:lnSpc>
              <a:defRPr/>
            </a:pPr>
            <a:endParaRPr lang="en-US" altLang="zh-CN" sz="2000" dirty="0">
              <a:solidFill>
                <a:schemeClr val="tx1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lvl="0" algn="l" defTabSz="457200">
              <a:lnSpc>
                <a:spcPct val="100000"/>
              </a:lnSpc>
              <a:defRPr/>
            </a:pPr>
            <a:endParaRPr lang="en-US" altLang="zh-CN" sz="2000" dirty="0">
              <a:solidFill>
                <a:schemeClr val="tx1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lvl="0" algn="l" defTabSz="457200">
              <a:lnSpc>
                <a:spcPct val="100000"/>
              </a:lnSpc>
              <a:defRPr/>
            </a:pPr>
            <a:r>
              <a:rPr lang="en-US" altLang="zh-CN" sz="2000" dirty="0">
                <a:solidFill>
                  <a:schemeClr val="tx1"/>
                </a:solidFill>
                <a:latin typeface="Segoe UI Symbol" panose="020B0502040204020203" pitchFamily="34" charset="0"/>
                <a:ea typeface="Segoe UI Symbol" panose="020B0502040204020203" pitchFamily="34" charset="0"/>
              </a:rPr>
              <a:t>⮚ </a:t>
            </a:r>
            <a:r>
              <a:rPr lang="zh-CN" altLang="en-US" sz="20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研究内容</a:t>
            </a:r>
            <a:endParaRPr lang="en-US" altLang="zh-CN" sz="2000" b="1" dirty="0">
              <a:solidFill>
                <a:schemeClr val="tx1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lvl="0" algn="l" defTabSz="457200">
              <a:lnSpc>
                <a:spcPct val="100000"/>
              </a:lnSpc>
              <a:defRPr/>
            </a:pPr>
            <a:r>
              <a:rPr lang="zh-CN" altLang="en-US" sz="1800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基于</a:t>
            </a:r>
            <a:r>
              <a:rPr lang="en-US" altLang="zh-CN" sz="1800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Spark</a:t>
            </a:r>
            <a:r>
              <a:rPr lang="zh-CN" altLang="en-US" sz="1800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实现分布式矩阵乘法，并在实现过程中尽可能引入多种优化策略，以提升计算效率。对比分析当前实现与</a:t>
            </a:r>
            <a:r>
              <a:rPr lang="en-US" altLang="zh-CN" sz="1800" dirty="0" err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SystemDS</a:t>
            </a:r>
            <a:r>
              <a:rPr lang="zh-CN" altLang="en-US" sz="1800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中若干实现的差异，探讨它们各自的优缺点和适用场景。</a:t>
            </a:r>
            <a:endParaRPr lang="en-US" altLang="zh-CN" sz="1800" dirty="0">
              <a:solidFill>
                <a:schemeClr val="tx1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lvl="0" algn="l" defTabSz="457200">
              <a:lnSpc>
                <a:spcPct val="100000"/>
              </a:lnSpc>
              <a:defRPr/>
            </a:pPr>
            <a:endParaRPr lang="en-US" altLang="zh-CN" sz="1800" dirty="0">
              <a:solidFill>
                <a:schemeClr val="tx1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cover/>
      </p:transition>
    </mc:Choice>
    <mc:Fallback>
      <p:transition>
        <p:cover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0E7246-C5E2-0F57-10EC-C7D60F5E66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梯形 36">
            <a:extLst>
              <a:ext uri="{FF2B5EF4-FFF2-40B4-BE49-F238E27FC236}">
                <a16:creationId xmlns:a16="http://schemas.microsoft.com/office/drawing/2014/main" id="{8FDBD2AA-7240-5424-5241-167BF8399037}"/>
              </a:ext>
            </a:extLst>
          </p:cNvPr>
          <p:cNvSpPr/>
          <p:nvPr/>
        </p:nvSpPr>
        <p:spPr>
          <a:xfrm rot="5400000">
            <a:off x="1331640" y="636804"/>
            <a:ext cx="2344067" cy="5007345"/>
          </a:xfrm>
          <a:prstGeom prst="trapezoid">
            <a:avLst>
              <a:gd name="adj" fmla="val 17865"/>
            </a:avLst>
          </a:prstGeom>
          <a:solidFill>
            <a:schemeClr val="bg1">
              <a:lumMod val="5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5" name="梯形 34">
            <a:extLst>
              <a:ext uri="{FF2B5EF4-FFF2-40B4-BE49-F238E27FC236}">
                <a16:creationId xmlns:a16="http://schemas.microsoft.com/office/drawing/2014/main" id="{CF8C1306-0E1A-772D-838D-601C83AB3E26}"/>
              </a:ext>
            </a:extLst>
          </p:cNvPr>
          <p:cNvSpPr/>
          <p:nvPr/>
        </p:nvSpPr>
        <p:spPr>
          <a:xfrm rot="16200000">
            <a:off x="7446198" y="-451317"/>
            <a:ext cx="2291737" cy="7199871"/>
          </a:xfrm>
          <a:prstGeom prst="trapezoid">
            <a:avLst>
              <a:gd name="adj" fmla="val 16935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7" name="文本框 2">
            <a:extLst>
              <a:ext uri="{FF2B5EF4-FFF2-40B4-BE49-F238E27FC236}">
                <a16:creationId xmlns:a16="http://schemas.microsoft.com/office/drawing/2014/main" id="{B87C0DE6-8D6A-D043-3FD8-729345BC3277}"/>
              </a:ext>
            </a:extLst>
          </p:cNvPr>
          <p:cNvSpPr txBox="1"/>
          <p:nvPr/>
        </p:nvSpPr>
        <p:spPr>
          <a:xfrm>
            <a:off x="3729079" y="2556165"/>
            <a:ext cx="1164101" cy="1200329"/>
          </a:xfrm>
          <a:prstGeom prst="rect">
            <a:avLst/>
          </a:prstGeom>
          <a:noFill/>
        </p:spPr>
        <p:txBody>
          <a:bodyPr wrap="none" lIns="91440" tIns="45720" rIns="91440" bIns="45720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65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Part</a:t>
            </a:r>
            <a:r>
              <a:rPr lang="en-US" altLang="zh-CN" sz="7200" b="1" dirty="0">
                <a:solidFill>
                  <a:prstClr val="white"/>
                </a:solidFill>
                <a:latin typeface="Arial" panose="020B0604020202020204"/>
                <a:ea typeface="微软雅黑" panose="020B0503020204020204" pitchFamily="34" charset="-122"/>
              </a:rPr>
              <a:t>2</a:t>
            </a:r>
            <a:endParaRPr kumimoji="0" lang="zh-CN" altLang="en-US" sz="7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431ADCC4-A545-DF8D-2782-D1C118322C20}"/>
              </a:ext>
            </a:extLst>
          </p:cNvPr>
          <p:cNvSpPr/>
          <p:nvPr/>
        </p:nvSpPr>
        <p:spPr>
          <a:xfrm>
            <a:off x="5638798" y="2692405"/>
            <a:ext cx="2646878" cy="830997"/>
          </a:xfrm>
          <a:prstGeom prst="rect">
            <a:avLst/>
          </a:prstGeom>
        </p:spPr>
        <p:txBody>
          <a:bodyPr wrap="none" lIns="91440" tIns="45720" rIns="91440" bIns="4572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4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实验环境</a:t>
            </a: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4D9FAD84-A1C2-8087-F3B8-C056FCA91431}"/>
              </a:ext>
            </a:extLst>
          </p:cNvPr>
          <p:cNvSpPr/>
          <p:nvPr/>
        </p:nvSpPr>
        <p:spPr>
          <a:xfrm>
            <a:off x="464768" y="1391626"/>
            <a:ext cx="3102819" cy="3102819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BF42FDD5-D7D3-A237-F891-725C99CA4D6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13184" y="1542950"/>
            <a:ext cx="2800169" cy="28001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923714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cover/>
      </p:transition>
    </mc:Choice>
    <mc:Fallback>
      <p:transition>
        <p:cover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C229957C-E4CB-BAC5-41B8-D855A53B590B}"/>
              </a:ext>
            </a:extLst>
          </p:cNvPr>
          <p:cNvSpPr/>
          <p:nvPr/>
        </p:nvSpPr>
        <p:spPr>
          <a:xfrm>
            <a:off x="668781" y="251723"/>
            <a:ext cx="1826142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3200" b="1" dirty="0">
                <a:ln w="0"/>
                <a:solidFill>
                  <a:srgbClr val="8C1515"/>
                </a:solidFill>
                <a:latin typeface="Arial"/>
                <a:ea typeface="微软雅黑"/>
              </a:rPr>
              <a:t>实验环境</a:t>
            </a:r>
            <a:endParaRPr kumimoji="0" lang="zh-CN" altLang="en-US" sz="3200" b="1" i="0" u="none" strike="noStrike" kern="1200" cap="none" spc="0" normalizeH="0" baseline="0" noProof="0" dirty="0">
              <a:ln w="0"/>
              <a:solidFill>
                <a:srgbClr val="8C1515"/>
              </a:solidFill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2" name="等腰三角形 47">
            <a:extLst>
              <a:ext uri="{FF2B5EF4-FFF2-40B4-BE49-F238E27FC236}">
                <a16:creationId xmlns:a16="http://schemas.microsoft.com/office/drawing/2014/main" id="{4F625542-505A-4EF1-5991-F02516744548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-53049" y="209721"/>
            <a:ext cx="774879" cy="668780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lIns="121917" tIns="60959" rIns="121917" bIns="60959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zh-CN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微软雅黑" panose="020B0503020204020204" pitchFamily="34" charset="-122"/>
            </a:endParaRPr>
          </a:p>
        </p:txBody>
      </p:sp>
      <p:sp>
        <p:nvSpPr>
          <p:cNvPr id="3" name="TextBox 18">
            <a:extLst>
              <a:ext uri="{FF2B5EF4-FFF2-40B4-BE49-F238E27FC236}">
                <a16:creationId xmlns:a16="http://schemas.microsoft.com/office/drawing/2014/main" id="{C371A3AA-30A5-6184-875C-4C84DE2787BA}"/>
              </a:ext>
            </a:extLst>
          </p:cNvPr>
          <p:cNvSpPr txBox="1"/>
          <p:nvPr/>
        </p:nvSpPr>
        <p:spPr>
          <a:xfrm>
            <a:off x="1374030" y="2155959"/>
            <a:ext cx="5241691" cy="233910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algn="just">
              <a:lnSpc>
                <a:spcPts val="1300"/>
              </a:lnSpc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 algn="l" defTabSz="457200">
              <a:lnSpc>
                <a:spcPct val="100000"/>
              </a:lnSpc>
              <a:defRPr/>
            </a:pPr>
            <a:r>
              <a:rPr lang="en-US" altLang="zh-CN" sz="2000" dirty="0">
                <a:solidFill>
                  <a:schemeClr val="tx1"/>
                </a:solidFill>
                <a:latin typeface="Segoe UI Symbol" panose="020B0502040204020203" pitchFamily="34" charset="0"/>
                <a:ea typeface="Segoe UI Symbol" panose="020B0502040204020203" pitchFamily="34" charset="0"/>
              </a:rPr>
              <a:t>⮚</a:t>
            </a:r>
            <a:r>
              <a:rPr lang="en-US" altLang="zh-CN" sz="2000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zh-CN" altLang="en-US" sz="20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集群配置</a:t>
            </a:r>
            <a:endParaRPr lang="en-US" altLang="zh-CN" sz="2000" b="1" dirty="0">
              <a:solidFill>
                <a:schemeClr val="tx1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lvl="0" algn="l" defTabSz="457200">
              <a:lnSpc>
                <a:spcPct val="100000"/>
              </a:lnSpc>
              <a:defRPr/>
            </a:pPr>
            <a:endParaRPr lang="en-US" altLang="zh-CN" sz="2000" b="1" dirty="0">
              <a:solidFill>
                <a:schemeClr val="tx1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lvl="0" algn="l" defTabSz="457200">
              <a:lnSpc>
                <a:spcPct val="100000"/>
              </a:lnSpc>
              <a:defRPr/>
            </a:pPr>
            <a:r>
              <a:rPr lang="zh-CN" altLang="en-US" sz="1600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节点数：</a:t>
            </a:r>
            <a:r>
              <a:rPr lang="en-US" altLang="zh-CN" sz="1600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3</a:t>
            </a:r>
            <a:r>
              <a:rPr lang="zh-CN" altLang="en-US" sz="1600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（</a:t>
            </a:r>
            <a:r>
              <a:rPr lang="en-US" altLang="zh-CN" sz="1600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1 master + 2 worker</a:t>
            </a:r>
            <a:r>
              <a:rPr lang="zh-CN" altLang="en-US" sz="1600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）</a:t>
            </a:r>
            <a:endParaRPr lang="en-US" altLang="zh-CN" sz="1600" dirty="0">
              <a:solidFill>
                <a:schemeClr val="tx1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lvl="0" algn="l" defTabSz="457200">
              <a:lnSpc>
                <a:spcPct val="100000"/>
              </a:lnSpc>
              <a:defRPr/>
            </a:pPr>
            <a:endParaRPr lang="en-US" altLang="zh-CN" sz="1600" dirty="0">
              <a:solidFill>
                <a:schemeClr val="tx1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lvl="0" algn="l" defTabSz="457200">
              <a:lnSpc>
                <a:spcPct val="100000"/>
              </a:lnSpc>
              <a:defRPr/>
            </a:pPr>
            <a:r>
              <a:rPr lang="en-US" altLang="zh-CN" sz="1600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master: </a:t>
            </a:r>
          </a:p>
          <a:p>
            <a:pPr lvl="0" algn="l" defTabSz="457200">
              <a:lnSpc>
                <a:spcPct val="100000"/>
              </a:lnSpc>
              <a:defRPr/>
            </a:pPr>
            <a:r>
              <a:rPr lang="en-US" altLang="zh-CN" sz="1600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2</a:t>
            </a:r>
            <a:r>
              <a:rPr lang="zh-CN" altLang="en-US" sz="1600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核</a:t>
            </a:r>
            <a:r>
              <a:rPr lang="en-US" altLang="zh-CN" sz="1600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8g</a:t>
            </a:r>
            <a:r>
              <a:rPr lang="zh-CN" altLang="en-US" sz="1600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，</a:t>
            </a:r>
            <a:r>
              <a:rPr lang="en-US" altLang="zh-CN" sz="1600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40G</a:t>
            </a:r>
            <a:r>
              <a:rPr lang="zh-CN" altLang="en-US" sz="1600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系统盘，带宽</a:t>
            </a:r>
            <a:r>
              <a:rPr lang="en-US" altLang="zh-CN" sz="1600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100Mbps</a:t>
            </a:r>
          </a:p>
          <a:p>
            <a:pPr lvl="0" algn="l" defTabSz="457200">
              <a:lnSpc>
                <a:spcPct val="100000"/>
              </a:lnSpc>
              <a:defRPr/>
            </a:pPr>
            <a:endParaRPr lang="en-US" altLang="zh-CN" sz="1600" dirty="0">
              <a:solidFill>
                <a:schemeClr val="tx1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lvl="0" algn="l" defTabSz="457200">
              <a:lnSpc>
                <a:spcPct val="100000"/>
              </a:lnSpc>
              <a:defRPr/>
            </a:pPr>
            <a:r>
              <a:rPr lang="en-US" altLang="zh-CN" sz="1600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worker: </a:t>
            </a:r>
          </a:p>
          <a:p>
            <a:pPr lvl="0" algn="l" defTabSz="457200">
              <a:lnSpc>
                <a:spcPct val="100000"/>
              </a:lnSpc>
              <a:defRPr/>
            </a:pPr>
            <a:r>
              <a:rPr lang="en-US" altLang="zh-CN" sz="1600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2</a:t>
            </a:r>
            <a:r>
              <a:rPr lang="zh-CN" altLang="en-US" sz="1600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核</a:t>
            </a:r>
            <a:r>
              <a:rPr lang="en-US" altLang="zh-CN" sz="1600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16g</a:t>
            </a:r>
            <a:r>
              <a:rPr lang="zh-CN" altLang="en-US" sz="1600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，</a:t>
            </a:r>
            <a:r>
              <a:rPr lang="en-US" altLang="zh-CN" sz="1600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40G</a:t>
            </a:r>
            <a:r>
              <a:rPr lang="zh-CN" altLang="en-US" sz="1600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系统盘 </a:t>
            </a:r>
            <a:r>
              <a:rPr lang="en-US" altLang="zh-CN" sz="1600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+ </a:t>
            </a:r>
            <a:r>
              <a:rPr lang="zh-CN" altLang="en-US" sz="1600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额外</a:t>
            </a:r>
            <a:r>
              <a:rPr lang="en-US" altLang="zh-CN" sz="1600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100G SSD</a:t>
            </a:r>
            <a:r>
              <a:rPr lang="zh-CN" altLang="en-US" sz="1600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，带宽</a:t>
            </a:r>
            <a:r>
              <a:rPr lang="en-US" altLang="zh-CN" sz="1600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100Mbps</a:t>
            </a:r>
          </a:p>
        </p:txBody>
      </p:sp>
      <p:sp>
        <p:nvSpPr>
          <p:cNvPr id="5" name="TextBox 18">
            <a:extLst>
              <a:ext uri="{FF2B5EF4-FFF2-40B4-BE49-F238E27FC236}">
                <a16:creationId xmlns:a16="http://schemas.microsoft.com/office/drawing/2014/main" id="{0960644F-8430-997D-0AFE-9A52B6BECA7A}"/>
              </a:ext>
            </a:extLst>
          </p:cNvPr>
          <p:cNvSpPr txBox="1"/>
          <p:nvPr/>
        </p:nvSpPr>
        <p:spPr>
          <a:xfrm>
            <a:off x="7253831" y="2155959"/>
            <a:ext cx="3725105" cy="357020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algn="just">
              <a:lnSpc>
                <a:spcPts val="1300"/>
              </a:lnSpc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 algn="l" defTabSz="457200">
              <a:lnSpc>
                <a:spcPct val="100000"/>
              </a:lnSpc>
              <a:defRPr/>
            </a:pPr>
            <a:r>
              <a:rPr lang="en-US" altLang="zh-CN" sz="2000" dirty="0">
                <a:solidFill>
                  <a:schemeClr val="tx1"/>
                </a:solidFill>
                <a:latin typeface="Segoe UI Symbol" panose="020B0502040204020203" pitchFamily="34" charset="0"/>
                <a:ea typeface="Segoe UI Symbol" panose="020B0502040204020203" pitchFamily="34" charset="0"/>
              </a:rPr>
              <a:t>⮚ </a:t>
            </a:r>
            <a:r>
              <a:rPr lang="zh-CN" altLang="en-US" sz="20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软件</a:t>
            </a:r>
            <a:endParaRPr lang="en-US" altLang="zh-CN" sz="2000" b="1" dirty="0">
              <a:solidFill>
                <a:schemeClr val="tx1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lvl="0" algn="l" defTabSz="457200">
              <a:lnSpc>
                <a:spcPct val="100000"/>
              </a:lnSpc>
              <a:defRPr/>
            </a:pPr>
            <a:endParaRPr lang="en-US" altLang="zh-CN" sz="2000" b="1" dirty="0">
              <a:solidFill>
                <a:schemeClr val="tx1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lvl="0" algn="l" defTabSz="457200">
              <a:lnSpc>
                <a:spcPct val="100000"/>
              </a:lnSpc>
              <a:defRPr/>
            </a:pPr>
            <a:r>
              <a:rPr lang="zh-CN" altLang="en-US" sz="1600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镜像：</a:t>
            </a:r>
            <a:endParaRPr lang="en-US" altLang="zh-CN" sz="1600" dirty="0">
              <a:solidFill>
                <a:schemeClr val="tx1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lvl="0" algn="l" defTabSz="457200">
              <a:lnSpc>
                <a:spcPct val="100000"/>
              </a:lnSpc>
              <a:defRPr/>
            </a:pPr>
            <a:r>
              <a:rPr lang="en-US" altLang="zh-CN" sz="1600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Ubuntu 22.04</a:t>
            </a:r>
          </a:p>
          <a:p>
            <a:pPr lvl="0" algn="l" defTabSz="457200">
              <a:lnSpc>
                <a:spcPct val="100000"/>
              </a:lnSpc>
              <a:defRPr/>
            </a:pPr>
            <a:endParaRPr lang="en-US" altLang="zh-CN" sz="1600" dirty="0">
              <a:solidFill>
                <a:schemeClr val="tx1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lvl="0" algn="l" defTabSz="457200">
              <a:lnSpc>
                <a:spcPct val="100000"/>
              </a:lnSpc>
              <a:defRPr/>
            </a:pPr>
            <a:r>
              <a:rPr lang="zh-CN" altLang="en-US" sz="1600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语言版本：</a:t>
            </a:r>
            <a:endParaRPr lang="en-US" altLang="zh-CN" sz="1600" dirty="0">
              <a:solidFill>
                <a:schemeClr val="tx1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lvl="0" algn="l" defTabSz="457200">
              <a:lnSpc>
                <a:spcPct val="100000"/>
              </a:lnSpc>
              <a:defRPr/>
            </a:pPr>
            <a:r>
              <a:rPr lang="en-US" altLang="zh-CN" sz="1600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JAVA 11</a:t>
            </a:r>
            <a:r>
              <a:rPr lang="zh-CN" altLang="en-US" sz="1600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、</a:t>
            </a:r>
            <a:r>
              <a:rPr lang="en-US" altLang="zh-CN" sz="1600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Python 3.10</a:t>
            </a:r>
          </a:p>
          <a:p>
            <a:pPr lvl="0" algn="l" defTabSz="457200">
              <a:lnSpc>
                <a:spcPct val="100000"/>
              </a:lnSpc>
              <a:defRPr/>
            </a:pPr>
            <a:endParaRPr lang="en-US" altLang="zh-CN" sz="1600" dirty="0">
              <a:solidFill>
                <a:schemeClr val="tx1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lvl="0" algn="l" defTabSz="457200">
              <a:lnSpc>
                <a:spcPct val="100000"/>
              </a:lnSpc>
              <a:defRPr/>
            </a:pPr>
            <a:r>
              <a:rPr lang="zh-CN" altLang="en-US" sz="1600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框架版本：</a:t>
            </a:r>
            <a:endParaRPr lang="en-US" altLang="zh-CN" sz="1600" dirty="0">
              <a:solidFill>
                <a:schemeClr val="tx1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lvl="0" algn="l" defTabSz="457200">
              <a:lnSpc>
                <a:spcPct val="100000"/>
              </a:lnSpc>
              <a:defRPr/>
            </a:pPr>
            <a:r>
              <a:rPr lang="en-US" altLang="zh-CN" sz="1600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Apache Hadoop 3.3.6</a:t>
            </a:r>
            <a:r>
              <a:rPr lang="zh-CN" altLang="en-US" sz="1600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、</a:t>
            </a:r>
            <a:r>
              <a:rPr lang="en-US" altLang="zh-CN" sz="1600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Apache Spark 3.5.7</a:t>
            </a:r>
            <a:r>
              <a:rPr lang="zh-CN" altLang="en-US" sz="1600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、</a:t>
            </a:r>
            <a:r>
              <a:rPr lang="en-US" altLang="zh-CN" sz="1600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Apache </a:t>
            </a:r>
            <a:r>
              <a:rPr lang="en-US" altLang="zh-CN" sz="1600" dirty="0" err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SystemDS</a:t>
            </a:r>
            <a:r>
              <a:rPr lang="en-US" altLang="zh-CN" sz="1600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3.3.0</a:t>
            </a:r>
          </a:p>
          <a:p>
            <a:pPr lvl="0" algn="l" defTabSz="457200">
              <a:lnSpc>
                <a:spcPct val="100000"/>
              </a:lnSpc>
              <a:defRPr/>
            </a:pPr>
            <a:endParaRPr lang="en-US" altLang="zh-CN" sz="1600" dirty="0">
              <a:solidFill>
                <a:schemeClr val="tx1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lvl="0" algn="l" defTabSz="457200">
              <a:lnSpc>
                <a:spcPct val="100000"/>
              </a:lnSpc>
              <a:defRPr/>
            </a:pPr>
            <a:r>
              <a:rPr lang="en-US" altLang="zh-CN" sz="1600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Python</a:t>
            </a:r>
            <a:r>
              <a:rPr lang="zh-CN" altLang="en-US" sz="1600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依赖库：</a:t>
            </a:r>
            <a:endParaRPr lang="en-US" altLang="zh-CN" sz="1600" dirty="0">
              <a:solidFill>
                <a:schemeClr val="tx1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lvl="0" algn="l" defTabSz="457200">
              <a:lnSpc>
                <a:spcPct val="100000"/>
              </a:lnSpc>
              <a:defRPr/>
            </a:pPr>
            <a:r>
              <a:rPr lang="zh-CN" altLang="en-US" sz="1600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均采用最新版本</a:t>
            </a:r>
            <a:endParaRPr lang="en-US" altLang="zh-CN" sz="1600" dirty="0">
              <a:solidFill>
                <a:schemeClr val="tx1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733202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cover/>
      </p:transition>
    </mc:Choice>
    <mc:Fallback>
      <p:transition>
        <p:cover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梯形 36"/>
          <p:cNvSpPr/>
          <p:nvPr/>
        </p:nvSpPr>
        <p:spPr>
          <a:xfrm rot="5400000">
            <a:off x="1331640" y="636804"/>
            <a:ext cx="2344067" cy="5007345"/>
          </a:xfrm>
          <a:prstGeom prst="trapezoid">
            <a:avLst>
              <a:gd name="adj" fmla="val 17865"/>
            </a:avLst>
          </a:prstGeom>
          <a:solidFill>
            <a:schemeClr val="bg1">
              <a:lumMod val="5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5" name="梯形 34"/>
          <p:cNvSpPr/>
          <p:nvPr/>
        </p:nvSpPr>
        <p:spPr>
          <a:xfrm rot="16200000">
            <a:off x="7446198" y="-451317"/>
            <a:ext cx="2291737" cy="7199871"/>
          </a:xfrm>
          <a:prstGeom prst="trapezoid">
            <a:avLst>
              <a:gd name="adj" fmla="val 16935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7" name="文本框 2"/>
          <p:cNvSpPr txBox="1"/>
          <p:nvPr/>
        </p:nvSpPr>
        <p:spPr>
          <a:xfrm>
            <a:off x="3729079" y="2556165"/>
            <a:ext cx="1164101" cy="1200329"/>
          </a:xfrm>
          <a:prstGeom prst="rect">
            <a:avLst/>
          </a:prstGeom>
          <a:noFill/>
        </p:spPr>
        <p:txBody>
          <a:bodyPr wrap="none" lIns="91440" tIns="45720" rIns="91440" bIns="45720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65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Part</a:t>
            </a:r>
            <a:r>
              <a:rPr kumimoji="0" lang="en-US" altLang="zh-CN" sz="7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3</a:t>
            </a:r>
            <a:endParaRPr kumimoji="0" lang="zh-CN" altLang="en-US" sz="7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" name="椭圆 2"/>
          <p:cNvSpPr/>
          <p:nvPr/>
        </p:nvSpPr>
        <p:spPr>
          <a:xfrm>
            <a:off x="464768" y="1391626"/>
            <a:ext cx="3102819" cy="3102819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13184" y="1542950"/>
            <a:ext cx="2800169" cy="2800169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0B1C3566-4221-0440-3ABA-A7437FCC4BAB}"/>
              </a:ext>
            </a:extLst>
          </p:cNvPr>
          <p:cNvSpPr/>
          <p:nvPr/>
        </p:nvSpPr>
        <p:spPr>
          <a:xfrm>
            <a:off x="5638798" y="2692405"/>
            <a:ext cx="2646878" cy="830997"/>
          </a:xfrm>
          <a:prstGeom prst="rect">
            <a:avLst/>
          </a:prstGeom>
        </p:spPr>
        <p:txBody>
          <a:bodyPr wrap="none" lIns="91440" tIns="45720" rIns="91440" bIns="4572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4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实验</a:t>
            </a:r>
            <a:r>
              <a:rPr lang="zh-CN" altLang="en-US" sz="4800" b="1" dirty="0">
                <a:solidFill>
                  <a:prstClr val="white"/>
                </a:solidFill>
                <a:latin typeface="Arial" panose="020B0604020202020204"/>
                <a:ea typeface="微软雅黑" panose="020B0503020204020204" pitchFamily="34" charset="-122"/>
              </a:rPr>
              <a:t>过程</a:t>
            </a:r>
            <a:endParaRPr lang="en-US" altLang="zh-CN" sz="4800" b="1" dirty="0">
              <a:solidFill>
                <a:prstClr val="white"/>
              </a:solidFill>
              <a:latin typeface="Arial" panose="020B0604020202020204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cover/>
      </p:transition>
    </mc:Choice>
    <mc:Fallback>
      <p:transition>
        <p:cover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B4888330-623A-555E-9F48-2DC2E43B4E1A}"/>
              </a:ext>
            </a:extLst>
          </p:cNvPr>
          <p:cNvSpPr/>
          <p:nvPr/>
        </p:nvSpPr>
        <p:spPr>
          <a:xfrm>
            <a:off x="668781" y="251723"/>
            <a:ext cx="2167581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3200" b="1" dirty="0">
                <a:ln w="0"/>
                <a:solidFill>
                  <a:srgbClr val="8C1515"/>
                </a:solidFill>
                <a:latin typeface="Arial"/>
                <a:ea typeface="微软雅黑"/>
              </a:rPr>
              <a:t>1.</a:t>
            </a:r>
            <a:r>
              <a:rPr lang="zh-CN" altLang="en-US" sz="3200" b="1" dirty="0">
                <a:ln w="0"/>
                <a:solidFill>
                  <a:srgbClr val="8C1515"/>
                </a:solidFill>
                <a:latin typeface="Arial"/>
                <a:ea typeface="微软雅黑"/>
              </a:rPr>
              <a:t>环境配置</a:t>
            </a:r>
            <a:endParaRPr kumimoji="0" lang="zh-CN" altLang="en-US" sz="3200" b="1" i="0" u="none" strike="noStrike" kern="1200" cap="none" spc="0" normalizeH="0" baseline="0" noProof="0" dirty="0">
              <a:ln w="0"/>
              <a:solidFill>
                <a:srgbClr val="8C1515"/>
              </a:solidFill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6" name="等腰三角形 47">
            <a:extLst>
              <a:ext uri="{FF2B5EF4-FFF2-40B4-BE49-F238E27FC236}">
                <a16:creationId xmlns:a16="http://schemas.microsoft.com/office/drawing/2014/main" id="{DF1E6E69-60EC-42D1-CD59-C44F225C7757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-53049" y="209721"/>
            <a:ext cx="774879" cy="668780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lIns="121917" tIns="60959" rIns="121917" bIns="60959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zh-CN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微软雅黑" panose="020B0503020204020204" pitchFamily="34" charset="-122"/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9E4F5FD0-561C-2E6F-3BCD-7255B74EDDC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5594" y="1410902"/>
            <a:ext cx="9028745" cy="1854301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C872E048-D1DE-C9FE-0C20-69F3A18373BE}"/>
              </a:ext>
            </a:extLst>
          </p:cNvPr>
          <p:cNvSpPr txBox="1"/>
          <p:nvPr/>
        </p:nvSpPr>
        <p:spPr>
          <a:xfrm>
            <a:off x="1417627" y="931550"/>
            <a:ext cx="4651780" cy="3811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600" dirty="0">
                <a:latin typeface="华文中宋" panose="02010600040101010101" pitchFamily="2" charset="-122"/>
                <a:ea typeface="华文中宋" panose="02010600040101010101" pitchFamily="2" charset="-122"/>
              </a:rPr>
              <a:t>阿里云创建</a:t>
            </a:r>
            <a:r>
              <a:rPr lang="en-US" altLang="zh-CN" sz="1600" dirty="0">
                <a:latin typeface="华文中宋" panose="02010600040101010101" pitchFamily="2" charset="-122"/>
                <a:ea typeface="华文中宋" panose="02010600040101010101" pitchFamily="2" charset="-122"/>
              </a:rPr>
              <a:t>ECS</a:t>
            </a:r>
            <a:r>
              <a:rPr lang="zh-CN" altLang="en-US" sz="1600" dirty="0">
                <a:latin typeface="华文中宋" panose="02010600040101010101" pitchFamily="2" charset="-122"/>
                <a:ea typeface="华文中宋" panose="02010600040101010101" pitchFamily="2" charset="-122"/>
              </a:rPr>
              <a:t>实例：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892C068B-037A-4848-022E-EBB7D139BABA}"/>
              </a:ext>
            </a:extLst>
          </p:cNvPr>
          <p:cNvSpPr txBox="1"/>
          <p:nvPr/>
        </p:nvSpPr>
        <p:spPr>
          <a:xfrm>
            <a:off x="1417627" y="3446662"/>
            <a:ext cx="4651780" cy="3811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600" dirty="0">
                <a:latin typeface="华文中宋" panose="02010600040101010101" pitchFamily="2" charset="-122"/>
                <a:ea typeface="华文中宋" panose="02010600040101010101" pitchFamily="2" charset="-122"/>
              </a:rPr>
              <a:t>配置集群连接：</a:t>
            </a: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E2FEF475-E9C8-A3E0-06F9-F3B7E96B4FB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21661" y="3592798"/>
            <a:ext cx="5601868" cy="3002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306579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cover/>
      </p:transition>
    </mc:Choice>
    <mc:Fallback>
      <p:transition>
        <p:cover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329B38-64BE-FD10-38D3-4916A53AC8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等腰三角形 47">
            <a:extLst>
              <a:ext uri="{FF2B5EF4-FFF2-40B4-BE49-F238E27FC236}">
                <a16:creationId xmlns:a16="http://schemas.microsoft.com/office/drawing/2014/main" id="{706AF5A8-8568-9279-BB34-D1B13378A101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-53049" y="209721"/>
            <a:ext cx="774879" cy="668780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lIns="121917" tIns="60959" rIns="121917" bIns="60959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zh-CN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微软雅黑" panose="020B0503020204020204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0942A9B-F62F-0127-47D0-C91CC1D98E57}"/>
              </a:ext>
            </a:extLst>
          </p:cNvPr>
          <p:cNvSpPr txBox="1"/>
          <p:nvPr/>
        </p:nvSpPr>
        <p:spPr>
          <a:xfrm>
            <a:off x="668781" y="836498"/>
            <a:ext cx="4651780" cy="3811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600" dirty="0">
                <a:solidFill>
                  <a:srgbClr val="0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安装环境和依赖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：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78BFF2EB-DD62-97E8-116A-1EA2E6D414E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79313" y="1344602"/>
            <a:ext cx="4466992" cy="2411248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BE48A4C9-B992-AF28-C656-D5560F00E63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812" y="1344602"/>
            <a:ext cx="4560749" cy="2411248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EECB501E-5CE2-9F34-2ED7-F686CA644A6B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6362" y="4013200"/>
            <a:ext cx="6096926" cy="2523423"/>
          </a:xfrm>
          <a:prstGeom prst="rect">
            <a:avLst/>
          </a:prstGeom>
        </p:spPr>
      </p:pic>
      <p:sp>
        <p:nvSpPr>
          <p:cNvPr id="14" name="文本框 13">
            <a:extLst>
              <a:ext uri="{FF2B5EF4-FFF2-40B4-BE49-F238E27FC236}">
                <a16:creationId xmlns:a16="http://schemas.microsoft.com/office/drawing/2014/main" id="{C94F96F7-E340-4106-B13E-5E037983BDBE}"/>
              </a:ext>
            </a:extLst>
          </p:cNvPr>
          <p:cNvSpPr txBox="1"/>
          <p:nvPr/>
        </p:nvSpPr>
        <p:spPr>
          <a:xfrm>
            <a:off x="668781" y="4325577"/>
            <a:ext cx="4651780" cy="3811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启动集群：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C602DE7-4541-46A2-76F3-A3B312029497}"/>
              </a:ext>
            </a:extLst>
          </p:cNvPr>
          <p:cNvSpPr/>
          <p:nvPr/>
        </p:nvSpPr>
        <p:spPr>
          <a:xfrm>
            <a:off x="668781" y="251723"/>
            <a:ext cx="2167581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3200" b="1" dirty="0">
                <a:ln w="0"/>
                <a:solidFill>
                  <a:srgbClr val="8C1515"/>
                </a:solidFill>
                <a:latin typeface="Arial"/>
                <a:ea typeface="微软雅黑"/>
              </a:rPr>
              <a:t>1.</a:t>
            </a:r>
            <a:r>
              <a:rPr lang="zh-CN" altLang="en-US" sz="3200" b="1" dirty="0">
                <a:ln w="0"/>
                <a:solidFill>
                  <a:srgbClr val="8C1515"/>
                </a:solidFill>
                <a:latin typeface="Arial"/>
                <a:ea typeface="微软雅黑"/>
              </a:rPr>
              <a:t>环境配置</a:t>
            </a:r>
            <a:endParaRPr kumimoji="0" lang="zh-CN" altLang="en-US" sz="3200" b="1" i="0" u="none" strike="noStrike" kern="1200" cap="none" spc="0" normalizeH="0" baseline="0" noProof="0" dirty="0">
              <a:ln w="0"/>
              <a:solidFill>
                <a:srgbClr val="8C1515"/>
              </a:solidFill>
              <a:uLnTx/>
              <a:uFillTx/>
              <a:latin typeface="Arial"/>
              <a:ea typeface="微软雅黑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6578578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cover/>
      </p:transition>
    </mc:Choice>
    <mc:Fallback>
      <p:transition>
        <p:cover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40D63B-E2B8-5144-8E06-0DDD347F07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等腰三角形 47">
            <a:extLst>
              <a:ext uri="{FF2B5EF4-FFF2-40B4-BE49-F238E27FC236}">
                <a16:creationId xmlns:a16="http://schemas.microsoft.com/office/drawing/2014/main" id="{F0B1B256-26AD-C983-F38C-CA96894ADF7C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-53049" y="209721"/>
            <a:ext cx="774879" cy="668780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lIns="121917" tIns="60959" rIns="121917" bIns="60959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zh-CN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微软雅黑" panose="020B0503020204020204" pitchFamily="34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0736D8BE-CF8A-F2E4-6F03-F7B026061990}"/>
              </a:ext>
            </a:extLst>
          </p:cNvPr>
          <p:cNvSpPr/>
          <p:nvPr/>
        </p:nvSpPr>
        <p:spPr>
          <a:xfrm>
            <a:off x="668780" y="251723"/>
            <a:ext cx="2167581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3200" b="1" dirty="0">
                <a:ln w="0"/>
                <a:solidFill>
                  <a:srgbClr val="8C1515"/>
                </a:solidFill>
                <a:latin typeface="Arial"/>
                <a:ea typeface="微软雅黑"/>
              </a:rPr>
              <a:t>2.</a:t>
            </a:r>
            <a:r>
              <a:rPr lang="zh-CN" altLang="en-US" sz="3200" b="1" dirty="0">
                <a:ln w="0"/>
                <a:solidFill>
                  <a:srgbClr val="8C1515"/>
                </a:solidFill>
                <a:latin typeface="Arial"/>
                <a:ea typeface="微软雅黑"/>
              </a:rPr>
              <a:t>任务定义</a:t>
            </a:r>
            <a:endParaRPr kumimoji="0" lang="zh-CN" altLang="en-US" sz="3200" b="1" i="0" u="none" strike="noStrike" kern="1200" cap="none" spc="0" normalizeH="0" baseline="0" noProof="0" dirty="0">
              <a:ln w="0"/>
              <a:solidFill>
                <a:srgbClr val="8C1515"/>
              </a:solidFill>
              <a:uLnTx/>
              <a:uFillTx/>
              <a:latin typeface="Arial"/>
              <a:ea typeface="微软雅黑"/>
              <a:cs typeface="+mn-cs"/>
            </a:endParaRPr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860E3DA5-BFBD-DDAA-351F-5FAF8881FC8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53971775"/>
              </p:ext>
            </p:extLst>
          </p:nvPr>
        </p:nvGraphicFramePr>
        <p:xfrm>
          <a:off x="768392" y="1906751"/>
          <a:ext cx="10655215" cy="2989099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282643">
                  <a:extLst>
                    <a:ext uri="{9D8B030D-6E8A-4147-A177-3AD203B41FA5}">
                      <a16:colId xmlns:a16="http://schemas.microsoft.com/office/drawing/2014/main" val="3298666077"/>
                    </a:ext>
                  </a:extLst>
                </a:gridCol>
                <a:gridCol w="3050047">
                  <a:extLst>
                    <a:ext uri="{9D8B030D-6E8A-4147-A177-3AD203B41FA5}">
                      <a16:colId xmlns:a16="http://schemas.microsoft.com/office/drawing/2014/main" val="3799208769"/>
                    </a:ext>
                  </a:extLst>
                </a:gridCol>
                <a:gridCol w="1388045">
                  <a:extLst>
                    <a:ext uri="{9D8B030D-6E8A-4147-A177-3AD203B41FA5}">
                      <a16:colId xmlns:a16="http://schemas.microsoft.com/office/drawing/2014/main" val="564819952"/>
                    </a:ext>
                  </a:extLst>
                </a:gridCol>
                <a:gridCol w="3934480">
                  <a:extLst>
                    <a:ext uri="{9D8B030D-6E8A-4147-A177-3AD203B41FA5}">
                      <a16:colId xmlns:a16="http://schemas.microsoft.com/office/drawing/2014/main" val="383891738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Implementation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/>
                        <a:t>核心算法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/>
                        <a:t>矩阵规模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/>
                        <a:t>评估指标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443284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sz="1400" dirty="0"/>
                        <a:t>密集矩阵乘法</a:t>
                      </a:r>
                      <a:r>
                        <a:rPr lang="en-US" altLang="zh-CN" sz="1400" dirty="0"/>
                        <a:t>-Baseline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/>
                        <a:t>Shuffle Join</a:t>
                      </a:r>
                      <a:endParaRPr lang="zh-CN" altLang="en-US" sz="1400" dirty="0"/>
                    </a:p>
                  </a:txBody>
                  <a:tcPr/>
                </a:tc>
                <a:tc rowSpan="7">
                  <a:txBody>
                    <a:bodyPr/>
                    <a:lstStyle/>
                    <a:p>
                      <a:pPr algn="ctr"/>
                      <a:endParaRPr lang="en-US" altLang="zh-CN" sz="1400" dirty="0"/>
                    </a:p>
                    <a:p>
                      <a:pPr algn="ctr"/>
                      <a:endParaRPr lang="en-US" altLang="zh-CN" sz="1400" dirty="0"/>
                    </a:p>
                    <a:p>
                      <a:pPr algn="ctr"/>
                      <a:endParaRPr lang="en-US" altLang="zh-CN" sz="1400" dirty="0"/>
                    </a:p>
                    <a:p>
                      <a:pPr algn="ctr"/>
                      <a:endParaRPr lang="en-US" altLang="zh-CN" sz="1400" dirty="0"/>
                    </a:p>
                    <a:p>
                      <a:pPr algn="ctr"/>
                      <a:endParaRPr lang="en-US" altLang="zh-CN" sz="1400" dirty="0"/>
                    </a:p>
                    <a:p>
                      <a:pPr algn="ctr"/>
                      <a:r>
                        <a:rPr lang="zh-CN" altLang="en-US" sz="1400" dirty="0"/>
                        <a:t>默认</a:t>
                      </a:r>
                      <a:r>
                        <a:rPr lang="en-US" altLang="zh-CN" sz="1400" dirty="0"/>
                        <a:t>10000</a:t>
                      </a:r>
                      <a:endParaRPr lang="zh-CN" altLang="en-US" sz="1400" dirty="0"/>
                    </a:p>
                  </a:txBody>
                  <a:tcPr/>
                </a:tc>
                <a:tc rowSpan="7">
                  <a:txBody>
                    <a:bodyPr/>
                    <a:lstStyle/>
                    <a:p>
                      <a:pPr algn="l"/>
                      <a:r>
                        <a:rPr lang="en-US" altLang="zh-CN" sz="1400" dirty="0"/>
                        <a:t>Wall Clock Time</a:t>
                      </a:r>
                      <a:r>
                        <a:rPr lang="zh-CN" altLang="en-US" sz="1400" dirty="0"/>
                        <a:t>（总耗时）</a:t>
                      </a:r>
                      <a:endParaRPr lang="en-US" altLang="zh-CN" sz="1400" dirty="0"/>
                    </a:p>
                    <a:p>
                      <a:pPr algn="l"/>
                      <a:endParaRPr lang="zh-CN" altLang="en-US" sz="1400" dirty="0"/>
                    </a:p>
                    <a:p>
                      <a:pPr algn="l"/>
                      <a:r>
                        <a:rPr lang="en-US" altLang="zh-CN" sz="1400" dirty="0"/>
                        <a:t>Executor Run Time</a:t>
                      </a:r>
                      <a:r>
                        <a:rPr lang="zh-CN" altLang="en-US" sz="1400" dirty="0"/>
                        <a:t>（</a:t>
                      </a:r>
                      <a:r>
                        <a:rPr lang="en-US" altLang="zh-CN" sz="1400" dirty="0"/>
                        <a:t>JVM </a:t>
                      </a:r>
                      <a:r>
                        <a:rPr lang="zh-CN" altLang="en-US" sz="1400" dirty="0"/>
                        <a:t>端执行时间）</a:t>
                      </a:r>
                      <a:endParaRPr lang="en-US" altLang="zh-CN" sz="1400" dirty="0"/>
                    </a:p>
                    <a:p>
                      <a:pPr algn="l"/>
                      <a:endParaRPr lang="zh-CN" altLang="en-US" sz="1400" dirty="0"/>
                    </a:p>
                    <a:p>
                      <a:pPr algn="l"/>
                      <a:r>
                        <a:rPr lang="en-US" altLang="zh-CN" sz="1400" dirty="0"/>
                        <a:t>Python Compute Time</a:t>
                      </a:r>
                      <a:r>
                        <a:rPr lang="zh-CN" altLang="en-US" sz="1400" dirty="0"/>
                        <a:t>（进程</a:t>
                      </a:r>
                      <a:r>
                        <a:rPr lang="en-US" altLang="zh-CN" sz="1400" dirty="0"/>
                        <a:t>/</a:t>
                      </a:r>
                      <a:r>
                        <a:rPr lang="zh-CN" altLang="en-US" sz="1400" dirty="0"/>
                        <a:t>任务内 </a:t>
                      </a:r>
                      <a:r>
                        <a:rPr lang="en-US" altLang="zh-CN" sz="1400" dirty="0"/>
                        <a:t>CPU </a:t>
                      </a:r>
                      <a:r>
                        <a:rPr lang="zh-CN" altLang="en-US" sz="1400" dirty="0"/>
                        <a:t>时间）</a:t>
                      </a:r>
                      <a:endParaRPr lang="en-US" altLang="zh-CN" sz="1400" dirty="0"/>
                    </a:p>
                    <a:p>
                      <a:pPr algn="l"/>
                      <a:endParaRPr lang="zh-CN" altLang="en-US" sz="1400" dirty="0"/>
                    </a:p>
                    <a:p>
                      <a:pPr algn="l"/>
                      <a:r>
                        <a:rPr lang="en-US" altLang="zh-CN" sz="1400" dirty="0"/>
                        <a:t>Shuffle Read / Shuffle Write</a:t>
                      </a:r>
                      <a:r>
                        <a:rPr lang="zh-CN" altLang="en-US" sz="1400" dirty="0"/>
                        <a:t>（网络 </a:t>
                      </a:r>
                      <a:r>
                        <a:rPr lang="en-US" altLang="zh-CN" sz="1400" dirty="0"/>
                        <a:t>I/O</a:t>
                      </a:r>
                      <a:r>
                        <a:rPr lang="zh-CN" altLang="en-US" sz="1400" dirty="0"/>
                        <a:t>）</a:t>
                      </a:r>
                      <a:endParaRPr lang="en-US" altLang="zh-CN" sz="1400" dirty="0"/>
                    </a:p>
                    <a:p>
                      <a:pPr algn="l"/>
                      <a:endParaRPr lang="zh-CN" altLang="en-US" sz="1400" dirty="0"/>
                    </a:p>
                    <a:p>
                      <a:pPr algn="l"/>
                      <a:r>
                        <a:rPr lang="en-US" altLang="zh-CN" sz="1400" dirty="0"/>
                        <a:t>Total GC Time</a:t>
                      </a:r>
                      <a:r>
                        <a:rPr lang="zh-CN" altLang="en-US" sz="1400" dirty="0"/>
                        <a:t>（垃圾回收）</a:t>
                      </a:r>
                      <a:endParaRPr lang="en-US" altLang="zh-CN" sz="1400" dirty="0"/>
                    </a:p>
                    <a:p>
                      <a:pPr algn="l"/>
                      <a:endParaRPr lang="zh-CN" altLang="en-US" sz="1400" dirty="0"/>
                    </a:p>
                    <a:p>
                      <a:pPr algn="l"/>
                      <a:r>
                        <a:rPr lang="en-US" altLang="zh-CN" sz="1400" dirty="0"/>
                        <a:t>Total Tasks</a:t>
                      </a:r>
                      <a:r>
                        <a:rPr lang="zh-CN" altLang="en-US" sz="1400" dirty="0"/>
                        <a:t>（任务数量）与内存使用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6589580"/>
                  </a:ext>
                </a:extLst>
              </a:tr>
              <a:tr h="378577">
                <a:tc>
                  <a:txBody>
                    <a:bodyPr/>
                    <a:lstStyle/>
                    <a:p>
                      <a:r>
                        <a:rPr lang="zh-CN" altLang="en-US" sz="1400" dirty="0"/>
                        <a:t>密集矩阵乘法</a:t>
                      </a:r>
                      <a:r>
                        <a:rPr lang="en-US" altLang="zh-CN" sz="1400" dirty="0"/>
                        <a:t>-Broadcast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/>
                        <a:t>Broadcast Join</a:t>
                      </a:r>
                      <a:endParaRPr lang="zh-CN" altLang="en-US" sz="1400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 sz="1400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67576161"/>
                  </a:ext>
                </a:extLst>
              </a:tr>
              <a:tr h="374650">
                <a:tc>
                  <a:txBody>
                    <a:bodyPr/>
                    <a:lstStyle/>
                    <a:p>
                      <a:r>
                        <a:rPr lang="zh-CN" altLang="en-US" sz="1400" dirty="0"/>
                        <a:t>密集矩阵乘法</a:t>
                      </a:r>
                      <a:r>
                        <a:rPr lang="en-US" altLang="zh-CN" sz="1400" dirty="0"/>
                        <a:t>-2D-Grid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/>
                        <a:t>2D-Grid </a:t>
                      </a:r>
                      <a:r>
                        <a:rPr lang="zh-CN" altLang="en-US" sz="1400" dirty="0"/>
                        <a:t>分区</a:t>
                      </a: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 sz="1400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67252352"/>
                  </a:ext>
                </a:extLst>
              </a:tr>
              <a:tr h="352927">
                <a:tc>
                  <a:txBody>
                    <a:bodyPr/>
                    <a:lstStyle/>
                    <a:p>
                      <a:r>
                        <a:rPr lang="zh-CN" altLang="en-US" sz="1400" dirty="0"/>
                        <a:t>稀疏矩阵乘法</a:t>
                      </a:r>
                      <a:r>
                        <a:rPr lang="en-US" altLang="zh-CN" sz="1400" dirty="0"/>
                        <a:t>-Baseline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/>
                        <a:t>Coordinate-wise Shuffle Join</a:t>
                      </a:r>
                      <a:endParaRPr lang="zh-CN" altLang="en-US" sz="1400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 sz="1400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59187554"/>
                  </a:ext>
                </a:extLst>
              </a:tr>
              <a:tr h="307473">
                <a:tc>
                  <a:txBody>
                    <a:bodyPr/>
                    <a:lstStyle/>
                    <a:p>
                      <a:r>
                        <a:rPr lang="zh-CN" altLang="en-US" sz="1400" dirty="0"/>
                        <a:t>稀疏矩阵乘法</a:t>
                      </a:r>
                      <a:r>
                        <a:rPr lang="en-US" altLang="zh-CN" sz="1400" dirty="0"/>
                        <a:t>-CSR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/>
                        <a:t>Broadcast B + Local CSR Arithmetic</a:t>
                      </a:r>
                      <a:endParaRPr lang="zh-CN" altLang="en-US" sz="1400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 sz="1400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41473202"/>
                  </a:ext>
                </a:extLst>
              </a:tr>
              <a:tr h="342642">
                <a:tc>
                  <a:txBody>
                    <a:bodyPr/>
                    <a:lstStyle/>
                    <a:p>
                      <a:r>
                        <a:rPr lang="zh-CN" altLang="en-US" sz="1400" dirty="0"/>
                        <a:t>稀疏矩阵乘法</a:t>
                      </a:r>
                      <a:r>
                        <a:rPr lang="en-US" altLang="zh-CN" sz="1400" dirty="0"/>
                        <a:t>-</a:t>
                      </a:r>
                      <a:r>
                        <a:rPr lang="en-US" altLang="zh-CN" sz="1400" dirty="0" err="1"/>
                        <a:t>DataFrame</a:t>
                      </a:r>
                      <a:endParaRPr lang="en-US" altLang="zh-C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/>
                        <a:t>Spark SQL Join + Catalyst Optimizer</a:t>
                      </a:r>
                      <a:endParaRPr lang="zh-CN" altLang="en-US" sz="1400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 sz="1400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2041610"/>
                  </a:ext>
                </a:extLst>
              </a:tr>
              <a:tr h="315632">
                <a:tc>
                  <a:txBody>
                    <a:bodyPr/>
                    <a:lstStyle/>
                    <a:p>
                      <a:r>
                        <a:rPr lang="en-US" altLang="zh-CN" sz="1400" dirty="0" err="1"/>
                        <a:t>SystemDS</a:t>
                      </a:r>
                      <a:endParaRPr lang="en-US" altLang="zh-C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/>
                        <a:t>Runtime Optimizer</a:t>
                      </a:r>
                      <a:endParaRPr lang="zh-CN" altLang="en-US" sz="1400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 sz="1400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4717695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6549513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cover/>
      </p:transition>
    </mc:Choice>
    <mc:Fallback>
      <p:transition>
        <p:cover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F491D4-C171-19E2-7DD0-7127942D1E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等腰三角形 47">
            <a:extLst>
              <a:ext uri="{FF2B5EF4-FFF2-40B4-BE49-F238E27FC236}">
                <a16:creationId xmlns:a16="http://schemas.microsoft.com/office/drawing/2014/main" id="{10A08322-E0A3-FCB4-0D38-9AD587744DE7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-53049" y="209721"/>
            <a:ext cx="774879" cy="668780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lIns="121917" tIns="60959" rIns="121917" bIns="60959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zh-CN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微软雅黑" panose="020B0503020204020204" pitchFamily="34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581759C-114F-FA5D-9BF7-7D82E5A535F6}"/>
              </a:ext>
            </a:extLst>
          </p:cNvPr>
          <p:cNvSpPr/>
          <p:nvPr/>
        </p:nvSpPr>
        <p:spPr>
          <a:xfrm>
            <a:off x="668779" y="251723"/>
            <a:ext cx="4387850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3200" b="1" dirty="0">
                <a:ln w="0"/>
                <a:solidFill>
                  <a:srgbClr val="8C1515"/>
                </a:solidFill>
                <a:latin typeface="Arial"/>
                <a:ea typeface="微软雅黑"/>
              </a:rPr>
              <a:t>3.</a:t>
            </a:r>
            <a:r>
              <a:rPr lang="zh-CN" altLang="en-US" sz="3200" b="1" dirty="0">
                <a:ln w="0"/>
                <a:solidFill>
                  <a:srgbClr val="8C1515"/>
                </a:solidFill>
                <a:latin typeface="Arial"/>
                <a:ea typeface="微软雅黑"/>
              </a:rPr>
              <a:t>代码编写</a:t>
            </a:r>
            <a:r>
              <a:rPr lang="en-US" altLang="zh-CN" sz="3200" b="1" dirty="0">
                <a:ln w="0"/>
                <a:solidFill>
                  <a:srgbClr val="8C1515"/>
                </a:solidFill>
                <a:latin typeface="Arial"/>
                <a:ea typeface="微软雅黑"/>
              </a:rPr>
              <a:t>/</a:t>
            </a:r>
            <a:r>
              <a:rPr lang="zh-CN" altLang="en-US" sz="3200" b="1" dirty="0">
                <a:ln w="0"/>
                <a:solidFill>
                  <a:srgbClr val="8C1515"/>
                </a:solidFill>
                <a:latin typeface="Arial"/>
                <a:ea typeface="微软雅黑"/>
              </a:rPr>
              <a:t>脚本测试</a:t>
            </a:r>
            <a:endParaRPr kumimoji="0" lang="zh-CN" altLang="en-US" sz="3200" b="1" i="0" u="none" strike="noStrike" kern="1200" cap="none" spc="0" normalizeH="0" baseline="0" noProof="0" dirty="0">
              <a:ln w="0"/>
              <a:solidFill>
                <a:srgbClr val="8C1515"/>
              </a:solidFill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82C1707D-FD4D-8D3E-C4BC-195DE91ABC23}"/>
              </a:ext>
            </a:extLst>
          </p:cNvPr>
          <p:cNvSpPr txBox="1"/>
          <p:nvPr/>
        </p:nvSpPr>
        <p:spPr>
          <a:xfrm>
            <a:off x="668779" y="1534603"/>
            <a:ext cx="4651780" cy="13814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b="1" dirty="0">
                <a:solidFill>
                  <a:srgbClr val="0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D</a:t>
            </a:r>
            <a:r>
              <a:rPr kumimoji="0" lang="en-US" altLang="zh-CN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ense</a:t>
            </a:r>
            <a:r>
              <a:rPr kumimoji="0" lang="en-US" altLang="zh-CN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-Broadcast:</a:t>
            </a:r>
          </a:p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1.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将矩阵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B collect() 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到 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Driver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，构造成 </a:t>
            </a:r>
            <a:r>
              <a:rPr kumimoji="0" lang="en-US" altLang="zh-CN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dict</a:t>
            </a: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华文中宋" panose="02010600040101010101" pitchFamily="2" charset="-122"/>
              <a:ea typeface="华文中宋" panose="02010600040101010101" pitchFamily="2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2.sc.broadcast(</a:t>
            </a:r>
            <a:r>
              <a:rPr kumimoji="0" lang="en-US" altLang="zh-CN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B_dict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) 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到 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Executors</a:t>
            </a:r>
          </a:p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3.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每个 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A 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的分块直接本地与广播的 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B 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进行乘法</a:t>
            </a:r>
          </a:p>
        </p:txBody>
      </p:sp>
      <p:pic>
        <p:nvPicPr>
          <p:cNvPr id="8" name="图片 7" descr="图形用户界面, 文本&#10;&#10;AI 生成的内容可能不正确。">
            <a:extLst>
              <a:ext uri="{FF2B5EF4-FFF2-40B4-BE49-F238E27FC236}">
                <a16:creationId xmlns:a16="http://schemas.microsoft.com/office/drawing/2014/main" id="{B08F601A-8D71-FD1B-D6F5-8A1AEA3B31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9892" y="1710762"/>
            <a:ext cx="4737858" cy="1205245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20A962C1-CDB2-D75A-AB13-DAC446C053CC}"/>
              </a:ext>
            </a:extLst>
          </p:cNvPr>
          <p:cNvSpPr txBox="1"/>
          <p:nvPr/>
        </p:nvSpPr>
        <p:spPr>
          <a:xfrm>
            <a:off x="668778" y="3852353"/>
            <a:ext cx="4651779" cy="17014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b="1" dirty="0">
                <a:solidFill>
                  <a:srgbClr val="0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D</a:t>
            </a:r>
            <a:r>
              <a:rPr kumimoji="0" lang="en-US" altLang="zh-CN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ense-2D-Grid:</a:t>
            </a:r>
          </a:p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1.</a:t>
            </a:r>
            <a:r>
              <a:rPr kumimoji="0" lang="zh-CN" altLang="en-US" sz="16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将矩阵划分为 </a:t>
            </a:r>
            <a:r>
              <a:rPr kumimoji="0" lang="en-US" altLang="zh-CN" sz="160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GxG</a:t>
            </a:r>
            <a:r>
              <a:rPr kumimoji="0" lang="en-US" altLang="zh-CN" sz="16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 </a:t>
            </a:r>
            <a:r>
              <a:rPr kumimoji="0" lang="zh-CN" altLang="en-US" sz="16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网格分区，只将必要块发送到对应 </a:t>
            </a:r>
            <a:r>
              <a:rPr kumimoji="0" lang="en-US" altLang="zh-CN" sz="16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grid cell</a:t>
            </a:r>
          </a:p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2.</a:t>
            </a:r>
            <a:r>
              <a:rPr kumimoji="0" lang="zh-CN" altLang="en-US" sz="16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在分区内重组为 </a:t>
            </a:r>
            <a:r>
              <a:rPr kumimoji="0" lang="en-US" altLang="zh-CN" sz="16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super-block </a:t>
            </a:r>
            <a:r>
              <a:rPr kumimoji="0" lang="zh-CN" altLang="en-US" sz="16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使用 </a:t>
            </a:r>
            <a:r>
              <a:rPr kumimoji="0" lang="en-US" altLang="zh-CN" sz="160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numpy.block</a:t>
            </a:r>
            <a:r>
              <a:rPr kumimoji="0" lang="zh-CN" altLang="en-US" sz="16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，向量化 </a:t>
            </a:r>
            <a:r>
              <a:rPr kumimoji="0" lang="en-US" altLang="zh-CN" sz="16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np.dot</a:t>
            </a:r>
          </a:p>
        </p:txBody>
      </p:sp>
      <p:pic>
        <p:nvPicPr>
          <p:cNvPr id="11" name="图片 10" descr="文本, 应用程序&#10;&#10;AI 生成的内容可能不正确。">
            <a:extLst>
              <a:ext uri="{FF2B5EF4-FFF2-40B4-BE49-F238E27FC236}">
                <a16:creationId xmlns:a16="http://schemas.microsoft.com/office/drawing/2014/main" id="{4A36DD6D-F1B8-9FF5-FFDE-1880071BDD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3860" y="3937000"/>
            <a:ext cx="4753890" cy="17014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097956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cover/>
      </p:transition>
    </mc:Choice>
    <mc:Fallback>
      <p:transition>
        <p:cover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802B27-6341-82E0-D26B-23E94B3F43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等腰三角形 47">
            <a:extLst>
              <a:ext uri="{FF2B5EF4-FFF2-40B4-BE49-F238E27FC236}">
                <a16:creationId xmlns:a16="http://schemas.microsoft.com/office/drawing/2014/main" id="{AB8A6B3A-D574-FF14-E760-4DD0FF4541BA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-53049" y="209721"/>
            <a:ext cx="774879" cy="668780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lIns="121917" tIns="60959" rIns="121917" bIns="60959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zh-CN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微软雅黑" panose="020B0503020204020204" pitchFamily="34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99169379-AA6D-494B-7576-E27037DBBBB2}"/>
              </a:ext>
            </a:extLst>
          </p:cNvPr>
          <p:cNvSpPr/>
          <p:nvPr/>
        </p:nvSpPr>
        <p:spPr>
          <a:xfrm>
            <a:off x="668779" y="251723"/>
            <a:ext cx="4387850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3200" b="1" dirty="0">
                <a:ln w="0"/>
                <a:solidFill>
                  <a:srgbClr val="8C1515"/>
                </a:solidFill>
                <a:latin typeface="Arial"/>
                <a:ea typeface="微软雅黑"/>
              </a:rPr>
              <a:t>3.</a:t>
            </a:r>
            <a:r>
              <a:rPr lang="zh-CN" altLang="en-US" sz="3200" b="1" dirty="0">
                <a:ln w="0"/>
                <a:solidFill>
                  <a:srgbClr val="8C1515"/>
                </a:solidFill>
                <a:latin typeface="Arial"/>
                <a:ea typeface="微软雅黑"/>
              </a:rPr>
              <a:t>代码编写</a:t>
            </a:r>
            <a:r>
              <a:rPr lang="en-US" altLang="zh-CN" sz="3200" b="1" dirty="0">
                <a:ln w="0"/>
                <a:solidFill>
                  <a:srgbClr val="8C1515"/>
                </a:solidFill>
                <a:latin typeface="Arial"/>
                <a:ea typeface="微软雅黑"/>
              </a:rPr>
              <a:t>/</a:t>
            </a:r>
            <a:r>
              <a:rPr lang="zh-CN" altLang="en-US" sz="3200" b="1" dirty="0">
                <a:ln w="0"/>
                <a:solidFill>
                  <a:srgbClr val="8C1515"/>
                </a:solidFill>
                <a:latin typeface="Arial"/>
                <a:ea typeface="微软雅黑"/>
              </a:rPr>
              <a:t>脚本测试</a:t>
            </a:r>
            <a:endParaRPr kumimoji="0" lang="zh-CN" altLang="en-US" sz="3200" b="1" i="0" u="none" strike="noStrike" kern="1200" cap="none" spc="0" normalizeH="0" baseline="0" noProof="0" dirty="0">
              <a:ln w="0"/>
              <a:solidFill>
                <a:srgbClr val="8C1515"/>
              </a:solidFill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9682D8CF-1352-98AE-7C68-E2B247274326}"/>
              </a:ext>
            </a:extLst>
          </p:cNvPr>
          <p:cNvSpPr txBox="1"/>
          <p:nvPr/>
        </p:nvSpPr>
        <p:spPr>
          <a:xfrm>
            <a:off x="668779" y="1534603"/>
            <a:ext cx="4651780" cy="20215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Sparse-CSR:</a:t>
            </a:r>
          </a:p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1.</a:t>
            </a:r>
            <a:r>
              <a:rPr kumimoji="0" lang="zh-CN" altLang="en-US" sz="16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在 </a:t>
            </a:r>
            <a:r>
              <a:rPr kumimoji="0" lang="en-US" altLang="zh-CN" sz="16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Driver </a:t>
            </a:r>
            <a:r>
              <a:rPr kumimoji="0" lang="zh-CN" altLang="en-US" sz="16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或某处将 </a:t>
            </a:r>
            <a:r>
              <a:rPr kumimoji="0" lang="en-US" altLang="zh-CN" sz="16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B </a:t>
            </a:r>
            <a:r>
              <a:rPr kumimoji="0" lang="zh-CN" altLang="en-US" sz="16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的三元组转成 </a:t>
            </a:r>
            <a:r>
              <a:rPr kumimoji="0" lang="en-US" altLang="zh-CN" sz="16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SciPy </a:t>
            </a:r>
            <a:r>
              <a:rPr kumimoji="0" lang="zh-CN" altLang="en-US" sz="16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的 </a:t>
            </a:r>
            <a:r>
              <a:rPr kumimoji="0" lang="en-US" altLang="zh-CN" sz="16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CSR </a:t>
            </a:r>
            <a:r>
              <a:rPr kumimoji="0" lang="zh-CN" altLang="en-US" sz="16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矩阵并广播</a:t>
            </a:r>
          </a:p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2.Executor </a:t>
            </a:r>
            <a:r>
              <a:rPr kumimoji="0" lang="zh-CN" altLang="en-US" sz="16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将分区的 </a:t>
            </a:r>
            <a:r>
              <a:rPr kumimoji="0" lang="en-US" altLang="zh-CN" sz="16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A </a:t>
            </a:r>
            <a:r>
              <a:rPr kumimoji="0" lang="zh-CN" altLang="en-US" sz="16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转为 </a:t>
            </a:r>
            <a:r>
              <a:rPr kumimoji="0" lang="en-US" altLang="zh-CN" sz="16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CSR</a:t>
            </a:r>
            <a:r>
              <a:rPr kumimoji="0" lang="zh-CN" altLang="en-US" sz="16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，直接调用 </a:t>
            </a:r>
            <a:r>
              <a:rPr kumimoji="0" lang="en-US" altLang="zh-CN" sz="16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A_csr.dot(</a:t>
            </a:r>
            <a:r>
              <a:rPr kumimoji="0" lang="en-US" altLang="zh-CN" sz="160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B_csr</a:t>
            </a:r>
            <a:r>
              <a:rPr kumimoji="0" lang="en-US" altLang="zh-CN" sz="16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3.</a:t>
            </a:r>
            <a:r>
              <a:rPr kumimoji="0" lang="zh-CN" altLang="en-US" sz="16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从结果中提取非零三元组输出</a:t>
            </a:r>
            <a:endParaRPr kumimoji="0" lang="en-US" altLang="zh-CN" sz="160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华文中宋" panose="02010600040101010101" pitchFamily="2" charset="-122"/>
              <a:ea typeface="华文中宋" panose="02010600040101010101" pitchFamily="2" charset="-122"/>
              <a:cs typeface="+mn-cs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B58B629D-44B9-9236-6E13-D1773551CB2C}"/>
              </a:ext>
            </a:extLst>
          </p:cNvPr>
          <p:cNvSpPr txBox="1"/>
          <p:nvPr/>
        </p:nvSpPr>
        <p:spPr>
          <a:xfrm>
            <a:off x="668778" y="3852353"/>
            <a:ext cx="4651779" cy="13814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b="1" dirty="0">
                <a:solidFill>
                  <a:srgbClr val="0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Sparse</a:t>
            </a:r>
            <a:r>
              <a:rPr kumimoji="0" lang="en-US" altLang="zh-CN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-</a:t>
            </a:r>
            <a:r>
              <a:rPr kumimoji="0" lang="en-US" altLang="zh-CN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DataFrame</a:t>
            </a:r>
            <a:r>
              <a:rPr kumimoji="0" lang="en-US" altLang="zh-CN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:</a:t>
            </a:r>
          </a:p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1.</a:t>
            </a:r>
            <a:r>
              <a:rPr kumimoji="0" lang="zh-CN" altLang="en-US" sz="16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用 </a:t>
            </a:r>
            <a:r>
              <a:rPr kumimoji="0" lang="en-US" altLang="zh-CN" sz="160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DataFrame</a:t>
            </a:r>
            <a:r>
              <a:rPr kumimoji="0" lang="en-US" altLang="zh-CN" sz="16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 </a:t>
            </a:r>
            <a:r>
              <a:rPr kumimoji="0" lang="zh-CN" altLang="en-US" sz="16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存稀疏三元组</a:t>
            </a:r>
            <a:endParaRPr kumimoji="0" lang="en-US" altLang="zh-CN" sz="160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华文中宋" panose="02010600040101010101" pitchFamily="2" charset="-122"/>
              <a:ea typeface="华文中宋" panose="02010600040101010101" pitchFamily="2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600" dirty="0">
                <a:solidFill>
                  <a:srgbClr val="0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2.</a:t>
            </a:r>
            <a:r>
              <a:rPr kumimoji="0" lang="zh-CN" altLang="en-US" sz="16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使用 </a:t>
            </a:r>
            <a:r>
              <a:rPr kumimoji="0" lang="en-US" altLang="zh-CN" sz="16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broadcast() hint </a:t>
            </a:r>
            <a:r>
              <a:rPr kumimoji="0" lang="zh-CN" altLang="en-US" sz="16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与 </a:t>
            </a:r>
            <a:r>
              <a:rPr kumimoji="0" lang="en-US" altLang="zh-CN" sz="16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SQL join</a:t>
            </a:r>
          </a:p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600" dirty="0">
                <a:solidFill>
                  <a:srgbClr val="0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3.</a:t>
            </a:r>
            <a:r>
              <a:rPr kumimoji="0" lang="en-US" altLang="zh-CN" sz="160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groupBy</a:t>
            </a:r>
            <a:r>
              <a:rPr kumimoji="0" lang="en-US" altLang="zh-CN" sz="16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(</a:t>
            </a:r>
            <a:r>
              <a:rPr kumimoji="0" lang="en-US" altLang="zh-CN" sz="160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i,j</a:t>
            </a:r>
            <a:r>
              <a:rPr kumimoji="0" lang="en-US" altLang="zh-CN" sz="16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).sum(product)</a:t>
            </a:r>
          </a:p>
        </p:txBody>
      </p:sp>
      <p:pic>
        <p:nvPicPr>
          <p:cNvPr id="4" name="图片 3" descr="文本&#10;&#10;AI 生成的内容可能不正确。">
            <a:extLst>
              <a:ext uri="{FF2B5EF4-FFF2-40B4-BE49-F238E27FC236}">
                <a16:creationId xmlns:a16="http://schemas.microsoft.com/office/drawing/2014/main" id="{62ACC962-C10B-0572-6CAB-F112B64E4A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53860" y="1615137"/>
            <a:ext cx="4753890" cy="1813863"/>
          </a:xfrm>
          <a:prstGeom prst="rect">
            <a:avLst/>
          </a:prstGeom>
        </p:spPr>
      </p:pic>
      <p:pic>
        <p:nvPicPr>
          <p:cNvPr id="10" name="图片 9" descr="图形用户界面, 文本, 应用程序&#10;&#10;AI 生成的内容可能不正确。">
            <a:extLst>
              <a:ext uri="{FF2B5EF4-FFF2-40B4-BE49-F238E27FC236}">
                <a16:creationId xmlns:a16="http://schemas.microsoft.com/office/drawing/2014/main" id="{58F5D33D-23E3-1D90-0144-BC5EC83D0B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3860" y="3852353"/>
            <a:ext cx="2997713" cy="22871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98312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cover/>
      </p:transition>
    </mc:Choice>
    <mc:Fallback>
      <p:transition>
        <p:cover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梯形 34"/>
          <p:cNvSpPr/>
          <p:nvPr/>
        </p:nvSpPr>
        <p:spPr>
          <a:xfrm rot="16200000">
            <a:off x="7446198" y="-451317"/>
            <a:ext cx="2291737" cy="7199871"/>
          </a:xfrm>
          <a:prstGeom prst="trapezoid">
            <a:avLst>
              <a:gd name="adj" fmla="val 16935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7" name="梯形 36"/>
          <p:cNvSpPr/>
          <p:nvPr/>
        </p:nvSpPr>
        <p:spPr>
          <a:xfrm rot="5400000">
            <a:off x="1331640" y="636804"/>
            <a:ext cx="2344067" cy="5007345"/>
          </a:xfrm>
          <a:prstGeom prst="trapezoid">
            <a:avLst>
              <a:gd name="adj" fmla="val 17865"/>
            </a:avLst>
          </a:prstGeom>
          <a:solidFill>
            <a:schemeClr val="bg1">
              <a:lumMod val="5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7" name="文本框 2"/>
          <p:cNvSpPr txBox="1"/>
          <p:nvPr/>
        </p:nvSpPr>
        <p:spPr>
          <a:xfrm>
            <a:off x="3729079" y="2556165"/>
            <a:ext cx="1164101" cy="1200329"/>
          </a:xfrm>
          <a:prstGeom prst="rect">
            <a:avLst/>
          </a:prstGeom>
          <a:noFill/>
        </p:spPr>
        <p:txBody>
          <a:bodyPr wrap="none" lIns="91440" tIns="45720" rIns="91440" bIns="45720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65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Part</a:t>
            </a:r>
            <a:r>
              <a:rPr kumimoji="0" lang="en-US" altLang="zh-CN" sz="7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4</a:t>
            </a:r>
            <a:endParaRPr kumimoji="0" lang="zh-CN" altLang="en-US" sz="7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5209537" y="2692405"/>
            <a:ext cx="2646878" cy="830997"/>
          </a:xfrm>
          <a:prstGeom prst="rect">
            <a:avLst/>
          </a:prstGeom>
        </p:spPr>
        <p:txBody>
          <a:bodyPr wrap="none" lIns="91440" tIns="45720" rIns="91440" bIns="4572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4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结果分析</a:t>
            </a:r>
          </a:p>
        </p:txBody>
      </p:sp>
      <p:sp>
        <p:nvSpPr>
          <p:cNvPr id="16" name="椭圆 15"/>
          <p:cNvSpPr/>
          <p:nvPr/>
        </p:nvSpPr>
        <p:spPr>
          <a:xfrm>
            <a:off x="464768" y="1391626"/>
            <a:ext cx="3102819" cy="3102819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pic>
        <p:nvPicPr>
          <p:cNvPr id="18" name="图片 17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13184" y="1542950"/>
            <a:ext cx="2800169" cy="280016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cover/>
      </p:transition>
    </mc:Choice>
    <mc:Fallback>
      <p:transition>
        <p:cover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058E64-5C70-8A97-CBD6-B3E383EC39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等腰三角形 47">
            <a:extLst>
              <a:ext uri="{FF2B5EF4-FFF2-40B4-BE49-F238E27FC236}">
                <a16:creationId xmlns:a16="http://schemas.microsoft.com/office/drawing/2014/main" id="{CE8ADDAE-9CF1-494B-DD08-23E8176825BA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-53049" y="209721"/>
            <a:ext cx="774879" cy="668780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lIns="121917" tIns="60959" rIns="121917" bIns="60959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zh-CN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微软雅黑" panose="020B0503020204020204" pitchFamily="34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895F7A45-1F7D-1C88-F14B-CF9F58719484}"/>
              </a:ext>
            </a:extLst>
          </p:cNvPr>
          <p:cNvSpPr/>
          <p:nvPr/>
        </p:nvSpPr>
        <p:spPr>
          <a:xfrm>
            <a:off x="668779" y="251723"/>
            <a:ext cx="4387850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3200" b="1" dirty="0">
                <a:ln w="0"/>
                <a:solidFill>
                  <a:srgbClr val="8C1515"/>
                </a:solidFill>
                <a:latin typeface="Arial"/>
                <a:ea typeface="微软雅黑"/>
              </a:rPr>
              <a:t>密集矩阵对比测试</a:t>
            </a:r>
            <a:endParaRPr kumimoji="0" lang="zh-CN" altLang="en-US" sz="3200" b="1" i="0" u="none" strike="noStrike" kern="1200" cap="none" spc="0" normalizeH="0" baseline="0" noProof="0" dirty="0">
              <a:ln w="0"/>
              <a:solidFill>
                <a:srgbClr val="8C1515"/>
              </a:solidFill>
              <a:uLnTx/>
              <a:uFillTx/>
              <a:latin typeface="Arial"/>
              <a:ea typeface="微软雅黑"/>
              <a:cs typeface="+mn-cs"/>
            </a:endParaRPr>
          </a:p>
        </p:txBody>
      </p:sp>
      <p:pic>
        <p:nvPicPr>
          <p:cNvPr id="7" name="图片 6" descr="表格&#10;&#10;AI 生成的内容可能不正确。">
            <a:extLst>
              <a:ext uri="{FF2B5EF4-FFF2-40B4-BE49-F238E27FC236}">
                <a16:creationId xmlns:a16="http://schemas.microsoft.com/office/drawing/2014/main" id="{E7645555-E53E-0D2A-92E6-4261DB6105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000" y="1426801"/>
            <a:ext cx="10922000" cy="41145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873295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cover/>
      </p:transition>
    </mc:Choice>
    <mc:Fallback>
      <p:transition>
        <p:cover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740CA8-E5B9-2881-27CF-D23BD1D0CA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等腰三角形 47">
            <a:extLst>
              <a:ext uri="{FF2B5EF4-FFF2-40B4-BE49-F238E27FC236}">
                <a16:creationId xmlns:a16="http://schemas.microsoft.com/office/drawing/2014/main" id="{7B4133B0-1833-DCFA-3E37-6646FDBFEAF0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-53049" y="209721"/>
            <a:ext cx="774879" cy="668780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lIns="121917" tIns="60959" rIns="121917" bIns="60959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zh-CN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微软雅黑" panose="020B0503020204020204" pitchFamily="34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772FC5C-F599-D1DA-B03E-6E1010DEF818}"/>
              </a:ext>
            </a:extLst>
          </p:cNvPr>
          <p:cNvSpPr/>
          <p:nvPr/>
        </p:nvSpPr>
        <p:spPr>
          <a:xfrm>
            <a:off x="668779" y="251723"/>
            <a:ext cx="4387850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 w="0"/>
                <a:solidFill>
                  <a:srgbClr val="8C1515"/>
                </a:solidFill>
                <a:uLnTx/>
                <a:uFillTx/>
                <a:latin typeface="Arial"/>
                <a:ea typeface="微软雅黑"/>
                <a:cs typeface="+mn-cs"/>
              </a:rPr>
              <a:t>稀疏矩阵对比测试</a:t>
            </a:r>
          </a:p>
        </p:txBody>
      </p:sp>
      <p:pic>
        <p:nvPicPr>
          <p:cNvPr id="4" name="图片 3" descr="表格&#10;&#10;AI 生成的内容可能不正确。">
            <a:extLst>
              <a:ext uri="{FF2B5EF4-FFF2-40B4-BE49-F238E27FC236}">
                <a16:creationId xmlns:a16="http://schemas.microsoft.com/office/drawing/2014/main" id="{A91C3936-5089-04E5-DD5C-60B721AE1A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2767" y="1215334"/>
            <a:ext cx="10066466" cy="44273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607613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cover/>
      </p:transition>
    </mc:Choice>
    <mc:Fallback>
      <p:transition>
        <p:cover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121173-7A93-3987-CBC5-973BA97CCE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等腰三角形 47">
            <a:extLst>
              <a:ext uri="{FF2B5EF4-FFF2-40B4-BE49-F238E27FC236}">
                <a16:creationId xmlns:a16="http://schemas.microsoft.com/office/drawing/2014/main" id="{D0D72CB2-03E1-64A8-D6A8-C829779A6549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-53049" y="209721"/>
            <a:ext cx="774879" cy="668780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lIns="121917" tIns="60959" rIns="121917" bIns="60959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zh-CN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微软雅黑" panose="020B0503020204020204" pitchFamily="34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83B70FF3-22C1-3BF2-1B54-321DBFA36DB9}"/>
              </a:ext>
            </a:extLst>
          </p:cNvPr>
          <p:cNvSpPr/>
          <p:nvPr/>
        </p:nvSpPr>
        <p:spPr>
          <a:xfrm>
            <a:off x="668778" y="251723"/>
            <a:ext cx="5503421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3200" b="1" dirty="0">
                <a:ln w="0"/>
                <a:solidFill>
                  <a:srgbClr val="8C1515"/>
                </a:solidFill>
                <a:latin typeface="Arial"/>
                <a:ea typeface="微软雅黑"/>
              </a:rPr>
              <a:t>密集矩阵优化参数敏感度测试</a:t>
            </a:r>
            <a:endParaRPr kumimoji="0" lang="zh-CN" altLang="en-US" sz="3200" b="1" i="0" u="none" strike="noStrike" kern="1200" cap="none" spc="0" normalizeH="0" baseline="0" noProof="0" dirty="0">
              <a:ln w="0"/>
              <a:solidFill>
                <a:srgbClr val="8C1515"/>
              </a:solidFill>
              <a:uLnTx/>
              <a:uFillTx/>
              <a:latin typeface="Arial"/>
              <a:ea typeface="微软雅黑"/>
              <a:cs typeface="+mn-cs"/>
            </a:endParaRPr>
          </a:p>
        </p:txBody>
      </p:sp>
      <p:pic>
        <p:nvPicPr>
          <p:cNvPr id="5" name="图片 4" descr="图形用户界面, 表格&#10;&#10;AI 生成的内容可能不正确。">
            <a:extLst>
              <a:ext uri="{FF2B5EF4-FFF2-40B4-BE49-F238E27FC236}">
                <a16:creationId xmlns:a16="http://schemas.microsoft.com/office/drawing/2014/main" id="{318E0F07-ED8B-1368-4F4C-28C583E1CE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755" y="1657102"/>
            <a:ext cx="11212490" cy="35437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581866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cover/>
      </p:transition>
    </mc:Choice>
    <mc:Fallback>
      <p:transition>
        <p:cover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F03951-B348-E341-B95C-9092A89220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等腰三角形 47">
            <a:extLst>
              <a:ext uri="{FF2B5EF4-FFF2-40B4-BE49-F238E27FC236}">
                <a16:creationId xmlns:a16="http://schemas.microsoft.com/office/drawing/2014/main" id="{EDF02843-6F8E-47DA-BB67-5159AA704E01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-53049" y="209721"/>
            <a:ext cx="774879" cy="668780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lIns="121917" tIns="60959" rIns="121917" bIns="60959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zh-CN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微软雅黑" panose="020B0503020204020204" pitchFamily="34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A2C14DB4-19F2-91EC-CC60-E577B270BD96}"/>
              </a:ext>
            </a:extLst>
          </p:cNvPr>
          <p:cNvSpPr/>
          <p:nvPr/>
        </p:nvSpPr>
        <p:spPr>
          <a:xfrm>
            <a:off x="668778" y="251723"/>
            <a:ext cx="5160521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3200" b="1" dirty="0">
                <a:ln w="0"/>
                <a:solidFill>
                  <a:srgbClr val="8C1515"/>
                </a:solidFill>
                <a:latin typeface="Arial"/>
                <a:ea typeface="微软雅黑"/>
              </a:rPr>
              <a:t>稀疏矩阵稀疏度敏感度测试</a:t>
            </a:r>
            <a:endParaRPr kumimoji="0" lang="zh-CN" altLang="en-US" sz="3200" b="1" i="0" u="none" strike="noStrike" kern="1200" cap="none" spc="0" normalizeH="0" baseline="0" noProof="0" dirty="0">
              <a:ln w="0"/>
              <a:solidFill>
                <a:srgbClr val="8C1515"/>
              </a:solidFill>
              <a:uLnTx/>
              <a:uFillTx/>
              <a:latin typeface="Arial"/>
              <a:ea typeface="微软雅黑"/>
              <a:cs typeface="+mn-cs"/>
            </a:endParaRPr>
          </a:p>
        </p:txBody>
      </p:sp>
      <p:pic>
        <p:nvPicPr>
          <p:cNvPr id="5" name="图片 4" descr="表格&#10;&#10;AI 生成的内容可能不正确。">
            <a:extLst>
              <a:ext uri="{FF2B5EF4-FFF2-40B4-BE49-F238E27FC236}">
                <a16:creationId xmlns:a16="http://schemas.microsoft.com/office/drawing/2014/main" id="{93F1BC75-8559-8350-20F0-92B3948477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230" y="1873961"/>
            <a:ext cx="10905539" cy="31100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801175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cover/>
      </p:transition>
    </mc:Choice>
    <mc:Fallback>
      <p:transition>
        <p:cover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DA05FE-B404-2B8D-42DC-B794ED0089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等腰三角形 47">
            <a:extLst>
              <a:ext uri="{FF2B5EF4-FFF2-40B4-BE49-F238E27FC236}">
                <a16:creationId xmlns:a16="http://schemas.microsoft.com/office/drawing/2014/main" id="{69F8C5DA-A663-7E15-1965-869D0CA90D23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-53049" y="209721"/>
            <a:ext cx="774879" cy="668780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lIns="121917" tIns="60959" rIns="121917" bIns="60959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zh-CN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微软雅黑" panose="020B0503020204020204" pitchFamily="34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EC363CC2-EF4C-E2D5-D329-7228C7E6BCBE}"/>
              </a:ext>
            </a:extLst>
          </p:cNvPr>
          <p:cNvSpPr/>
          <p:nvPr/>
        </p:nvSpPr>
        <p:spPr>
          <a:xfrm>
            <a:off x="668779" y="251723"/>
            <a:ext cx="4387850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3200" b="1" dirty="0">
                <a:ln w="0"/>
                <a:solidFill>
                  <a:srgbClr val="8C1515"/>
                </a:solidFill>
                <a:latin typeface="Arial"/>
                <a:ea typeface="微软雅黑"/>
              </a:rPr>
              <a:t>矩阵扩展性测试</a:t>
            </a:r>
            <a:endParaRPr kumimoji="0" lang="zh-CN" altLang="en-US" sz="3200" b="1" i="0" u="none" strike="noStrike" kern="1200" cap="none" spc="0" normalizeH="0" baseline="0" noProof="0" dirty="0">
              <a:ln w="0"/>
              <a:solidFill>
                <a:srgbClr val="8C1515"/>
              </a:solidFill>
              <a:uLnTx/>
              <a:uFillTx/>
              <a:latin typeface="Arial"/>
              <a:ea typeface="微软雅黑"/>
              <a:cs typeface="+mn-cs"/>
            </a:endParaRPr>
          </a:p>
        </p:txBody>
      </p:sp>
      <p:pic>
        <p:nvPicPr>
          <p:cNvPr id="5" name="图片 4" descr="表格&#10;&#10;AI 生成的内容可能不正确。">
            <a:extLst>
              <a:ext uri="{FF2B5EF4-FFF2-40B4-BE49-F238E27FC236}">
                <a16:creationId xmlns:a16="http://schemas.microsoft.com/office/drawing/2014/main" id="{FE1EAA80-0C56-2B65-CA68-7C1A80807B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4067" y="931550"/>
            <a:ext cx="7863866" cy="54576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328277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cover/>
      </p:transition>
    </mc:Choice>
    <mc:Fallback>
      <p:transition>
        <p:cover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D32D9E-B37E-BEC8-DBAD-76E76A0700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等腰三角形 47">
            <a:extLst>
              <a:ext uri="{FF2B5EF4-FFF2-40B4-BE49-F238E27FC236}">
                <a16:creationId xmlns:a16="http://schemas.microsoft.com/office/drawing/2014/main" id="{321D84AB-6DB8-E4B5-206F-2FE4310498EB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-53049" y="209721"/>
            <a:ext cx="774879" cy="668780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lIns="121917" tIns="60959" rIns="121917" bIns="60959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zh-CN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微软雅黑" panose="020B0503020204020204" pitchFamily="34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2AC15B6A-1CDC-E673-E71C-B02A926C4EF5}"/>
              </a:ext>
            </a:extLst>
          </p:cNvPr>
          <p:cNvSpPr/>
          <p:nvPr/>
        </p:nvSpPr>
        <p:spPr>
          <a:xfrm>
            <a:off x="668779" y="251723"/>
            <a:ext cx="4387850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 w="0"/>
                <a:solidFill>
                  <a:srgbClr val="8C1515"/>
                </a:solidFill>
                <a:uLnTx/>
                <a:uFillTx/>
                <a:latin typeface="Arial"/>
                <a:ea typeface="微软雅黑"/>
                <a:cs typeface="+mn-cs"/>
              </a:rPr>
              <a:t>结果分析</a:t>
            </a:r>
          </a:p>
        </p:txBody>
      </p:sp>
      <p:pic>
        <p:nvPicPr>
          <p:cNvPr id="4" name="图片 3" descr="表格&#10;&#10;AI 生成的内容可能不正确。">
            <a:extLst>
              <a:ext uri="{FF2B5EF4-FFF2-40B4-BE49-F238E27FC236}">
                <a16:creationId xmlns:a16="http://schemas.microsoft.com/office/drawing/2014/main" id="{44843B81-65E9-469B-7A03-3510F1BB0A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3256" y="2343471"/>
            <a:ext cx="11585488" cy="2171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675432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cover/>
      </p:transition>
    </mc:Choice>
    <mc:Fallback>
      <p:transition>
        <p:cover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019732-2FB0-98D7-36DE-204054ED29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梯形 34">
            <a:extLst>
              <a:ext uri="{FF2B5EF4-FFF2-40B4-BE49-F238E27FC236}">
                <a16:creationId xmlns:a16="http://schemas.microsoft.com/office/drawing/2014/main" id="{EC98386F-8B7A-B62C-1192-1B7C349D0B9D}"/>
              </a:ext>
            </a:extLst>
          </p:cNvPr>
          <p:cNvSpPr/>
          <p:nvPr/>
        </p:nvSpPr>
        <p:spPr>
          <a:xfrm rot="16200000">
            <a:off x="7446198" y="-451317"/>
            <a:ext cx="2291737" cy="7199871"/>
          </a:xfrm>
          <a:prstGeom prst="trapezoid">
            <a:avLst>
              <a:gd name="adj" fmla="val 16935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7" name="梯形 36">
            <a:extLst>
              <a:ext uri="{FF2B5EF4-FFF2-40B4-BE49-F238E27FC236}">
                <a16:creationId xmlns:a16="http://schemas.microsoft.com/office/drawing/2014/main" id="{AF06B19A-35DE-5250-F0F9-ED5C75EBE6F6}"/>
              </a:ext>
            </a:extLst>
          </p:cNvPr>
          <p:cNvSpPr/>
          <p:nvPr/>
        </p:nvSpPr>
        <p:spPr>
          <a:xfrm rot="5400000">
            <a:off x="1331640" y="636804"/>
            <a:ext cx="2344067" cy="5007345"/>
          </a:xfrm>
          <a:prstGeom prst="trapezoid">
            <a:avLst>
              <a:gd name="adj" fmla="val 17865"/>
            </a:avLst>
          </a:prstGeom>
          <a:solidFill>
            <a:schemeClr val="bg1">
              <a:lumMod val="5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7" name="文本框 2">
            <a:extLst>
              <a:ext uri="{FF2B5EF4-FFF2-40B4-BE49-F238E27FC236}">
                <a16:creationId xmlns:a16="http://schemas.microsoft.com/office/drawing/2014/main" id="{4211A182-A103-B4B7-D9EB-571EAE2799F5}"/>
              </a:ext>
            </a:extLst>
          </p:cNvPr>
          <p:cNvSpPr txBox="1"/>
          <p:nvPr/>
        </p:nvSpPr>
        <p:spPr>
          <a:xfrm>
            <a:off x="3729079" y="2556165"/>
            <a:ext cx="1164101" cy="1200329"/>
          </a:xfrm>
          <a:prstGeom prst="rect">
            <a:avLst/>
          </a:prstGeom>
          <a:noFill/>
        </p:spPr>
        <p:txBody>
          <a:bodyPr wrap="none" lIns="91440" tIns="45720" rIns="91440" bIns="45720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65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Part</a:t>
            </a:r>
            <a:r>
              <a:rPr lang="en-US" altLang="zh-CN" sz="7200" b="1" dirty="0">
                <a:solidFill>
                  <a:prstClr val="white"/>
                </a:solidFill>
                <a:latin typeface="Arial" panose="020B0604020202020204"/>
                <a:ea typeface="微软雅黑" panose="020B0503020204020204" pitchFamily="34" charset="-122"/>
              </a:rPr>
              <a:t>5</a:t>
            </a:r>
            <a:endParaRPr kumimoji="0" lang="zh-CN" altLang="en-US" sz="7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8F8E51CF-2308-1310-6FB1-DE5D9B89EAB5}"/>
              </a:ext>
            </a:extLst>
          </p:cNvPr>
          <p:cNvSpPr/>
          <p:nvPr/>
        </p:nvSpPr>
        <p:spPr>
          <a:xfrm>
            <a:off x="5209537" y="2692405"/>
            <a:ext cx="2646878" cy="830997"/>
          </a:xfrm>
          <a:prstGeom prst="rect">
            <a:avLst/>
          </a:prstGeom>
        </p:spPr>
        <p:txBody>
          <a:bodyPr wrap="none" lIns="91440" tIns="45720" rIns="91440" bIns="4572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4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人员分工</a:t>
            </a:r>
          </a:p>
        </p:txBody>
      </p:sp>
      <p:sp>
        <p:nvSpPr>
          <p:cNvPr id="16" name="椭圆 15">
            <a:extLst>
              <a:ext uri="{FF2B5EF4-FFF2-40B4-BE49-F238E27FC236}">
                <a16:creationId xmlns:a16="http://schemas.microsoft.com/office/drawing/2014/main" id="{2E062F77-B33E-E191-306A-25FD2BD51866}"/>
              </a:ext>
            </a:extLst>
          </p:cNvPr>
          <p:cNvSpPr/>
          <p:nvPr/>
        </p:nvSpPr>
        <p:spPr>
          <a:xfrm>
            <a:off x="464768" y="1391626"/>
            <a:ext cx="3102819" cy="3102819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pic>
        <p:nvPicPr>
          <p:cNvPr id="18" name="图片 17">
            <a:extLst>
              <a:ext uri="{FF2B5EF4-FFF2-40B4-BE49-F238E27FC236}">
                <a16:creationId xmlns:a16="http://schemas.microsoft.com/office/drawing/2014/main" id="{899A829A-B8BD-4996-AB66-7966CD3253A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13184" y="1542950"/>
            <a:ext cx="2800169" cy="28001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452215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cover/>
      </p:transition>
    </mc:Choice>
    <mc:Fallback>
      <p:transition>
        <p:cover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F10A46-B44A-7E8F-264C-CA154CE143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3E7D3186-BBBE-95A4-15F7-4191FA09BCCF}"/>
              </a:ext>
            </a:extLst>
          </p:cNvPr>
          <p:cNvSpPr txBox="1"/>
          <p:nvPr/>
        </p:nvSpPr>
        <p:spPr>
          <a:xfrm>
            <a:off x="668781" y="251723"/>
            <a:ext cx="424611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 w="0"/>
                <a:solidFill>
                  <a:srgbClr val="8C1515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人员分工</a:t>
            </a:r>
          </a:p>
        </p:txBody>
      </p:sp>
      <p:sp>
        <p:nvSpPr>
          <p:cNvPr id="4" name="等腰三角形 47">
            <a:extLst>
              <a:ext uri="{FF2B5EF4-FFF2-40B4-BE49-F238E27FC236}">
                <a16:creationId xmlns:a16="http://schemas.microsoft.com/office/drawing/2014/main" id="{B64591A0-DF0F-18DD-73F6-E2103421A491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-53049" y="209721"/>
            <a:ext cx="774879" cy="668780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lIns="121917" tIns="60959" rIns="121917" bIns="60959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zh-CN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微软雅黑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33AE7B62-52D4-E8B8-B7FB-90019AA5FC13}"/>
              </a:ext>
            </a:extLst>
          </p:cNvPr>
          <p:cNvSpPr txBox="1"/>
          <p:nvPr/>
        </p:nvSpPr>
        <p:spPr>
          <a:xfrm>
            <a:off x="2588683" y="1248862"/>
            <a:ext cx="7014634" cy="46137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杨帆（组长）：</a:t>
            </a: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负责阿里云机器租赁以及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spark </a:t>
            </a:r>
            <a:r>
              <a:rPr lang="en-US" altLang="zh-CN" dirty="0" err="1"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hadoop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dirty="0" err="1"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systemDS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集群的搭建</a:t>
            </a:r>
            <a:endParaRPr lang="en-US" altLang="zh-CN" dirty="0">
              <a:latin typeface="华文中宋" panose="02010600040101010101" pitchFamily="2" charset="-122"/>
              <a:ea typeface="华文中宋" panose="0201060004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zh-CN" altLang="en-US" dirty="0">
              <a:latin typeface="华文中宋" panose="02010600040101010101" pitchFamily="2" charset="-122"/>
              <a:ea typeface="华文中宋" panose="0201060004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张仕浩：</a:t>
            </a: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负责稠密矩阵算法的设计和代码编写</a:t>
            </a:r>
            <a:endParaRPr lang="en-US" altLang="zh-CN" dirty="0">
              <a:latin typeface="华文中宋" panose="02010600040101010101" pitchFamily="2" charset="-122"/>
              <a:ea typeface="华文中宋" panose="0201060004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zh-CN" altLang="en-US" dirty="0">
              <a:latin typeface="华文中宋" panose="02010600040101010101" pitchFamily="2" charset="-122"/>
              <a:ea typeface="华文中宋" panose="0201060004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刘飞扬：</a:t>
            </a: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负责稀疏矩阵算法及补充实验的设计和代码编写</a:t>
            </a:r>
            <a:endParaRPr lang="en-US" altLang="zh-CN" dirty="0">
              <a:latin typeface="华文中宋" panose="02010600040101010101" pitchFamily="2" charset="-122"/>
              <a:ea typeface="华文中宋" panose="0201060004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zh-CN" altLang="en-US" dirty="0">
              <a:latin typeface="华文中宋" panose="02010600040101010101" pitchFamily="2" charset="-122"/>
              <a:ea typeface="华文中宋" panose="0201060004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盛子骜：</a:t>
            </a: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负责总结实验结果并撰写报告</a:t>
            </a:r>
          </a:p>
        </p:txBody>
      </p:sp>
    </p:spTree>
    <p:extLst>
      <p:ext uri="{BB962C8B-B14F-4D97-AF65-F5344CB8AC3E}">
        <p14:creationId xmlns:p14="http://schemas.microsoft.com/office/powerpoint/2010/main" val="340916683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cover/>
      </p:transition>
    </mc:Choice>
    <mc:Fallback>
      <p:transition>
        <p:cover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12357" y="0"/>
            <a:ext cx="12191999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pic>
        <p:nvPicPr>
          <p:cNvPr id="27" name="图片 2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836484" y="804439"/>
            <a:ext cx="4913220" cy="4913220"/>
          </a:xfrm>
          <a:prstGeom prst="rect">
            <a:avLst/>
          </a:prstGeom>
        </p:spPr>
      </p:pic>
      <p:cxnSp>
        <p:nvCxnSpPr>
          <p:cNvPr id="24" name="直接连接符 23"/>
          <p:cNvCxnSpPr/>
          <p:nvPr/>
        </p:nvCxnSpPr>
        <p:spPr>
          <a:xfrm flipH="1">
            <a:off x="2308405" y="4136885"/>
            <a:ext cx="670908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矩形 2"/>
          <p:cNvSpPr/>
          <p:nvPr/>
        </p:nvSpPr>
        <p:spPr>
          <a:xfrm>
            <a:off x="1769955" y="2789247"/>
            <a:ext cx="7785980" cy="1118319"/>
          </a:xfrm>
          <a:prstGeom prst="rect">
            <a:avLst/>
          </a:prstGeom>
        </p:spPr>
        <p:txBody>
          <a:bodyPr wrap="square" lIns="91440" tIns="45720" rIns="91440" bIns="4572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6665" b="1" i="0" u="none" strike="noStrike" kern="1200" cap="none" spc="0" normalizeH="0" baseline="0" noProof="0" dirty="0">
                <a:ln>
                  <a:noFill/>
                </a:ln>
                <a:solidFill>
                  <a:srgbClr val="8C1515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Q&amp;A</a:t>
            </a:r>
            <a:endParaRPr kumimoji="0" lang="zh-CN" altLang="en-US" sz="6665" b="1" i="1" u="none" strike="noStrike" kern="1200" cap="none" spc="0" normalizeH="0" baseline="0" noProof="0" dirty="0">
              <a:ln>
                <a:noFill/>
              </a:ln>
              <a:solidFill>
                <a:srgbClr val="8C1515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cover/>
      </p:transition>
    </mc:Choice>
    <mc:Fallback>
      <p:transition>
        <p:cover/>
      </p:transition>
    </mc:Fallback>
  </mc:AlternateContent>
</p:sld>
</file>

<file path=ppt/theme/theme1.xml><?xml version="1.0" encoding="utf-8"?>
<a:theme xmlns:a="http://schemas.openxmlformats.org/drawingml/2006/main" name="第一PPT，www.1ppt.com">
  <a:themeElements>
    <a:clrScheme name="自定义 2">
      <a:dk1>
        <a:srgbClr val="000000"/>
      </a:dk1>
      <a:lt1>
        <a:srgbClr val="FFFFFF"/>
      </a:lt1>
      <a:dk2>
        <a:srgbClr val="3F3F3F"/>
      </a:dk2>
      <a:lt2>
        <a:srgbClr val="E3DED1"/>
      </a:lt2>
      <a:accent1>
        <a:srgbClr val="8C1515"/>
      </a:accent1>
      <a:accent2>
        <a:srgbClr val="7F7F7F"/>
      </a:accent2>
      <a:accent3>
        <a:srgbClr val="414456"/>
      </a:accent3>
      <a:accent4>
        <a:srgbClr val="444455"/>
      </a:accent4>
      <a:accent5>
        <a:srgbClr val="444455"/>
      </a:accent5>
      <a:accent6>
        <a:srgbClr val="7F7F7F"/>
      </a:accent6>
      <a:hlink>
        <a:srgbClr val="002060"/>
      </a:hlink>
      <a:folHlink>
        <a:srgbClr val="B26B02"/>
      </a:folHlink>
    </a:clrScheme>
    <a:fontScheme name="自定义 1">
      <a:majorFont>
        <a:latin typeface="Arial Black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none" rtlCol="0">
        <a:spAutoFit/>
      </a:bodyPr>
      <a:lstStyle>
        <a:defPPr>
          <a:lnSpc>
            <a:spcPct val="130000"/>
          </a:lnSpc>
          <a:defRPr sz="1400" dirty="0" smtClean="0">
            <a:latin typeface="Arial" panose="020B0604020202020204" pitchFamily="34" charset="0"/>
            <a:ea typeface="微软雅黑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第一PPT，www.1ppt.com">
  <a:themeElements>
    <a:clrScheme name="自定义 2">
      <a:dk1>
        <a:srgbClr val="000000"/>
      </a:dk1>
      <a:lt1>
        <a:srgbClr val="FFFFFF"/>
      </a:lt1>
      <a:dk2>
        <a:srgbClr val="3F3F3F"/>
      </a:dk2>
      <a:lt2>
        <a:srgbClr val="E3DED1"/>
      </a:lt2>
      <a:accent1>
        <a:srgbClr val="8C1515"/>
      </a:accent1>
      <a:accent2>
        <a:srgbClr val="7F7F7F"/>
      </a:accent2>
      <a:accent3>
        <a:srgbClr val="414456"/>
      </a:accent3>
      <a:accent4>
        <a:srgbClr val="444455"/>
      </a:accent4>
      <a:accent5>
        <a:srgbClr val="444455"/>
      </a:accent5>
      <a:accent6>
        <a:srgbClr val="7F7F7F"/>
      </a:accent6>
      <a:hlink>
        <a:srgbClr val="002060"/>
      </a:hlink>
      <a:folHlink>
        <a:srgbClr val="B26B02"/>
      </a:folHlink>
    </a:clrScheme>
    <a:fontScheme name="自定义 1">
      <a:majorFont>
        <a:latin typeface="Arial Black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none" rtlCol="0">
        <a:spAutoFit/>
      </a:bodyPr>
      <a:lstStyle>
        <a:defPPr>
          <a:lnSpc>
            <a:spcPct val="130000"/>
          </a:lnSpc>
          <a:defRPr sz="1400" dirty="0" smtClean="0">
            <a:latin typeface="Arial" panose="020B0604020202020204" pitchFamily="34" charset="0"/>
            <a:ea typeface="微软雅黑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第一PPT，www.1ppt.com">
  <a:themeElements>
    <a:clrScheme name="自定义 2">
      <a:dk1>
        <a:srgbClr val="000000"/>
      </a:dk1>
      <a:lt1>
        <a:srgbClr val="FFFFFF"/>
      </a:lt1>
      <a:dk2>
        <a:srgbClr val="3F3F3F"/>
      </a:dk2>
      <a:lt2>
        <a:srgbClr val="E3DED1"/>
      </a:lt2>
      <a:accent1>
        <a:srgbClr val="8C1515"/>
      </a:accent1>
      <a:accent2>
        <a:srgbClr val="7F7F7F"/>
      </a:accent2>
      <a:accent3>
        <a:srgbClr val="414456"/>
      </a:accent3>
      <a:accent4>
        <a:srgbClr val="444455"/>
      </a:accent4>
      <a:accent5>
        <a:srgbClr val="444455"/>
      </a:accent5>
      <a:accent6>
        <a:srgbClr val="7F7F7F"/>
      </a:accent6>
      <a:hlink>
        <a:srgbClr val="002060"/>
      </a:hlink>
      <a:folHlink>
        <a:srgbClr val="B26B02"/>
      </a:folHlink>
    </a:clrScheme>
    <a:fontScheme name="自定义 1">
      <a:majorFont>
        <a:latin typeface="Arial Black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none" rtlCol="0">
        <a:spAutoFit/>
      </a:bodyPr>
      <a:lstStyle>
        <a:defPPr>
          <a:lnSpc>
            <a:spcPct val="130000"/>
          </a:lnSpc>
          <a:defRPr sz="1400" dirty="0" smtClean="0">
            <a:latin typeface="Arial" panose="020B0604020202020204" pitchFamily="34" charset="0"/>
            <a:ea typeface="微软雅黑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自定义 2">
    <a:dk1>
      <a:srgbClr val="000000"/>
    </a:dk1>
    <a:lt1>
      <a:srgbClr val="FFFFFF"/>
    </a:lt1>
    <a:dk2>
      <a:srgbClr val="3F3F3F"/>
    </a:dk2>
    <a:lt2>
      <a:srgbClr val="E3DED1"/>
    </a:lt2>
    <a:accent1>
      <a:srgbClr val="8C1515"/>
    </a:accent1>
    <a:accent2>
      <a:srgbClr val="7F7F7F"/>
    </a:accent2>
    <a:accent3>
      <a:srgbClr val="414456"/>
    </a:accent3>
    <a:accent4>
      <a:srgbClr val="444455"/>
    </a:accent4>
    <a:accent5>
      <a:srgbClr val="444455"/>
    </a:accent5>
    <a:accent6>
      <a:srgbClr val="7F7F7F"/>
    </a:accent6>
    <a:hlink>
      <a:srgbClr val="002060"/>
    </a:hlink>
    <a:folHlink>
      <a:srgbClr val="B26B02"/>
    </a:folHlink>
  </a:clrScheme>
</a:themeOverride>
</file>

<file path=ppt/theme/themeOverride2.xml><?xml version="1.0" encoding="utf-8"?>
<a:themeOverride xmlns:a="http://schemas.openxmlformats.org/drawingml/2006/main">
  <a:clrScheme name="自定义 2">
    <a:dk1>
      <a:srgbClr val="000000"/>
    </a:dk1>
    <a:lt1>
      <a:srgbClr val="FFFFFF"/>
    </a:lt1>
    <a:dk2>
      <a:srgbClr val="3F3F3F"/>
    </a:dk2>
    <a:lt2>
      <a:srgbClr val="E3DED1"/>
    </a:lt2>
    <a:accent1>
      <a:srgbClr val="8C1515"/>
    </a:accent1>
    <a:accent2>
      <a:srgbClr val="7F7F7F"/>
    </a:accent2>
    <a:accent3>
      <a:srgbClr val="414456"/>
    </a:accent3>
    <a:accent4>
      <a:srgbClr val="444455"/>
    </a:accent4>
    <a:accent5>
      <a:srgbClr val="444455"/>
    </a:accent5>
    <a:accent6>
      <a:srgbClr val="7F7F7F"/>
    </a:accent6>
    <a:hlink>
      <a:srgbClr val="002060"/>
    </a:hlink>
    <a:folHlink>
      <a:srgbClr val="B26B0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1646</TotalTime>
  <Words>619</Words>
  <Application>Microsoft Office PowerPoint</Application>
  <PresentationFormat>宽屏</PresentationFormat>
  <Paragraphs>144</Paragraphs>
  <Slides>22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22</vt:i4>
      </vt:variant>
    </vt:vector>
  </HeadingPairs>
  <TitlesOfParts>
    <vt:vector size="37" baseType="lpstr">
      <vt:lpstr>-apple-system</vt:lpstr>
      <vt:lpstr>等线</vt:lpstr>
      <vt:lpstr>方正粗雅宋简体</vt:lpstr>
      <vt:lpstr>华文行楷</vt:lpstr>
      <vt:lpstr>华文中宋</vt:lpstr>
      <vt:lpstr>微软雅黑</vt:lpstr>
      <vt:lpstr>幼圆</vt:lpstr>
      <vt:lpstr>Arial</vt:lpstr>
      <vt:lpstr>Arial Black</vt:lpstr>
      <vt:lpstr>Calibri</vt:lpstr>
      <vt:lpstr>Segoe UI Symbol</vt:lpstr>
      <vt:lpstr>Wingdings 2</vt:lpstr>
      <vt:lpstr>第一PPT，www.1ppt.com</vt:lpstr>
      <vt:lpstr>1_第一PPT，www.1ppt.com</vt:lpstr>
      <vt:lpstr>2_第一PPT，www.1ppt.com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ASUS</dc:creator>
  <cp:lastModifiedBy>2238674546@qq.com</cp:lastModifiedBy>
  <cp:revision>99</cp:revision>
  <dcterms:created xsi:type="dcterms:W3CDTF">2020-10-03T12:01:00Z</dcterms:created>
  <dcterms:modified xsi:type="dcterms:W3CDTF">2025-12-18T04:59:37Z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FC00083B59484FCEA60B549777A6EC78_13</vt:lpwstr>
  </property>
  <property fmtid="{D5CDD505-2E9C-101B-9397-08002B2CF9AE}" pid="3" name="KSOProductBuildVer">
    <vt:lpwstr>2052-12.1.0.21915</vt:lpwstr>
  </property>
</Properties>
</file>