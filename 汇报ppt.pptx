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2"/>
    <p:sldMasterId id="2147483661" r:id="rId3"/>
  </p:sldMasterIdLst>
  <p:notesMasterIdLst>
    <p:notesMasterId r:id="rId27"/>
  </p:notesMasterIdLst>
  <p:sldIdLst>
    <p:sldId id="539" r:id="rId4"/>
    <p:sldId id="487" r:id="rId5"/>
    <p:sldId id="488" r:id="rId6"/>
    <p:sldId id="489" r:id="rId7"/>
    <p:sldId id="1744" r:id="rId8"/>
    <p:sldId id="1749" r:id="rId9"/>
    <p:sldId id="490" r:id="rId10"/>
    <p:sldId id="491" r:id="rId11"/>
    <p:sldId id="537" r:id="rId12"/>
    <p:sldId id="1745" r:id="rId13"/>
    <p:sldId id="554" r:id="rId14"/>
    <p:sldId id="555" r:id="rId15"/>
    <p:sldId id="556" r:id="rId16"/>
    <p:sldId id="557" r:id="rId17"/>
    <p:sldId id="553" r:id="rId18"/>
    <p:sldId id="1741" r:id="rId19"/>
    <p:sldId id="1750" r:id="rId20"/>
    <p:sldId id="1751" r:id="rId21"/>
    <p:sldId id="1752" r:id="rId22"/>
    <p:sldId id="1746" r:id="rId23"/>
    <p:sldId id="1753" r:id="rId24"/>
    <p:sldId id="1754" r:id="rId25"/>
    <p:sldId id="552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BEA2D3E8-5105-4115-B743-87307FDCB181}">
          <p14:sldIdLst>
            <p14:sldId id="539"/>
            <p14:sldId id="487"/>
            <p14:sldId id="488"/>
            <p14:sldId id="489"/>
            <p14:sldId id="1744"/>
            <p14:sldId id="1749"/>
            <p14:sldId id="490"/>
            <p14:sldId id="491"/>
            <p14:sldId id="537"/>
            <p14:sldId id="1745"/>
            <p14:sldId id="554"/>
            <p14:sldId id="555"/>
            <p14:sldId id="556"/>
            <p14:sldId id="557"/>
            <p14:sldId id="553"/>
            <p14:sldId id="1741"/>
            <p14:sldId id="1750"/>
            <p14:sldId id="1751"/>
            <p14:sldId id="1752"/>
            <p14:sldId id="1746"/>
            <p14:sldId id="1753"/>
            <p14:sldId id="1754"/>
            <p14:sldId id="55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80" autoAdjust="0"/>
    <p:restoredTop sz="94635"/>
  </p:normalViewPr>
  <p:slideViewPr>
    <p:cSldViewPr snapToGrid="0">
      <p:cViewPr varScale="1">
        <p:scale>
          <a:sx n="150" d="100"/>
          <a:sy n="150" d="100"/>
        </p:scale>
        <p:origin x="30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D0533F-0FF2-42CD-B8D3-05896C0AD272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5F78A3-4BF6-4CEB-ACDA-04BCD451A55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712715C-60D8-4442-95C1-470452B8606C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1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712715C-60D8-4442-95C1-470452B8606C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2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712715C-60D8-4442-95C1-470452B8606C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3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712715C-60D8-4442-95C1-470452B8606C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4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6A87D-91CB-CE9F-4525-8A9E4A5DE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ED0FE7C-9D4E-8601-C035-1569A596D5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CD9D05-E074-45E4-8EBF-2BFCFAEE8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2DCFE0-1AB8-D4B7-8F29-0E4014EA58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712715C-60D8-4442-95C1-470452B8606C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5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39520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712715C-60D8-4442-95C1-470452B8606C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9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5F78A3-4BF6-4CEB-ACDA-04BCD451A55B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35511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12715C-60D8-4442-95C1-470452B8606C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pPr marL="0" marR="0" lvl="0" indent="0" algn="r" defTabSz="3429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75F78A3-4BF6-4CEB-ACDA-04BCD451A55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52724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75F78A3-4BF6-4CEB-ACDA-04BCD451A55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6294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2B81F-3637-137F-05A1-81115B3B6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736F5B9-7733-ABAF-AD69-E98618DBA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AEB349-DD70-00B1-85C3-2ADA3B605A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3FDCCED-4D36-7DDF-C073-319DF3D391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12715C-60D8-4442-95C1-470452B8606C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pPr marL="0" marR="0" lvl="0" indent="0" algn="r" defTabSz="3429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41406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A071D-4063-924D-56B8-251A708F4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75CB7C-6261-CBB0-FA56-B45BC9F33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415DB6D-CCF5-A036-4DAE-0C9E73E006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4F736C-22D0-9D28-69A7-27914C9B0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75F78A3-4BF6-4CEB-ACDA-04BCD451A55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11302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12715C-60D8-4442-95C1-470452B8606C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pPr marL="0" marR="0" lvl="0" indent="0" algn="r" defTabSz="3429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162" y="127470"/>
            <a:ext cx="2539398" cy="681826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88326" y="6471881"/>
            <a:ext cx="1783442" cy="3042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162" y="127470"/>
            <a:ext cx="2539398" cy="681826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88326" y="6471881"/>
            <a:ext cx="1783442" cy="3042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10330283" y="6529705"/>
            <a:ext cx="1033515" cy="2968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www.1ppt.com/moban/     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行业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www.1ppt.com/hangye/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节日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www.1ppt.com/jieri/     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素材下载：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www.1ppt.com/sucai/</a:t>
            </a:r>
          </a:p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背景图片：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www.1ppt.com/beijing/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图表下载：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www.1ppt.com/tubiao/    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优秀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www.1ppt.com/xiazai/  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www.1ppt.com/powerpoint/      </a:t>
            </a:r>
          </a:p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Word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www.1ppt.com/word/              Excel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www.1ppt.com/excel/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资料下载：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www.1ppt.com/ziliao/          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课件下载：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www.1ppt.com/kejian/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范文下载：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www.1ppt.com/fanwen/             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试卷下载：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www.1ppt.com/shiti/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教案下载：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www.1ppt.com/jiaoan/      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字体下载：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www.1ppt.com/ziti/</a:t>
            </a:r>
          </a:p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 </a:t>
            </a:r>
            <a:endParaRPr lang="zh-CN" altLang="en-US" sz="135" dirty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1B521-2E2E-41B2-9433-69364D5DDA0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282D0-AAD4-45D4-BBB1-9C369370A4D1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552" y="132712"/>
            <a:ext cx="2151456" cy="577664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/>
        </p:nvSpPr>
        <p:spPr>
          <a:xfrm>
            <a:off x="25033" y="6425619"/>
            <a:ext cx="22767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>
                <a:solidFill>
                  <a:schemeClr val="accent3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求实创造，为人师表</a:t>
            </a:r>
            <a:endParaRPr lang="zh-CN" altLang="en-US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162" y="127470"/>
            <a:ext cx="2539398" cy="681826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88326" y="6471881"/>
            <a:ext cx="1783442" cy="304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941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162" y="127470"/>
            <a:ext cx="2539398" cy="681826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88326" y="6471881"/>
            <a:ext cx="1783442" cy="304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245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10330283" y="6529705"/>
            <a:ext cx="1033515" cy="2968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www.1ppt.com/moban/     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行业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www.1ppt.com/hangye/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节日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www.1ppt.com/jieri/     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素材下载：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www.1ppt.com/sucai/</a:t>
            </a:r>
          </a:p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背景图片：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www.1ppt.com/beijing/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图表下载：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www.1ppt.com/tubiao/    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优秀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www.1ppt.com/xiazai/  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www.1ppt.com/powerpoint/      </a:t>
            </a:r>
          </a:p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Word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www.1ppt.com/word/              Excel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www.1ppt.com/excel/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资料下载：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www.1ppt.com/ziliao/          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课件下载：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www.1ppt.com/kejian/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范文下载：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www.1ppt.com/fanwen/             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试卷下载：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www.1ppt.com/shiti/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教案下载：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www.1ppt.com/jiaoan/      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字体下载：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www.1ppt.com/ziti/</a:t>
            </a:r>
          </a:p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 </a:t>
            </a:r>
            <a:endParaRPr lang="zh-CN" altLang="en-US" sz="135" dirty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0802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5428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1B521-2E2E-41B2-9433-69364D5DDA0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282D0-AAD4-45D4-BBB1-9C369370A4D1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552" y="132712"/>
            <a:ext cx="2151456" cy="577664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/>
        </p:nvSpPr>
        <p:spPr>
          <a:xfrm>
            <a:off x="25033" y="6425619"/>
            <a:ext cx="22767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>
                <a:solidFill>
                  <a:schemeClr val="accent3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求实创造，为人师表</a:t>
            </a:r>
            <a:endParaRPr lang="zh-CN" alt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428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162" y="127470"/>
            <a:ext cx="2539398" cy="681826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88326" y="6471881"/>
            <a:ext cx="1783442" cy="304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14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>
                <a:solidFill>
                  <a:schemeClr val="tx1">
                    <a:lumMod val="65000"/>
                    <a:lumOff val="35000"/>
                  </a:schemeClr>
                </a:solidFill>
              </a:rPr>
              <a:t>‹#›</a:t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162" y="127470"/>
            <a:ext cx="2539398" cy="681826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88326" y="6471881"/>
            <a:ext cx="1783442" cy="304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442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10330283" y="6529705"/>
            <a:ext cx="1033515" cy="2968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www.1ppt.com/moban/     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行业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www.1ppt.com/hangye/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节日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www.1ppt.com/jieri/     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素材下载：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www.1ppt.com/sucai/</a:t>
            </a:r>
          </a:p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背景图片：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www.1ppt.com/beijing/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图表下载：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www.1ppt.com/tubiao/    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优秀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www.1ppt.com/xiazai/  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www.1ppt.com/powerpoint/      </a:t>
            </a:r>
          </a:p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Word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www.1ppt.com/word/              Excel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www.1ppt.com/excel/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资料下载：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www.1ppt.com/ziliao/                PPT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课件下载：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www.1ppt.com/kejian/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范文下载：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www.1ppt.com/fanwen/             </a:t>
            </a:r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试卷下载：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www.1ppt.com/shiti/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教案下载：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www.1ppt.com/jiaoan/        </a:t>
            </a:r>
          </a:p>
          <a:p>
            <a:pPr defTabSz="1219200"/>
            <a:r>
              <a:rPr lang="zh-CN" altLang="en-US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字体下载：</a:t>
            </a:r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www.1ppt.com/ziti/</a:t>
            </a:r>
          </a:p>
          <a:p>
            <a:pPr defTabSz="1219200"/>
            <a:r>
              <a:rPr lang="en-US" altLang="zh-CN" sz="135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 </a:t>
            </a:r>
            <a:endParaRPr lang="zh-CN" altLang="en-US" sz="135" dirty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55837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648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1B521-2E2E-41B2-9433-69364D5DDA0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282D0-AAD4-45D4-BBB1-9C369370A4D1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552" y="132712"/>
            <a:ext cx="2151456" cy="577664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/>
        </p:nvSpPr>
        <p:spPr>
          <a:xfrm>
            <a:off x="25033" y="6425619"/>
            <a:ext cx="22767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>
                <a:solidFill>
                  <a:schemeClr val="accent3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求实创造，为人师表</a:t>
            </a:r>
            <a:endParaRPr lang="zh-CN" alt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5802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3CFC9-8363-4487-A32C-B1BEBA8F1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208" y="202011"/>
            <a:ext cx="8655953" cy="601075"/>
          </a:xfrm>
          <a:prstGeom prst="rect">
            <a:avLst/>
          </a:prstGeom>
        </p:spPr>
        <p:txBody>
          <a:bodyPr lIns="0" rIns="0" anchor="ctr">
            <a:normAutofit/>
          </a:bodyPr>
          <a:lstStyle>
            <a:lvl1pPr>
              <a:defRPr sz="2800" b="1">
                <a:latin typeface="方正粗雅宋简体" panose="02000000000000000000" pitchFamily="2" charset="-122"/>
                <a:ea typeface="方正粗雅宋简体" panose="02000000000000000000" pitchFamily="2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6921952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726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6870" indent="-356870" algn="just" defTabSz="914400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6870" indent="-356870" algn="just" defTabSz="914400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7283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</p:sldLayoutIdLst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6870" indent="-356870" algn="just" defTabSz="914400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6870" indent="-356870" algn="just" defTabSz="914400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7951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</p:sldLayoutIdLst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6870" indent="-356870" algn="just" defTabSz="914400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6870" indent="-356870" algn="just" defTabSz="914400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165463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68623" y="972390"/>
            <a:ext cx="4913220" cy="4913220"/>
          </a:xfrm>
          <a:prstGeom prst="rect">
            <a:avLst/>
          </a:prstGeom>
        </p:spPr>
      </p:pic>
      <p:sp>
        <p:nvSpPr>
          <p:cNvPr id="22" name="矩形 21"/>
          <p:cNvSpPr/>
          <p:nvPr/>
        </p:nvSpPr>
        <p:spPr>
          <a:xfrm>
            <a:off x="1696872" y="4998612"/>
            <a:ext cx="3999813" cy="830997"/>
          </a:xfrm>
          <a:prstGeom prst="rect">
            <a:avLst/>
          </a:prstGeom>
        </p:spPr>
        <p:txBody>
          <a:bodyPr wrap="none" lIns="91440" tIns="45720" rIns="91440" b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组号</a:t>
            </a:r>
            <a:r>
              <a:rPr kumimoji="1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r>
              <a:rPr kumimoji="1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13</a:t>
            </a:r>
            <a:endParaRPr kumimoji="1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0" defTabSz="457200">
              <a:defRPr/>
            </a:pPr>
            <a:r>
              <a:rPr kumimoji="1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成员：</a:t>
            </a:r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杨帆（组长）张仕浩 刘飞扬 盛子骜</a:t>
            </a:r>
            <a:endParaRPr kumimoji="1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/>
        </p:nvCxnSpPr>
        <p:spPr>
          <a:xfrm flipH="1">
            <a:off x="1714978" y="4754066"/>
            <a:ext cx="6709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6872" y="1026208"/>
            <a:ext cx="4851093" cy="1302514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411C294E-5111-CB2F-5C55-F36DF46362FC}"/>
              </a:ext>
            </a:extLst>
          </p:cNvPr>
          <p:cNvSpPr/>
          <p:nvPr/>
        </p:nvSpPr>
        <p:spPr>
          <a:xfrm>
            <a:off x="1697438" y="2216630"/>
            <a:ext cx="7571303" cy="3279424"/>
          </a:xfrm>
          <a:prstGeom prst="rect">
            <a:avLst/>
          </a:prstGeom>
        </p:spPr>
        <p:txBody>
          <a:bodyPr wrap="none" lIns="91440" tIns="45720" rIns="91440" bIns="4572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defTabSz="457200">
              <a:lnSpc>
                <a:spcPct val="150000"/>
              </a:lnSpc>
              <a:defRPr/>
            </a:pPr>
            <a:r>
              <a:rPr lang="en-US" altLang="zh-CN" sz="4800" b="1" i="0" dirty="0">
                <a:solidFill>
                  <a:srgbClr val="1F2328"/>
                </a:solidFill>
                <a:effectLst/>
                <a:latin typeface="-apple-system"/>
              </a:rPr>
              <a:t>I.</a:t>
            </a:r>
            <a:r>
              <a:rPr lang="zh-CN" altLang="en-US" sz="4800" b="1" i="0" dirty="0">
                <a:solidFill>
                  <a:srgbClr val="1F2328"/>
                </a:solidFill>
                <a:effectLst/>
                <a:latin typeface="-apple-system"/>
              </a:rPr>
              <a:t>基于</a:t>
            </a:r>
            <a:r>
              <a:rPr lang="en-US" altLang="zh-CN" sz="4800" b="1" i="0" dirty="0">
                <a:solidFill>
                  <a:srgbClr val="1F2328"/>
                </a:solidFill>
                <a:effectLst/>
                <a:latin typeface="-apple-system"/>
              </a:rPr>
              <a:t>Spark</a:t>
            </a:r>
            <a:r>
              <a:rPr lang="zh-CN" altLang="en-US" sz="4800" b="1" i="0" dirty="0">
                <a:solidFill>
                  <a:srgbClr val="1F2328"/>
                </a:solidFill>
                <a:effectLst/>
                <a:latin typeface="-apple-system"/>
              </a:rPr>
              <a:t>的</a:t>
            </a:r>
            <a:endParaRPr lang="en-US" altLang="zh-CN" sz="4800" b="1" i="0" dirty="0">
              <a:solidFill>
                <a:srgbClr val="1F2328"/>
              </a:solidFill>
              <a:effectLst/>
              <a:latin typeface="-apple-system"/>
            </a:endParaRPr>
          </a:p>
          <a:p>
            <a:pPr lvl="0" defTabSz="457200">
              <a:lnSpc>
                <a:spcPct val="150000"/>
              </a:lnSpc>
              <a:defRPr/>
            </a:pPr>
            <a:r>
              <a:rPr lang="zh-CN" altLang="en-US" sz="4800" b="1" i="0" dirty="0">
                <a:solidFill>
                  <a:srgbClr val="1F2328"/>
                </a:solidFill>
                <a:effectLst/>
                <a:latin typeface="-apple-system"/>
              </a:rPr>
              <a:t>分布式矩阵乘法实现与优化</a:t>
            </a:r>
            <a:endParaRPr lang="zh-CN" altLang="en-US" sz="4800" b="1" dirty="0">
              <a:latin typeface="Arial" panose="020B0604020202020204"/>
              <a:ea typeface="微软雅黑" panose="020B0503020204020204" pitchFamily="34" charset="-122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1164188" y="622441"/>
            <a:ext cx="1528413" cy="1528413"/>
            <a:chOff x="1602769" y="143838"/>
            <a:chExt cx="1331936" cy="1331936"/>
          </a:xfrm>
        </p:grpSpPr>
        <p:sp>
          <p:nvSpPr>
            <p:cNvPr id="4" name="椭圆 3"/>
            <p:cNvSpPr/>
            <p:nvPr/>
          </p:nvSpPr>
          <p:spPr>
            <a:xfrm>
              <a:off x="1602769" y="143838"/>
              <a:ext cx="1331936" cy="1331936"/>
            </a:xfrm>
            <a:prstGeom prst="ellipse">
              <a:avLst/>
            </a:prstGeom>
            <a:ln w="1651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65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1679041" y="396413"/>
              <a:ext cx="1189310" cy="5632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36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目录</a:t>
              </a:r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1638153" y="937949"/>
              <a:ext cx="1263808" cy="27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65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CONTENTS</a:t>
              </a:r>
              <a:endParaRPr kumimoji="0" lang="zh-CN" altLang="en-US" sz="146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Freeform 5"/>
          <p:cNvSpPr/>
          <p:nvPr/>
        </p:nvSpPr>
        <p:spPr bwMode="auto">
          <a:xfrm>
            <a:off x="3177" y="3017035"/>
            <a:ext cx="12188825" cy="1446568"/>
          </a:xfrm>
          <a:custGeom>
            <a:avLst/>
            <a:gdLst>
              <a:gd name="T0" fmla="*/ 0 w 2601"/>
              <a:gd name="T1" fmla="*/ 139 h 306"/>
              <a:gd name="T2" fmla="*/ 647 w 2601"/>
              <a:gd name="T3" fmla="*/ 304 h 306"/>
              <a:gd name="T4" fmla="*/ 1863 w 2601"/>
              <a:gd name="T5" fmla="*/ 11 h 306"/>
              <a:gd name="T6" fmla="*/ 2601 w 2601"/>
              <a:gd name="T7" fmla="*/ 259 h 3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601" h="306">
                <a:moveTo>
                  <a:pt x="0" y="139"/>
                </a:moveTo>
                <a:cubicBezTo>
                  <a:pt x="0" y="139"/>
                  <a:pt x="179" y="301"/>
                  <a:pt x="647" y="304"/>
                </a:cubicBezTo>
                <a:cubicBezTo>
                  <a:pt x="1090" y="306"/>
                  <a:pt x="1474" y="0"/>
                  <a:pt x="1863" y="11"/>
                </a:cubicBezTo>
                <a:cubicBezTo>
                  <a:pt x="2253" y="21"/>
                  <a:pt x="2601" y="259"/>
                  <a:pt x="2601" y="259"/>
                </a:cubicBezTo>
              </a:path>
            </a:pathLst>
          </a:custGeom>
          <a:noFill/>
          <a:ln w="22225" cap="flat">
            <a:solidFill>
              <a:schemeClr val="accent1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6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30"/>
          <p:cNvSpPr>
            <a:spLocks noChangeArrowheads="1"/>
          </p:cNvSpPr>
          <p:nvPr/>
        </p:nvSpPr>
        <p:spPr bwMode="auto">
          <a:xfrm>
            <a:off x="877078" y="4906844"/>
            <a:ext cx="1424688" cy="4308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sz="2000" b="1" dirty="0">
                <a:solidFill>
                  <a:schemeClr val="accent1"/>
                </a:solidFill>
                <a:sym typeface="微软雅黑" panose="020B0503020204020204" pitchFamily="34" charset="-122"/>
              </a:rPr>
              <a:t>课题简介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45" name="矩形 68"/>
          <p:cNvSpPr>
            <a:spLocks noChangeArrowheads="1"/>
          </p:cNvSpPr>
          <p:nvPr/>
        </p:nvSpPr>
        <p:spPr bwMode="auto">
          <a:xfrm>
            <a:off x="6950656" y="2037620"/>
            <a:ext cx="2092243" cy="4308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  <a:t>结果与分析</a:t>
            </a:r>
          </a:p>
        </p:txBody>
      </p:sp>
      <p:sp>
        <p:nvSpPr>
          <p:cNvPr id="46" name="矩形 64"/>
          <p:cNvSpPr>
            <a:spLocks noChangeArrowheads="1"/>
          </p:cNvSpPr>
          <p:nvPr/>
        </p:nvSpPr>
        <p:spPr bwMode="auto">
          <a:xfrm>
            <a:off x="2692604" y="3153440"/>
            <a:ext cx="2068801" cy="4308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sz="2000" b="1" dirty="0">
                <a:solidFill>
                  <a:schemeClr val="accent1"/>
                </a:solidFill>
                <a:sym typeface="微软雅黑" panose="020B0503020204020204" pitchFamily="34" charset="-122"/>
              </a:rPr>
              <a:t>实验环境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grpSp>
        <p:nvGrpSpPr>
          <p:cNvPr id="48" name="组合 47"/>
          <p:cNvGrpSpPr/>
          <p:nvPr/>
        </p:nvGrpSpPr>
        <p:grpSpPr>
          <a:xfrm>
            <a:off x="1088011" y="3675719"/>
            <a:ext cx="999564" cy="1001764"/>
            <a:chOff x="3437020" y="1033173"/>
            <a:chExt cx="863676" cy="865577"/>
          </a:xfrm>
        </p:grpSpPr>
        <p:sp>
          <p:nvSpPr>
            <p:cNvPr id="49" name="椭圆 18"/>
            <p:cNvSpPr>
              <a:spLocks noChangeArrowheads="1"/>
            </p:cNvSpPr>
            <p:nvPr/>
          </p:nvSpPr>
          <p:spPr bwMode="auto">
            <a:xfrm>
              <a:off x="3437020" y="1033173"/>
              <a:ext cx="863676" cy="865577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pic>
          <p:nvPicPr>
            <p:cNvPr id="50" name="图片 49"/>
            <p:cNvPicPr>
              <a:picLocks noChangeAspect="1"/>
            </p:cNvPicPr>
            <p:nvPr/>
          </p:nvPicPr>
          <p:blipFill>
            <a:blip r:embed="rId4" cstate="screen">
              <a:biLevel thresh="25000"/>
            </a:blip>
            <a:stretch>
              <a:fillRect/>
            </a:stretch>
          </p:blipFill>
          <p:spPr>
            <a:xfrm>
              <a:off x="3587275" y="1169757"/>
              <a:ext cx="552644" cy="566109"/>
            </a:xfrm>
            <a:prstGeom prst="rect">
              <a:avLst/>
            </a:prstGeom>
          </p:spPr>
        </p:pic>
      </p:grpSp>
      <p:sp>
        <p:nvSpPr>
          <p:cNvPr id="51" name="矩形 68"/>
          <p:cNvSpPr>
            <a:spLocks noChangeArrowheads="1"/>
          </p:cNvSpPr>
          <p:nvPr/>
        </p:nvSpPr>
        <p:spPr bwMode="auto">
          <a:xfrm>
            <a:off x="9040449" y="4141043"/>
            <a:ext cx="2651547" cy="4308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en-US" altLang="zh-CN" sz="2000" b="1" dirty="0">
                <a:solidFill>
                  <a:schemeClr val="accent1"/>
                </a:solidFill>
                <a:sym typeface="微软雅黑" panose="020B0503020204020204" pitchFamily="34" charset="-122"/>
              </a:rPr>
              <a:t>Q&amp;A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grpSp>
        <p:nvGrpSpPr>
          <p:cNvPr id="52" name="组合 51"/>
          <p:cNvGrpSpPr/>
          <p:nvPr/>
        </p:nvGrpSpPr>
        <p:grpSpPr>
          <a:xfrm>
            <a:off x="3240691" y="3843014"/>
            <a:ext cx="999564" cy="1001764"/>
            <a:chOff x="3437020" y="2074814"/>
            <a:chExt cx="863676" cy="865577"/>
          </a:xfrm>
        </p:grpSpPr>
        <p:sp>
          <p:nvSpPr>
            <p:cNvPr id="53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pic>
          <p:nvPicPr>
            <p:cNvPr id="54" name="图片 53"/>
            <p:cNvPicPr>
              <a:picLocks noChangeAspect="1"/>
            </p:cNvPicPr>
            <p:nvPr/>
          </p:nvPicPr>
          <p:blipFill>
            <a:blip r:embed="rId5" cstate="screen">
              <a:biLevel thresh="25000"/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grpSp>
        <p:nvGrpSpPr>
          <p:cNvPr id="55" name="组合 54"/>
          <p:cNvGrpSpPr/>
          <p:nvPr/>
        </p:nvGrpSpPr>
        <p:grpSpPr>
          <a:xfrm>
            <a:off x="5316873" y="3137515"/>
            <a:ext cx="999564" cy="999925"/>
            <a:chOff x="3437020" y="3157655"/>
            <a:chExt cx="863676" cy="863988"/>
          </a:xfrm>
        </p:grpSpPr>
        <p:sp>
          <p:nvSpPr>
            <p:cNvPr id="56" name="椭圆 20"/>
            <p:cNvSpPr>
              <a:spLocks noChangeArrowheads="1"/>
            </p:cNvSpPr>
            <p:nvPr/>
          </p:nvSpPr>
          <p:spPr bwMode="auto">
            <a:xfrm>
              <a:off x="3437020" y="3157655"/>
              <a:ext cx="863676" cy="863988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grpSp>
          <p:nvGrpSpPr>
            <p:cNvPr id="57" name="组合 56"/>
            <p:cNvGrpSpPr/>
            <p:nvPr/>
          </p:nvGrpSpPr>
          <p:grpSpPr>
            <a:xfrm>
              <a:off x="3603965" y="3301680"/>
              <a:ext cx="519264" cy="531742"/>
              <a:chOff x="9901114" y="2870043"/>
              <a:chExt cx="1094967" cy="1121279"/>
            </a:xfrm>
          </p:grpSpPr>
          <p:sp>
            <p:nvSpPr>
              <p:cNvPr id="58" name="Freeform 5"/>
              <p:cNvSpPr/>
              <p:nvPr/>
            </p:nvSpPr>
            <p:spPr bwMode="auto">
              <a:xfrm>
                <a:off x="10585467" y="2870043"/>
                <a:ext cx="234963" cy="800500"/>
              </a:xfrm>
              <a:custGeom>
                <a:avLst/>
                <a:gdLst>
                  <a:gd name="T0" fmla="*/ 2 w 43"/>
                  <a:gd name="T1" fmla="*/ 115 h 115"/>
                  <a:gd name="T2" fmla="*/ 3 w 43"/>
                  <a:gd name="T3" fmla="*/ 115 h 115"/>
                  <a:gd name="T4" fmla="*/ 3 w 43"/>
                  <a:gd name="T5" fmla="*/ 115 h 115"/>
                  <a:gd name="T6" fmla="*/ 3 w 43"/>
                  <a:gd name="T7" fmla="*/ 115 h 115"/>
                  <a:gd name="T8" fmla="*/ 4 w 43"/>
                  <a:gd name="T9" fmla="*/ 115 h 115"/>
                  <a:gd name="T10" fmla="*/ 4 w 43"/>
                  <a:gd name="T11" fmla="*/ 115 h 115"/>
                  <a:gd name="T12" fmla="*/ 5 w 43"/>
                  <a:gd name="T13" fmla="*/ 114 h 115"/>
                  <a:gd name="T14" fmla="*/ 22 w 43"/>
                  <a:gd name="T15" fmla="*/ 98 h 115"/>
                  <a:gd name="T16" fmla="*/ 38 w 43"/>
                  <a:gd name="T17" fmla="*/ 114 h 115"/>
                  <a:gd name="T18" fmla="*/ 39 w 43"/>
                  <a:gd name="T19" fmla="*/ 115 h 115"/>
                  <a:gd name="T20" fmla="*/ 39 w 43"/>
                  <a:gd name="T21" fmla="*/ 115 h 115"/>
                  <a:gd name="T22" fmla="*/ 40 w 43"/>
                  <a:gd name="T23" fmla="*/ 115 h 115"/>
                  <a:gd name="T24" fmla="*/ 40 w 43"/>
                  <a:gd name="T25" fmla="*/ 115 h 115"/>
                  <a:gd name="T26" fmla="*/ 40 w 43"/>
                  <a:gd name="T27" fmla="*/ 115 h 115"/>
                  <a:gd name="T28" fmla="*/ 41 w 43"/>
                  <a:gd name="T29" fmla="*/ 115 h 115"/>
                  <a:gd name="T30" fmla="*/ 42 w 43"/>
                  <a:gd name="T31" fmla="*/ 114 h 115"/>
                  <a:gd name="T32" fmla="*/ 43 w 43"/>
                  <a:gd name="T33" fmla="*/ 112 h 115"/>
                  <a:gd name="T34" fmla="*/ 43 w 43"/>
                  <a:gd name="T35" fmla="*/ 27 h 115"/>
                  <a:gd name="T36" fmla="*/ 43 w 43"/>
                  <a:gd name="T37" fmla="*/ 13 h 115"/>
                  <a:gd name="T38" fmla="*/ 43 w 43"/>
                  <a:gd name="T39" fmla="*/ 3 h 115"/>
                  <a:gd name="T40" fmla="*/ 42 w 43"/>
                  <a:gd name="T41" fmla="*/ 1 h 115"/>
                  <a:gd name="T42" fmla="*/ 40 w 43"/>
                  <a:gd name="T43" fmla="*/ 0 h 115"/>
                  <a:gd name="T44" fmla="*/ 3 w 43"/>
                  <a:gd name="T45" fmla="*/ 0 h 115"/>
                  <a:gd name="T46" fmla="*/ 3 w 43"/>
                  <a:gd name="T47" fmla="*/ 0 h 115"/>
                  <a:gd name="T48" fmla="*/ 2 w 43"/>
                  <a:gd name="T49" fmla="*/ 1 h 115"/>
                  <a:gd name="T50" fmla="*/ 2 w 43"/>
                  <a:gd name="T51" fmla="*/ 1 h 115"/>
                  <a:gd name="T52" fmla="*/ 0 w 43"/>
                  <a:gd name="T53" fmla="*/ 3 h 115"/>
                  <a:gd name="T54" fmla="*/ 0 w 43"/>
                  <a:gd name="T55" fmla="*/ 13 h 115"/>
                  <a:gd name="T56" fmla="*/ 0 w 43"/>
                  <a:gd name="T57" fmla="*/ 27 h 115"/>
                  <a:gd name="T58" fmla="*/ 0 w 43"/>
                  <a:gd name="T59" fmla="*/ 112 h 115"/>
                  <a:gd name="T60" fmla="*/ 2 w 43"/>
                  <a:gd name="T61" fmla="*/ 115 h 1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43" h="115">
                    <a:moveTo>
                      <a:pt x="2" y="115"/>
                    </a:moveTo>
                    <a:cubicBezTo>
                      <a:pt x="2" y="115"/>
                      <a:pt x="2" y="115"/>
                      <a:pt x="3" y="115"/>
                    </a:cubicBezTo>
                    <a:cubicBezTo>
                      <a:pt x="3" y="115"/>
                      <a:pt x="3" y="115"/>
                      <a:pt x="3" y="115"/>
                    </a:cubicBezTo>
                    <a:cubicBezTo>
                      <a:pt x="3" y="115"/>
                      <a:pt x="3" y="115"/>
                      <a:pt x="3" y="115"/>
                    </a:cubicBezTo>
                    <a:cubicBezTo>
                      <a:pt x="3" y="115"/>
                      <a:pt x="4" y="115"/>
                      <a:pt x="4" y="115"/>
                    </a:cubicBezTo>
                    <a:cubicBezTo>
                      <a:pt x="4" y="115"/>
                      <a:pt x="4" y="115"/>
                      <a:pt x="4" y="115"/>
                    </a:cubicBezTo>
                    <a:cubicBezTo>
                      <a:pt x="4" y="115"/>
                      <a:pt x="5" y="114"/>
                      <a:pt x="5" y="114"/>
                    </a:cubicBezTo>
                    <a:cubicBezTo>
                      <a:pt x="22" y="98"/>
                      <a:pt x="22" y="98"/>
                      <a:pt x="22" y="98"/>
                    </a:cubicBezTo>
                    <a:cubicBezTo>
                      <a:pt x="38" y="114"/>
                      <a:pt x="38" y="114"/>
                      <a:pt x="38" y="114"/>
                    </a:cubicBezTo>
                    <a:cubicBezTo>
                      <a:pt x="38" y="114"/>
                      <a:pt x="39" y="115"/>
                      <a:pt x="39" y="115"/>
                    </a:cubicBezTo>
                    <a:cubicBezTo>
                      <a:pt x="39" y="115"/>
                      <a:pt x="39" y="115"/>
                      <a:pt x="39" y="115"/>
                    </a:cubicBezTo>
                    <a:cubicBezTo>
                      <a:pt x="40" y="115"/>
                      <a:pt x="40" y="115"/>
                      <a:pt x="40" y="115"/>
                    </a:cubicBezTo>
                    <a:cubicBezTo>
                      <a:pt x="40" y="115"/>
                      <a:pt x="40" y="115"/>
                      <a:pt x="40" y="115"/>
                    </a:cubicBezTo>
                    <a:cubicBezTo>
                      <a:pt x="40" y="115"/>
                      <a:pt x="40" y="115"/>
                      <a:pt x="40" y="115"/>
                    </a:cubicBezTo>
                    <a:cubicBezTo>
                      <a:pt x="41" y="115"/>
                      <a:pt x="41" y="115"/>
                      <a:pt x="41" y="115"/>
                    </a:cubicBezTo>
                    <a:cubicBezTo>
                      <a:pt x="42" y="115"/>
                      <a:pt x="42" y="114"/>
                      <a:pt x="42" y="114"/>
                    </a:cubicBezTo>
                    <a:cubicBezTo>
                      <a:pt x="43" y="114"/>
                      <a:pt x="43" y="113"/>
                      <a:pt x="43" y="112"/>
                    </a:cubicBezTo>
                    <a:cubicBezTo>
                      <a:pt x="43" y="27"/>
                      <a:pt x="43" y="27"/>
                      <a:pt x="43" y="27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43" y="3"/>
                      <a:pt x="43" y="3"/>
                      <a:pt x="43" y="3"/>
                    </a:cubicBezTo>
                    <a:cubicBezTo>
                      <a:pt x="43" y="3"/>
                      <a:pt x="43" y="2"/>
                      <a:pt x="42" y="1"/>
                    </a:cubicBezTo>
                    <a:cubicBezTo>
                      <a:pt x="42" y="1"/>
                      <a:pt x="41" y="0"/>
                      <a:pt x="40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2" y="0"/>
                      <a:pt x="2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112"/>
                      <a:pt x="0" y="112"/>
                      <a:pt x="0" y="112"/>
                    </a:cubicBezTo>
                    <a:cubicBezTo>
                      <a:pt x="0" y="113"/>
                      <a:pt x="1" y="114"/>
                      <a:pt x="2" y="115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  <p:sp>
            <p:nvSpPr>
              <p:cNvPr id="59" name="Freeform 6"/>
              <p:cNvSpPr/>
              <p:nvPr/>
            </p:nvSpPr>
            <p:spPr bwMode="auto">
              <a:xfrm>
                <a:off x="10044830" y="3280407"/>
                <a:ext cx="289711" cy="34679"/>
              </a:xfrm>
              <a:custGeom>
                <a:avLst/>
                <a:gdLst>
                  <a:gd name="T0" fmla="*/ 0 w 53"/>
                  <a:gd name="T1" fmla="*/ 3 h 5"/>
                  <a:gd name="T2" fmla="*/ 3 w 53"/>
                  <a:gd name="T3" fmla="*/ 5 h 5"/>
                  <a:gd name="T4" fmla="*/ 50 w 53"/>
                  <a:gd name="T5" fmla="*/ 5 h 5"/>
                  <a:gd name="T6" fmla="*/ 53 w 53"/>
                  <a:gd name="T7" fmla="*/ 3 h 5"/>
                  <a:gd name="T8" fmla="*/ 50 w 53"/>
                  <a:gd name="T9" fmla="*/ 0 h 5"/>
                  <a:gd name="T10" fmla="*/ 3 w 53"/>
                  <a:gd name="T11" fmla="*/ 0 h 5"/>
                  <a:gd name="T12" fmla="*/ 0 w 53"/>
                  <a:gd name="T13" fmla="*/ 3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3" h="5">
                    <a:moveTo>
                      <a:pt x="0" y="3"/>
                    </a:moveTo>
                    <a:cubicBezTo>
                      <a:pt x="0" y="4"/>
                      <a:pt x="2" y="5"/>
                      <a:pt x="3" y="5"/>
                    </a:cubicBezTo>
                    <a:cubicBezTo>
                      <a:pt x="50" y="5"/>
                      <a:pt x="50" y="5"/>
                      <a:pt x="50" y="5"/>
                    </a:cubicBezTo>
                    <a:cubicBezTo>
                      <a:pt x="52" y="5"/>
                      <a:pt x="53" y="4"/>
                      <a:pt x="53" y="3"/>
                    </a:cubicBezTo>
                    <a:cubicBezTo>
                      <a:pt x="53" y="1"/>
                      <a:pt x="52" y="0"/>
                      <a:pt x="50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2" y="0"/>
                      <a:pt x="0" y="1"/>
                      <a:pt x="0" y="3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  <p:sp>
            <p:nvSpPr>
              <p:cNvPr id="60" name="Freeform 7"/>
              <p:cNvSpPr/>
              <p:nvPr/>
            </p:nvSpPr>
            <p:spPr bwMode="auto">
              <a:xfrm>
                <a:off x="10044830" y="3442241"/>
                <a:ext cx="289711" cy="34679"/>
              </a:xfrm>
              <a:custGeom>
                <a:avLst/>
                <a:gdLst>
                  <a:gd name="T0" fmla="*/ 50 w 53"/>
                  <a:gd name="T1" fmla="*/ 0 h 5"/>
                  <a:gd name="T2" fmla="*/ 3 w 53"/>
                  <a:gd name="T3" fmla="*/ 0 h 5"/>
                  <a:gd name="T4" fmla="*/ 0 w 53"/>
                  <a:gd name="T5" fmla="*/ 2 h 5"/>
                  <a:gd name="T6" fmla="*/ 3 w 53"/>
                  <a:gd name="T7" fmla="*/ 5 h 5"/>
                  <a:gd name="T8" fmla="*/ 50 w 53"/>
                  <a:gd name="T9" fmla="*/ 5 h 5"/>
                  <a:gd name="T10" fmla="*/ 53 w 53"/>
                  <a:gd name="T11" fmla="*/ 2 h 5"/>
                  <a:gd name="T12" fmla="*/ 50 w 53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3" h="5">
                    <a:moveTo>
                      <a:pt x="50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2" y="0"/>
                      <a:pt x="0" y="1"/>
                      <a:pt x="0" y="2"/>
                    </a:cubicBezTo>
                    <a:cubicBezTo>
                      <a:pt x="0" y="4"/>
                      <a:pt x="2" y="5"/>
                      <a:pt x="3" y="5"/>
                    </a:cubicBezTo>
                    <a:cubicBezTo>
                      <a:pt x="50" y="5"/>
                      <a:pt x="50" y="5"/>
                      <a:pt x="50" y="5"/>
                    </a:cubicBezTo>
                    <a:cubicBezTo>
                      <a:pt x="52" y="5"/>
                      <a:pt x="53" y="4"/>
                      <a:pt x="53" y="2"/>
                    </a:cubicBezTo>
                    <a:cubicBezTo>
                      <a:pt x="53" y="1"/>
                      <a:pt x="52" y="0"/>
                      <a:pt x="50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  <p:sp>
            <p:nvSpPr>
              <p:cNvPr id="61" name="Freeform 8"/>
              <p:cNvSpPr/>
              <p:nvPr/>
            </p:nvSpPr>
            <p:spPr bwMode="auto">
              <a:xfrm>
                <a:off x="10044830" y="3601186"/>
                <a:ext cx="289711" cy="34679"/>
              </a:xfrm>
              <a:custGeom>
                <a:avLst/>
                <a:gdLst>
                  <a:gd name="T0" fmla="*/ 50 w 53"/>
                  <a:gd name="T1" fmla="*/ 0 h 5"/>
                  <a:gd name="T2" fmla="*/ 3 w 53"/>
                  <a:gd name="T3" fmla="*/ 0 h 5"/>
                  <a:gd name="T4" fmla="*/ 0 w 53"/>
                  <a:gd name="T5" fmla="*/ 2 h 5"/>
                  <a:gd name="T6" fmla="*/ 3 w 53"/>
                  <a:gd name="T7" fmla="*/ 5 h 5"/>
                  <a:gd name="T8" fmla="*/ 50 w 53"/>
                  <a:gd name="T9" fmla="*/ 5 h 5"/>
                  <a:gd name="T10" fmla="*/ 53 w 53"/>
                  <a:gd name="T11" fmla="*/ 2 h 5"/>
                  <a:gd name="T12" fmla="*/ 50 w 53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3" h="5">
                    <a:moveTo>
                      <a:pt x="50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2" y="0"/>
                      <a:pt x="0" y="1"/>
                      <a:pt x="0" y="2"/>
                    </a:cubicBezTo>
                    <a:cubicBezTo>
                      <a:pt x="0" y="4"/>
                      <a:pt x="2" y="5"/>
                      <a:pt x="3" y="5"/>
                    </a:cubicBezTo>
                    <a:cubicBezTo>
                      <a:pt x="50" y="5"/>
                      <a:pt x="50" y="5"/>
                      <a:pt x="50" y="5"/>
                    </a:cubicBezTo>
                    <a:cubicBezTo>
                      <a:pt x="52" y="5"/>
                      <a:pt x="53" y="4"/>
                      <a:pt x="53" y="2"/>
                    </a:cubicBezTo>
                    <a:cubicBezTo>
                      <a:pt x="53" y="1"/>
                      <a:pt x="52" y="0"/>
                      <a:pt x="50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  <p:sp>
            <p:nvSpPr>
              <p:cNvPr id="62" name="Freeform 9"/>
              <p:cNvSpPr>
                <a:spLocks noEditPoints="1"/>
              </p:cNvSpPr>
              <p:nvPr/>
            </p:nvSpPr>
            <p:spPr bwMode="auto">
              <a:xfrm>
                <a:off x="9901114" y="2953851"/>
                <a:ext cx="1094967" cy="1037471"/>
              </a:xfrm>
              <a:custGeom>
                <a:avLst/>
                <a:gdLst>
                  <a:gd name="T0" fmla="*/ 177 w 200"/>
                  <a:gd name="T1" fmla="*/ 3 h 149"/>
                  <a:gd name="T2" fmla="*/ 177 w 200"/>
                  <a:gd name="T3" fmla="*/ 17 h 149"/>
                  <a:gd name="T4" fmla="*/ 186 w 200"/>
                  <a:gd name="T5" fmla="*/ 21 h 149"/>
                  <a:gd name="T6" fmla="*/ 186 w 200"/>
                  <a:gd name="T7" fmla="*/ 134 h 149"/>
                  <a:gd name="T8" fmla="*/ 107 w 200"/>
                  <a:gd name="T9" fmla="*/ 134 h 149"/>
                  <a:gd name="T10" fmla="*/ 107 w 200"/>
                  <a:gd name="T11" fmla="*/ 21 h 149"/>
                  <a:gd name="T12" fmla="*/ 117 w 200"/>
                  <a:gd name="T13" fmla="*/ 17 h 149"/>
                  <a:gd name="T14" fmla="*/ 117 w 200"/>
                  <a:gd name="T15" fmla="*/ 3 h 149"/>
                  <a:gd name="T16" fmla="*/ 100 w 200"/>
                  <a:gd name="T17" fmla="*/ 9 h 149"/>
                  <a:gd name="T18" fmla="*/ 53 w 200"/>
                  <a:gd name="T19" fmla="*/ 0 h 149"/>
                  <a:gd name="T20" fmla="*/ 0 w 200"/>
                  <a:gd name="T21" fmla="*/ 20 h 149"/>
                  <a:gd name="T22" fmla="*/ 0 w 200"/>
                  <a:gd name="T23" fmla="*/ 142 h 149"/>
                  <a:gd name="T24" fmla="*/ 2 w 200"/>
                  <a:gd name="T25" fmla="*/ 147 h 149"/>
                  <a:gd name="T26" fmla="*/ 8 w 200"/>
                  <a:gd name="T27" fmla="*/ 149 h 149"/>
                  <a:gd name="T28" fmla="*/ 53 w 200"/>
                  <a:gd name="T29" fmla="*/ 145 h 149"/>
                  <a:gd name="T30" fmla="*/ 99 w 200"/>
                  <a:gd name="T31" fmla="*/ 149 h 149"/>
                  <a:gd name="T32" fmla="*/ 99 w 200"/>
                  <a:gd name="T33" fmla="*/ 149 h 149"/>
                  <a:gd name="T34" fmla="*/ 100 w 200"/>
                  <a:gd name="T35" fmla="*/ 149 h 149"/>
                  <a:gd name="T36" fmla="*/ 100 w 200"/>
                  <a:gd name="T37" fmla="*/ 149 h 149"/>
                  <a:gd name="T38" fmla="*/ 101 w 200"/>
                  <a:gd name="T39" fmla="*/ 149 h 149"/>
                  <a:gd name="T40" fmla="*/ 101 w 200"/>
                  <a:gd name="T41" fmla="*/ 149 h 149"/>
                  <a:gd name="T42" fmla="*/ 146 w 200"/>
                  <a:gd name="T43" fmla="*/ 145 h 149"/>
                  <a:gd name="T44" fmla="*/ 192 w 200"/>
                  <a:gd name="T45" fmla="*/ 149 h 149"/>
                  <a:gd name="T46" fmla="*/ 193 w 200"/>
                  <a:gd name="T47" fmla="*/ 149 h 149"/>
                  <a:gd name="T48" fmla="*/ 197 w 200"/>
                  <a:gd name="T49" fmla="*/ 147 h 149"/>
                  <a:gd name="T50" fmla="*/ 200 w 200"/>
                  <a:gd name="T51" fmla="*/ 142 h 149"/>
                  <a:gd name="T52" fmla="*/ 200 w 200"/>
                  <a:gd name="T53" fmla="*/ 20 h 149"/>
                  <a:gd name="T54" fmla="*/ 177 w 200"/>
                  <a:gd name="T55" fmla="*/ 3 h 149"/>
                  <a:gd name="T56" fmla="*/ 93 w 200"/>
                  <a:gd name="T57" fmla="*/ 134 h 149"/>
                  <a:gd name="T58" fmla="*/ 53 w 200"/>
                  <a:gd name="T59" fmla="*/ 131 h 149"/>
                  <a:gd name="T60" fmla="*/ 14 w 200"/>
                  <a:gd name="T61" fmla="*/ 134 h 149"/>
                  <a:gd name="T62" fmla="*/ 14 w 200"/>
                  <a:gd name="T63" fmla="*/ 21 h 149"/>
                  <a:gd name="T64" fmla="*/ 53 w 200"/>
                  <a:gd name="T65" fmla="*/ 14 h 149"/>
                  <a:gd name="T66" fmla="*/ 93 w 200"/>
                  <a:gd name="T67" fmla="*/ 21 h 149"/>
                  <a:gd name="T68" fmla="*/ 93 w 200"/>
                  <a:gd name="T69" fmla="*/ 134 h 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200" h="149">
                    <a:moveTo>
                      <a:pt x="177" y="3"/>
                    </a:moveTo>
                    <a:cubicBezTo>
                      <a:pt x="177" y="17"/>
                      <a:pt x="177" y="17"/>
                      <a:pt x="177" y="17"/>
                    </a:cubicBezTo>
                    <a:cubicBezTo>
                      <a:pt x="181" y="18"/>
                      <a:pt x="185" y="20"/>
                      <a:pt x="186" y="21"/>
                    </a:cubicBezTo>
                    <a:cubicBezTo>
                      <a:pt x="186" y="134"/>
                      <a:pt x="186" y="134"/>
                      <a:pt x="186" y="134"/>
                    </a:cubicBezTo>
                    <a:cubicBezTo>
                      <a:pt x="161" y="130"/>
                      <a:pt x="131" y="130"/>
                      <a:pt x="107" y="134"/>
                    </a:cubicBezTo>
                    <a:cubicBezTo>
                      <a:pt x="107" y="21"/>
                      <a:pt x="107" y="21"/>
                      <a:pt x="107" y="21"/>
                    </a:cubicBezTo>
                    <a:cubicBezTo>
                      <a:pt x="108" y="20"/>
                      <a:pt x="111" y="18"/>
                      <a:pt x="117" y="17"/>
                    </a:cubicBezTo>
                    <a:cubicBezTo>
                      <a:pt x="117" y="3"/>
                      <a:pt x="117" y="3"/>
                      <a:pt x="117" y="3"/>
                    </a:cubicBezTo>
                    <a:cubicBezTo>
                      <a:pt x="110" y="4"/>
                      <a:pt x="104" y="6"/>
                      <a:pt x="100" y="9"/>
                    </a:cubicBezTo>
                    <a:cubicBezTo>
                      <a:pt x="90" y="2"/>
                      <a:pt x="70" y="0"/>
                      <a:pt x="53" y="0"/>
                    </a:cubicBezTo>
                    <a:cubicBezTo>
                      <a:pt x="29" y="0"/>
                      <a:pt x="0" y="5"/>
                      <a:pt x="0" y="20"/>
                    </a:cubicBezTo>
                    <a:cubicBezTo>
                      <a:pt x="0" y="142"/>
                      <a:pt x="0" y="142"/>
                      <a:pt x="0" y="142"/>
                    </a:cubicBezTo>
                    <a:cubicBezTo>
                      <a:pt x="0" y="144"/>
                      <a:pt x="1" y="146"/>
                      <a:pt x="2" y="147"/>
                    </a:cubicBezTo>
                    <a:cubicBezTo>
                      <a:pt x="4" y="148"/>
                      <a:pt x="6" y="149"/>
                      <a:pt x="8" y="149"/>
                    </a:cubicBezTo>
                    <a:cubicBezTo>
                      <a:pt x="22" y="146"/>
                      <a:pt x="37" y="145"/>
                      <a:pt x="53" y="145"/>
                    </a:cubicBezTo>
                    <a:cubicBezTo>
                      <a:pt x="69" y="145"/>
                      <a:pt x="85" y="146"/>
                      <a:pt x="99" y="149"/>
                    </a:cubicBezTo>
                    <a:cubicBezTo>
                      <a:pt x="99" y="149"/>
                      <a:pt x="99" y="149"/>
                      <a:pt x="99" y="149"/>
                    </a:cubicBezTo>
                    <a:cubicBezTo>
                      <a:pt x="99" y="149"/>
                      <a:pt x="99" y="149"/>
                      <a:pt x="100" y="149"/>
                    </a:cubicBezTo>
                    <a:cubicBezTo>
                      <a:pt x="100" y="149"/>
                      <a:pt x="100" y="149"/>
                      <a:pt x="100" y="149"/>
                    </a:cubicBezTo>
                    <a:cubicBezTo>
                      <a:pt x="100" y="149"/>
                      <a:pt x="100" y="149"/>
                      <a:pt x="101" y="149"/>
                    </a:cubicBezTo>
                    <a:cubicBezTo>
                      <a:pt x="101" y="149"/>
                      <a:pt x="101" y="149"/>
                      <a:pt x="101" y="149"/>
                    </a:cubicBezTo>
                    <a:cubicBezTo>
                      <a:pt x="115" y="146"/>
                      <a:pt x="130" y="145"/>
                      <a:pt x="146" y="145"/>
                    </a:cubicBezTo>
                    <a:cubicBezTo>
                      <a:pt x="162" y="145"/>
                      <a:pt x="178" y="146"/>
                      <a:pt x="192" y="149"/>
                    </a:cubicBezTo>
                    <a:cubicBezTo>
                      <a:pt x="192" y="149"/>
                      <a:pt x="192" y="149"/>
                      <a:pt x="193" y="149"/>
                    </a:cubicBezTo>
                    <a:cubicBezTo>
                      <a:pt x="194" y="149"/>
                      <a:pt x="196" y="148"/>
                      <a:pt x="197" y="147"/>
                    </a:cubicBezTo>
                    <a:cubicBezTo>
                      <a:pt x="199" y="146"/>
                      <a:pt x="200" y="144"/>
                      <a:pt x="200" y="142"/>
                    </a:cubicBezTo>
                    <a:cubicBezTo>
                      <a:pt x="200" y="20"/>
                      <a:pt x="200" y="20"/>
                      <a:pt x="200" y="20"/>
                    </a:cubicBezTo>
                    <a:cubicBezTo>
                      <a:pt x="200" y="11"/>
                      <a:pt x="190" y="6"/>
                      <a:pt x="177" y="3"/>
                    </a:cubicBezTo>
                    <a:close/>
                    <a:moveTo>
                      <a:pt x="93" y="134"/>
                    </a:moveTo>
                    <a:cubicBezTo>
                      <a:pt x="80" y="132"/>
                      <a:pt x="67" y="131"/>
                      <a:pt x="53" y="131"/>
                    </a:cubicBezTo>
                    <a:cubicBezTo>
                      <a:pt x="40" y="131"/>
                      <a:pt x="26" y="132"/>
                      <a:pt x="14" y="134"/>
                    </a:cubicBezTo>
                    <a:cubicBezTo>
                      <a:pt x="14" y="21"/>
                      <a:pt x="14" y="21"/>
                      <a:pt x="14" y="21"/>
                    </a:cubicBezTo>
                    <a:cubicBezTo>
                      <a:pt x="16" y="18"/>
                      <a:pt x="30" y="14"/>
                      <a:pt x="53" y="14"/>
                    </a:cubicBezTo>
                    <a:cubicBezTo>
                      <a:pt x="76" y="14"/>
                      <a:pt x="90" y="18"/>
                      <a:pt x="93" y="21"/>
                    </a:cubicBezTo>
                    <a:lnTo>
                      <a:pt x="93" y="134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</p:grpSp>
      </p:grpSp>
      <p:grpSp>
        <p:nvGrpSpPr>
          <p:cNvPr id="63" name="组合 62"/>
          <p:cNvGrpSpPr/>
          <p:nvPr/>
        </p:nvGrpSpPr>
        <p:grpSpPr>
          <a:xfrm>
            <a:off x="7529563" y="2650283"/>
            <a:ext cx="999564" cy="1001763"/>
            <a:chOff x="3437020" y="4201727"/>
            <a:chExt cx="863676" cy="865576"/>
          </a:xfrm>
        </p:grpSpPr>
        <p:sp>
          <p:nvSpPr>
            <p:cNvPr id="64" name="椭圆 21"/>
            <p:cNvSpPr>
              <a:spLocks noChangeArrowheads="1"/>
            </p:cNvSpPr>
            <p:nvPr/>
          </p:nvSpPr>
          <p:spPr bwMode="auto">
            <a:xfrm>
              <a:off x="3437020" y="4201727"/>
              <a:ext cx="863676" cy="865576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grpSp>
          <p:nvGrpSpPr>
            <p:cNvPr id="65" name="Group 4"/>
            <p:cNvGrpSpPr>
              <a:grpSpLocks noChangeAspect="1"/>
            </p:cNvGrpSpPr>
            <p:nvPr/>
          </p:nvGrpSpPr>
          <p:grpSpPr bwMode="auto">
            <a:xfrm>
              <a:off x="3626902" y="4339091"/>
              <a:ext cx="476560" cy="578496"/>
              <a:chOff x="2694" y="1931"/>
              <a:chExt cx="374" cy="454"/>
            </a:xfrm>
            <a:solidFill>
              <a:schemeClr val="bg1"/>
            </a:solidFill>
          </p:grpSpPr>
          <p:sp>
            <p:nvSpPr>
              <p:cNvPr id="66" name="Freeform 5"/>
              <p:cNvSpPr>
                <a:spLocks noEditPoints="1"/>
              </p:cNvSpPr>
              <p:nvPr/>
            </p:nvSpPr>
            <p:spPr bwMode="auto">
              <a:xfrm>
                <a:off x="2694" y="1931"/>
                <a:ext cx="374" cy="454"/>
              </a:xfrm>
              <a:custGeom>
                <a:avLst/>
                <a:gdLst>
                  <a:gd name="T0" fmla="*/ 127 w 155"/>
                  <a:gd name="T1" fmla="*/ 7 h 189"/>
                  <a:gd name="T2" fmla="*/ 124 w 155"/>
                  <a:gd name="T3" fmla="*/ 0 h 189"/>
                  <a:gd name="T4" fmla="*/ 122 w 155"/>
                  <a:gd name="T5" fmla="*/ 7 h 189"/>
                  <a:gd name="T6" fmla="*/ 96 w 155"/>
                  <a:gd name="T7" fmla="*/ 3 h 189"/>
                  <a:gd name="T8" fmla="*/ 90 w 155"/>
                  <a:gd name="T9" fmla="*/ 3 h 189"/>
                  <a:gd name="T10" fmla="*/ 64 w 155"/>
                  <a:gd name="T11" fmla="*/ 7 h 189"/>
                  <a:gd name="T12" fmla="*/ 62 w 155"/>
                  <a:gd name="T13" fmla="*/ 0 h 189"/>
                  <a:gd name="T14" fmla="*/ 59 w 155"/>
                  <a:gd name="T15" fmla="*/ 7 h 189"/>
                  <a:gd name="T16" fmla="*/ 33 w 155"/>
                  <a:gd name="T17" fmla="*/ 3 h 189"/>
                  <a:gd name="T18" fmla="*/ 27 w 155"/>
                  <a:gd name="T19" fmla="*/ 3 h 189"/>
                  <a:gd name="T20" fmla="*/ 7 w 155"/>
                  <a:gd name="T21" fmla="*/ 7 h 189"/>
                  <a:gd name="T22" fmla="*/ 0 w 155"/>
                  <a:gd name="T23" fmla="*/ 182 h 189"/>
                  <a:gd name="T24" fmla="*/ 148 w 155"/>
                  <a:gd name="T25" fmla="*/ 189 h 189"/>
                  <a:gd name="T26" fmla="*/ 155 w 155"/>
                  <a:gd name="T27" fmla="*/ 13 h 189"/>
                  <a:gd name="T28" fmla="*/ 124 w 155"/>
                  <a:gd name="T29" fmla="*/ 40 h 189"/>
                  <a:gd name="T30" fmla="*/ 127 w 155"/>
                  <a:gd name="T31" fmla="*/ 31 h 189"/>
                  <a:gd name="T32" fmla="*/ 124 w 155"/>
                  <a:gd name="T33" fmla="*/ 44 h 189"/>
                  <a:gd name="T34" fmla="*/ 122 w 155"/>
                  <a:gd name="T35" fmla="*/ 31 h 189"/>
                  <a:gd name="T36" fmla="*/ 124 w 155"/>
                  <a:gd name="T37" fmla="*/ 40 h 189"/>
                  <a:gd name="T38" fmla="*/ 96 w 155"/>
                  <a:gd name="T39" fmla="*/ 37 h 189"/>
                  <a:gd name="T40" fmla="*/ 100 w 155"/>
                  <a:gd name="T41" fmla="*/ 37 h 189"/>
                  <a:gd name="T42" fmla="*/ 86 w 155"/>
                  <a:gd name="T43" fmla="*/ 37 h 189"/>
                  <a:gd name="T44" fmla="*/ 90 w 155"/>
                  <a:gd name="T45" fmla="*/ 37 h 189"/>
                  <a:gd name="T46" fmla="*/ 62 w 155"/>
                  <a:gd name="T47" fmla="*/ 40 h 189"/>
                  <a:gd name="T48" fmla="*/ 64 w 155"/>
                  <a:gd name="T49" fmla="*/ 31 h 189"/>
                  <a:gd name="T50" fmla="*/ 62 w 155"/>
                  <a:gd name="T51" fmla="*/ 44 h 189"/>
                  <a:gd name="T52" fmla="*/ 59 w 155"/>
                  <a:gd name="T53" fmla="*/ 31 h 189"/>
                  <a:gd name="T54" fmla="*/ 62 w 155"/>
                  <a:gd name="T55" fmla="*/ 40 h 189"/>
                  <a:gd name="T56" fmla="*/ 33 w 155"/>
                  <a:gd name="T57" fmla="*/ 37 h 189"/>
                  <a:gd name="T58" fmla="*/ 37 w 155"/>
                  <a:gd name="T59" fmla="*/ 37 h 189"/>
                  <a:gd name="T60" fmla="*/ 23 w 155"/>
                  <a:gd name="T61" fmla="*/ 37 h 189"/>
                  <a:gd name="T62" fmla="*/ 27 w 155"/>
                  <a:gd name="T63" fmla="*/ 37 h 189"/>
                  <a:gd name="T64" fmla="*/ 141 w 155"/>
                  <a:gd name="T65" fmla="*/ 175 h 189"/>
                  <a:gd name="T66" fmla="*/ 14 w 155"/>
                  <a:gd name="T67" fmla="*/ 20 h 189"/>
                  <a:gd name="T68" fmla="*/ 27 w 155"/>
                  <a:gd name="T69" fmla="*/ 25 h 189"/>
                  <a:gd name="T70" fmla="*/ 30 w 155"/>
                  <a:gd name="T71" fmla="*/ 50 h 189"/>
                  <a:gd name="T72" fmla="*/ 33 w 155"/>
                  <a:gd name="T73" fmla="*/ 25 h 189"/>
                  <a:gd name="T74" fmla="*/ 59 w 155"/>
                  <a:gd name="T75" fmla="*/ 20 h 189"/>
                  <a:gd name="T76" fmla="*/ 49 w 155"/>
                  <a:gd name="T77" fmla="*/ 37 h 189"/>
                  <a:gd name="T78" fmla="*/ 74 w 155"/>
                  <a:gd name="T79" fmla="*/ 37 h 189"/>
                  <a:gd name="T80" fmla="*/ 64 w 155"/>
                  <a:gd name="T81" fmla="*/ 20 h 189"/>
                  <a:gd name="T82" fmla="*/ 90 w 155"/>
                  <a:gd name="T83" fmla="*/ 25 h 189"/>
                  <a:gd name="T84" fmla="*/ 93 w 155"/>
                  <a:gd name="T85" fmla="*/ 50 h 189"/>
                  <a:gd name="T86" fmla="*/ 96 w 155"/>
                  <a:gd name="T87" fmla="*/ 25 h 189"/>
                  <a:gd name="T88" fmla="*/ 122 w 155"/>
                  <a:gd name="T89" fmla="*/ 20 h 189"/>
                  <a:gd name="T90" fmla="*/ 112 w 155"/>
                  <a:gd name="T91" fmla="*/ 37 h 189"/>
                  <a:gd name="T92" fmla="*/ 137 w 155"/>
                  <a:gd name="T93" fmla="*/ 37 h 189"/>
                  <a:gd name="T94" fmla="*/ 127 w 155"/>
                  <a:gd name="T95" fmla="*/ 20 h 189"/>
                  <a:gd name="T96" fmla="*/ 141 w 155"/>
                  <a:gd name="T97" fmla="*/ 175 h 1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155" h="189">
                    <a:moveTo>
                      <a:pt x="148" y="7"/>
                    </a:moveTo>
                    <a:cubicBezTo>
                      <a:pt x="127" y="7"/>
                      <a:pt x="127" y="7"/>
                      <a:pt x="127" y="7"/>
                    </a:cubicBezTo>
                    <a:cubicBezTo>
                      <a:pt x="127" y="3"/>
                      <a:pt x="127" y="3"/>
                      <a:pt x="127" y="3"/>
                    </a:cubicBezTo>
                    <a:cubicBezTo>
                      <a:pt x="127" y="1"/>
                      <a:pt x="126" y="0"/>
                      <a:pt x="124" y="0"/>
                    </a:cubicBezTo>
                    <a:cubicBezTo>
                      <a:pt x="123" y="0"/>
                      <a:pt x="122" y="1"/>
                      <a:pt x="122" y="3"/>
                    </a:cubicBezTo>
                    <a:cubicBezTo>
                      <a:pt x="122" y="7"/>
                      <a:pt x="122" y="7"/>
                      <a:pt x="122" y="7"/>
                    </a:cubicBezTo>
                    <a:cubicBezTo>
                      <a:pt x="96" y="7"/>
                      <a:pt x="96" y="7"/>
                      <a:pt x="96" y="7"/>
                    </a:cubicBezTo>
                    <a:cubicBezTo>
                      <a:pt x="96" y="3"/>
                      <a:pt x="96" y="3"/>
                      <a:pt x="96" y="3"/>
                    </a:cubicBezTo>
                    <a:cubicBezTo>
                      <a:pt x="96" y="1"/>
                      <a:pt x="94" y="0"/>
                      <a:pt x="93" y="0"/>
                    </a:cubicBezTo>
                    <a:cubicBezTo>
                      <a:pt x="91" y="0"/>
                      <a:pt x="90" y="1"/>
                      <a:pt x="90" y="3"/>
                    </a:cubicBezTo>
                    <a:cubicBezTo>
                      <a:pt x="90" y="7"/>
                      <a:pt x="90" y="7"/>
                      <a:pt x="90" y="7"/>
                    </a:cubicBezTo>
                    <a:cubicBezTo>
                      <a:pt x="64" y="7"/>
                      <a:pt x="64" y="7"/>
                      <a:pt x="64" y="7"/>
                    </a:cubicBezTo>
                    <a:cubicBezTo>
                      <a:pt x="64" y="3"/>
                      <a:pt x="64" y="3"/>
                      <a:pt x="64" y="3"/>
                    </a:cubicBezTo>
                    <a:cubicBezTo>
                      <a:pt x="64" y="1"/>
                      <a:pt x="63" y="0"/>
                      <a:pt x="62" y="0"/>
                    </a:cubicBezTo>
                    <a:cubicBezTo>
                      <a:pt x="60" y="0"/>
                      <a:pt x="59" y="1"/>
                      <a:pt x="59" y="3"/>
                    </a:cubicBezTo>
                    <a:cubicBezTo>
                      <a:pt x="59" y="7"/>
                      <a:pt x="59" y="7"/>
                      <a:pt x="59" y="7"/>
                    </a:cubicBezTo>
                    <a:cubicBezTo>
                      <a:pt x="33" y="7"/>
                      <a:pt x="33" y="7"/>
                      <a:pt x="33" y="7"/>
                    </a:cubicBezTo>
                    <a:cubicBezTo>
                      <a:pt x="33" y="3"/>
                      <a:pt x="33" y="3"/>
                      <a:pt x="33" y="3"/>
                    </a:cubicBezTo>
                    <a:cubicBezTo>
                      <a:pt x="33" y="1"/>
                      <a:pt x="32" y="0"/>
                      <a:pt x="30" y="0"/>
                    </a:cubicBezTo>
                    <a:cubicBezTo>
                      <a:pt x="29" y="0"/>
                      <a:pt x="27" y="1"/>
                      <a:pt x="27" y="3"/>
                    </a:cubicBezTo>
                    <a:cubicBezTo>
                      <a:pt x="27" y="7"/>
                      <a:pt x="27" y="7"/>
                      <a:pt x="27" y="7"/>
                    </a:cubicBezTo>
                    <a:cubicBezTo>
                      <a:pt x="7" y="7"/>
                      <a:pt x="7" y="7"/>
                      <a:pt x="7" y="7"/>
                    </a:cubicBezTo>
                    <a:cubicBezTo>
                      <a:pt x="3" y="7"/>
                      <a:pt x="0" y="10"/>
                      <a:pt x="0" y="13"/>
                    </a:cubicBezTo>
                    <a:cubicBezTo>
                      <a:pt x="0" y="182"/>
                      <a:pt x="0" y="182"/>
                      <a:pt x="0" y="182"/>
                    </a:cubicBezTo>
                    <a:cubicBezTo>
                      <a:pt x="0" y="186"/>
                      <a:pt x="3" y="189"/>
                      <a:pt x="7" y="189"/>
                    </a:cubicBezTo>
                    <a:cubicBezTo>
                      <a:pt x="148" y="189"/>
                      <a:pt x="148" y="189"/>
                      <a:pt x="148" y="189"/>
                    </a:cubicBezTo>
                    <a:cubicBezTo>
                      <a:pt x="152" y="189"/>
                      <a:pt x="155" y="186"/>
                      <a:pt x="155" y="182"/>
                    </a:cubicBezTo>
                    <a:cubicBezTo>
                      <a:pt x="155" y="13"/>
                      <a:pt x="155" y="13"/>
                      <a:pt x="155" y="13"/>
                    </a:cubicBezTo>
                    <a:cubicBezTo>
                      <a:pt x="155" y="10"/>
                      <a:pt x="152" y="7"/>
                      <a:pt x="148" y="7"/>
                    </a:cubicBezTo>
                    <a:close/>
                    <a:moveTo>
                      <a:pt x="124" y="40"/>
                    </a:moveTo>
                    <a:cubicBezTo>
                      <a:pt x="126" y="40"/>
                      <a:pt x="127" y="39"/>
                      <a:pt x="127" y="37"/>
                    </a:cubicBezTo>
                    <a:cubicBezTo>
                      <a:pt x="127" y="31"/>
                      <a:pt x="127" y="31"/>
                      <a:pt x="127" y="31"/>
                    </a:cubicBezTo>
                    <a:cubicBezTo>
                      <a:pt x="130" y="32"/>
                      <a:pt x="131" y="35"/>
                      <a:pt x="131" y="37"/>
                    </a:cubicBezTo>
                    <a:cubicBezTo>
                      <a:pt x="131" y="41"/>
                      <a:pt x="128" y="44"/>
                      <a:pt x="124" y="44"/>
                    </a:cubicBezTo>
                    <a:cubicBezTo>
                      <a:pt x="120" y="44"/>
                      <a:pt x="117" y="41"/>
                      <a:pt x="117" y="37"/>
                    </a:cubicBezTo>
                    <a:cubicBezTo>
                      <a:pt x="117" y="34"/>
                      <a:pt x="119" y="32"/>
                      <a:pt x="122" y="31"/>
                    </a:cubicBezTo>
                    <a:cubicBezTo>
                      <a:pt x="122" y="37"/>
                      <a:pt x="122" y="37"/>
                      <a:pt x="122" y="37"/>
                    </a:cubicBezTo>
                    <a:cubicBezTo>
                      <a:pt x="122" y="39"/>
                      <a:pt x="123" y="40"/>
                      <a:pt x="124" y="40"/>
                    </a:cubicBezTo>
                    <a:close/>
                    <a:moveTo>
                      <a:pt x="93" y="40"/>
                    </a:moveTo>
                    <a:cubicBezTo>
                      <a:pt x="94" y="40"/>
                      <a:pt x="96" y="39"/>
                      <a:pt x="96" y="37"/>
                    </a:cubicBezTo>
                    <a:cubicBezTo>
                      <a:pt x="96" y="31"/>
                      <a:pt x="96" y="31"/>
                      <a:pt x="96" y="31"/>
                    </a:cubicBezTo>
                    <a:cubicBezTo>
                      <a:pt x="98" y="32"/>
                      <a:pt x="100" y="35"/>
                      <a:pt x="100" y="37"/>
                    </a:cubicBezTo>
                    <a:cubicBezTo>
                      <a:pt x="100" y="41"/>
                      <a:pt x="97" y="44"/>
                      <a:pt x="93" y="44"/>
                    </a:cubicBezTo>
                    <a:cubicBezTo>
                      <a:pt x="89" y="44"/>
                      <a:pt x="86" y="41"/>
                      <a:pt x="86" y="37"/>
                    </a:cubicBezTo>
                    <a:cubicBezTo>
                      <a:pt x="86" y="34"/>
                      <a:pt x="88" y="32"/>
                      <a:pt x="90" y="31"/>
                    </a:cubicBezTo>
                    <a:cubicBezTo>
                      <a:pt x="90" y="37"/>
                      <a:pt x="90" y="37"/>
                      <a:pt x="90" y="37"/>
                    </a:cubicBezTo>
                    <a:cubicBezTo>
                      <a:pt x="90" y="39"/>
                      <a:pt x="91" y="40"/>
                      <a:pt x="93" y="40"/>
                    </a:cubicBezTo>
                    <a:close/>
                    <a:moveTo>
                      <a:pt x="62" y="40"/>
                    </a:moveTo>
                    <a:cubicBezTo>
                      <a:pt x="63" y="40"/>
                      <a:pt x="64" y="39"/>
                      <a:pt x="64" y="37"/>
                    </a:cubicBezTo>
                    <a:cubicBezTo>
                      <a:pt x="64" y="31"/>
                      <a:pt x="64" y="31"/>
                      <a:pt x="64" y="31"/>
                    </a:cubicBezTo>
                    <a:cubicBezTo>
                      <a:pt x="67" y="32"/>
                      <a:pt x="69" y="35"/>
                      <a:pt x="69" y="37"/>
                    </a:cubicBezTo>
                    <a:cubicBezTo>
                      <a:pt x="69" y="41"/>
                      <a:pt x="65" y="44"/>
                      <a:pt x="62" y="44"/>
                    </a:cubicBezTo>
                    <a:cubicBezTo>
                      <a:pt x="58" y="44"/>
                      <a:pt x="54" y="41"/>
                      <a:pt x="54" y="37"/>
                    </a:cubicBezTo>
                    <a:cubicBezTo>
                      <a:pt x="54" y="34"/>
                      <a:pt x="56" y="32"/>
                      <a:pt x="59" y="31"/>
                    </a:cubicBezTo>
                    <a:cubicBezTo>
                      <a:pt x="59" y="37"/>
                      <a:pt x="59" y="37"/>
                      <a:pt x="59" y="37"/>
                    </a:cubicBezTo>
                    <a:cubicBezTo>
                      <a:pt x="59" y="39"/>
                      <a:pt x="60" y="40"/>
                      <a:pt x="62" y="40"/>
                    </a:cubicBezTo>
                    <a:close/>
                    <a:moveTo>
                      <a:pt x="30" y="40"/>
                    </a:moveTo>
                    <a:cubicBezTo>
                      <a:pt x="32" y="40"/>
                      <a:pt x="33" y="39"/>
                      <a:pt x="33" y="37"/>
                    </a:cubicBezTo>
                    <a:cubicBezTo>
                      <a:pt x="33" y="31"/>
                      <a:pt x="33" y="31"/>
                      <a:pt x="33" y="31"/>
                    </a:cubicBezTo>
                    <a:cubicBezTo>
                      <a:pt x="35" y="32"/>
                      <a:pt x="37" y="35"/>
                      <a:pt x="37" y="37"/>
                    </a:cubicBezTo>
                    <a:cubicBezTo>
                      <a:pt x="37" y="41"/>
                      <a:pt x="34" y="44"/>
                      <a:pt x="30" y="44"/>
                    </a:cubicBezTo>
                    <a:cubicBezTo>
                      <a:pt x="26" y="44"/>
                      <a:pt x="23" y="41"/>
                      <a:pt x="23" y="37"/>
                    </a:cubicBezTo>
                    <a:cubicBezTo>
                      <a:pt x="23" y="34"/>
                      <a:pt x="25" y="32"/>
                      <a:pt x="27" y="31"/>
                    </a:cubicBezTo>
                    <a:cubicBezTo>
                      <a:pt x="27" y="37"/>
                      <a:pt x="27" y="37"/>
                      <a:pt x="27" y="37"/>
                    </a:cubicBezTo>
                    <a:cubicBezTo>
                      <a:pt x="27" y="39"/>
                      <a:pt x="29" y="40"/>
                      <a:pt x="30" y="40"/>
                    </a:cubicBezTo>
                    <a:close/>
                    <a:moveTo>
                      <a:pt x="141" y="175"/>
                    </a:moveTo>
                    <a:cubicBezTo>
                      <a:pt x="14" y="175"/>
                      <a:pt x="14" y="175"/>
                      <a:pt x="14" y="175"/>
                    </a:cubicBezTo>
                    <a:cubicBezTo>
                      <a:pt x="14" y="20"/>
                      <a:pt x="14" y="20"/>
                      <a:pt x="14" y="20"/>
                    </a:cubicBezTo>
                    <a:cubicBezTo>
                      <a:pt x="27" y="20"/>
                      <a:pt x="27" y="20"/>
                      <a:pt x="27" y="20"/>
                    </a:cubicBezTo>
                    <a:cubicBezTo>
                      <a:pt x="27" y="25"/>
                      <a:pt x="27" y="25"/>
                      <a:pt x="27" y="25"/>
                    </a:cubicBezTo>
                    <a:cubicBezTo>
                      <a:pt x="22" y="26"/>
                      <a:pt x="18" y="31"/>
                      <a:pt x="18" y="37"/>
                    </a:cubicBezTo>
                    <a:cubicBezTo>
                      <a:pt x="18" y="44"/>
                      <a:pt x="23" y="50"/>
                      <a:pt x="30" y="50"/>
                    </a:cubicBezTo>
                    <a:cubicBezTo>
                      <a:pt x="37" y="50"/>
                      <a:pt x="43" y="44"/>
                      <a:pt x="43" y="37"/>
                    </a:cubicBezTo>
                    <a:cubicBezTo>
                      <a:pt x="43" y="31"/>
                      <a:pt x="39" y="26"/>
                      <a:pt x="33" y="25"/>
                    </a:cubicBezTo>
                    <a:cubicBezTo>
                      <a:pt x="33" y="20"/>
                      <a:pt x="33" y="20"/>
                      <a:pt x="33" y="20"/>
                    </a:cubicBezTo>
                    <a:cubicBezTo>
                      <a:pt x="59" y="20"/>
                      <a:pt x="59" y="20"/>
                      <a:pt x="59" y="20"/>
                    </a:cubicBezTo>
                    <a:cubicBezTo>
                      <a:pt x="59" y="25"/>
                      <a:pt x="59" y="25"/>
                      <a:pt x="59" y="25"/>
                    </a:cubicBezTo>
                    <a:cubicBezTo>
                      <a:pt x="53" y="26"/>
                      <a:pt x="49" y="31"/>
                      <a:pt x="49" y="37"/>
                    </a:cubicBezTo>
                    <a:cubicBezTo>
                      <a:pt x="49" y="44"/>
                      <a:pt x="55" y="50"/>
                      <a:pt x="62" y="50"/>
                    </a:cubicBezTo>
                    <a:cubicBezTo>
                      <a:pt x="68" y="50"/>
                      <a:pt x="74" y="44"/>
                      <a:pt x="74" y="37"/>
                    </a:cubicBezTo>
                    <a:cubicBezTo>
                      <a:pt x="74" y="31"/>
                      <a:pt x="70" y="26"/>
                      <a:pt x="64" y="25"/>
                    </a:cubicBezTo>
                    <a:cubicBezTo>
                      <a:pt x="64" y="20"/>
                      <a:pt x="64" y="20"/>
                      <a:pt x="64" y="20"/>
                    </a:cubicBezTo>
                    <a:cubicBezTo>
                      <a:pt x="90" y="20"/>
                      <a:pt x="90" y="20"/>
                      <a:pt x="90" y="20"/>
                    </a:cubicBezTo>
                    <a:cubicBezTo>
                      <a:pt x="90" y="25"/>
                      <a:pt x="90" y="25"/>
                      <a:pt x="90" y="25"/>
                    </a:cubicBezTo>
                    <a:cubicBezTo>
                      <a:pt x="85" y="26"/>
                      <a:pt x="80" y="31"/>
                      <a:pt x="80" y="37"/>
                    </a:cubicBezTo>
                    <a:cubicBezTo>
                      <a:pt x="80" y="44"/>
                      <a:pt x="86" y="50"/>
                      <a:pt x="93" y="50"/>
                    </a:cubicBezTo>
                    <a:cubicBezTo>
                      <a:pt x="100" y="50"/>
                      <a:pt x="105" y="44"/>
                      <a:pt x="105" y="37"/>
                    </a:cubicBezTo>
                    <a:cubicBezTo>
                      <a:pt x="105" y="31"/>
                      <a:pt x="101" y="26"/>
                      <a:pt x="96" y="25"/>
                    </a:cubicBezTo>
                    <a:cubicBezTo>
                      <a:pt x="96" y="20"/>
                      <a:pt x="96" y="20"/>
                      <a:pt x="96" y="20"/>
                    </a:cubicBezTo>
                    <a:cubicBezTo>
                      <a:pt x="122" y="20"/>
                      <a:pt x="122" y="20"/>
                      <a:pt x="122" y="20"/>
                    </a:cubicBezTo>
                    <a:cubicBezTo>
                      <a:pt x="122" y="25"/>
                      <a:pt x="122" y="25"/>
                      <a:pt x="122" y="25"/>
                    </a:cubicBezTo>
                    <a:cubicBezTo>
                      <a:pt x="116" y="26"/>
                      <a:pt x="112" y="31"/>
                      <a:pt x="112" y="37"/>
                    </a:cubicBezTo>
                    <a:cubicBezTo>
                      <a:pt x="112" y="44"/>
                      <a:pt x="117" y="50"/>
                      <a:pt x="124" y="50"/>
                    </a:cubicBezTo>
                    <a:cubicBezTo>
                      <a:pt x="131" y="50"/>
                      <a:pt x="137" y="44"/>
                      <a:pt x="137" y="37"/>
                    </a:cubicBezTo>
                    <a:cubicBezTo>
                      <a:pt x="137" y="31"/>
                      <a:pt x="133" y="26"/>
                      <a:pt x="127" y="25"/>
                    </a:cubicBezTo>
                    <a:cubicBezTo>
                      <a:pt x="127" y="20"/>
                      <a:pt x="127" y="20"/>
                      <a:pt x="127" y="20"/>
                    </a:cubicBezTo>
                    <a:cubicBezTo>
                      <a:pt x="141" y="20"/>
                      <a:pt x="141" y="20"/>
                      <a:pt x="141" y="20"/>
                    </a:cubicBezTo>
                    <a:lnTo>
                      <a:pt x="141" y="1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  <p:sp>
            <p:nvSpPr>
              <p:cNvPr id="67" name="Freeform 6"/>
              <p:cNvSpPr/>
              <p:nvPr/>
            </p:nvSpPr>
            <p:spPr bwMode="auto">
              <a:xfrm>
                <a:off x="2820" y="2272"/>
                <a:ext cx="181" cy="12"/>
              </a:xfrm>
              <a:custGeom>
                <a:avLst/>
                <a:gdLst>
                  <a:gd name="T0" fmla="*/ 73 w 75"/>
                  <a:gd name="T1" fmla="*/ 0 h 5"/>
                  <a:gd name="T2" fmla="*/ 2 w 75"/>
                  <a:gd name="T3" fmla="*/ 0 h 5"/>
                  <a:gd name="T4" fmla="*/ 0 w 75"/>
                  <a:gd name="T5" fmla="*/ 3 h 5"/>
                  <a:gd name="T6" fmla="*/ 2 w 75"/>
                  <a:gd name="T7" fmla="*/ 5 h 5"/>
                  <a:gd name="T8" fmla="*/ 73 w 75"/>
                  <a:gd name="T9" fmla="*/ 5 h 5"/>
                  <a:gd name="T10" fmla="*/ 75 w 75"/>
                  <a:gd name="T11" fmla="*/ 3 h 5"/>
                  <a:gd name="T12" fmla="*/ 73 w 75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5" h="5">
                    <a:moveTo>
                      <a:pt x="7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0"/>
                      <a:pt x="0" y="1"/>
                      <a:pt x="0" y="3"/>
                    </a:cubicBezTo>
                    <a:cubicBezTo>
                      <a:pt x="0" y="4"/>
                      <a:pt x="1" y="5"/>
                      <a:pt x="2" y="5"/>
                    </a:cubicBezTo>
                    <a:cubicBezTo>
                      <a:pt x="73" y="5"/>
                      <a:pt x="73" y="5"/>
                      <a:pt x="73" y="5"/>
                    </a:cubicBezTo>
                    <a:cubicBezTo>
                      <a:pt x="74" y="5"/>
                      <a:pt x="75" y="4"/>
                      <a:pt x="75" y="3"/>
                    </a:cubicBezTo>
                    <a:cubicBezTo>
                      <a:pt x="75" y="1"/>
                      <a:pt x="74" y="0"/>
                      <a:pt x="73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  <p:sp>
            <p:nvSpPr>
              <p:cNvPr id="68" name="Freeform 7"/>
              <p:cNvSpPr/>
              <p:nvPr/>
            </p:nvSpPr>
            <p:spPr bwMode="auto">
              <a:xfrm>
                <a:off x="2820" y="2190"/>
                <a:ext cx="181" cy="14"/>
              </a:xfrm>
              <a:custGeom>
                <a:avLst/>
                <a:gdLst>
                  <a:gd name="T0" fmla="*/ 73 w 75"/>
                  <a:gd name="T1" fmla="*/ 0 h 6"/>
                  <a:gd name="T2" fmla="*/ 2 w 75"/>
                  <a:gd name="T3" fmla="*/ 0 h 6"/>
                  <a:gd name="T4" fmla="*/ 0 w 75"/>
                  <a:gd name="T5" fmla="*/ 3 h 6"/>
                  <a:gd name="T6" fmla="*/ 2 w 75"/>
                  <a:gd name="T7" fmla="*/ 6 h 6"/>
                  <a:gd name="T8" fmla="*/ 73 w 75"/>
                  <a:gd name="T9" fmla="*/ 6 h 6"/>
                  <a:gd name="T10" fmla="*/ 75 w 75"/>
                  <a:gd name="T11" fmla="*/ 3 h 6"/>
                  <a:gd name="T12" fmla="*/ 73 w 75"/>
                  <a:gd name="T13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5" h="6">
                    <a:moveTo>
                      <a:pt x="7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0"/>
                      <a:pt x="0" y="2"/>
                      <a:pt x="0" y="3"/>
                    </a:cubicBezTo>
                    <a:cubicBezTo>
                      <a:pt x="0" y="5"/>
                      <a:pt x="1" y="6"/>
                      <a:pt x="2" y="6"/>
                    </a:cubicBezTo>
                    <a:cubicBezTo>
                      <a:pt x="73" y="6"/>
                      <a:pt x="73" y="6"/>
                      <a:pt x="73" y="6"/>
                    </a:cubicBezTo>
                    <a:cubicBezTo>
                      <a:pt x="74" y="6"/>
                      <a:pt x="75" y="5"/>
                      <a:pt x="75" y="3"/>
                    </a:cubicBezTo>
                    <a:cubicBezTo>
                      <a:pt x="75" y="2"/>
                      <a:pt x="74" y="0"/>
                      <a:pt x="73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  <p:sp>
            <p:nvSpPr>
              <p:cNvPr id="69" name="Freeform 8"/>
              <p:cNvSpPr/>
              <p:nvPr/>
            </p:nvSpPr>
            <p:spPr bwMode="auto">
              <a:xfrm>
                <a:off x="2820" y="2111"/>
                <a:ext cx="181" cy="12"/>
              </a:xfrm>
              <a:custGeom>
                <a:avLst/>
                <a:gdLst>
                  <a:gd name="T0" fmla="*/ 73 w 75"/>
                  <a:gd name="T1" fmla="*/ 0 h 5"/>
                  <a:gd name="T2" fmla="*/ 2 w 75"/>
                  <a:gd name="T3" fmla="*/ 0 h 5"/>
                  <a:gd name="T4" fmla="*/ 0 w 75"/>
                  <a:gd name="T5" fmla="*/ 3 h 5"/>
                  <a:gd name="T6" fmla="*/ 2 w 75"/>
                  <a:gd name="T7" fmla="*/ 5 h 5"/>
                  <a:gd name="T8" fmla="*/ 73 w 75"/>
                  <a:gd name="T9" fmla="*/ 5 h 5"/>
                  <a:gd name="T10" fmla="*/ 75 w 75"/>
                  <a:gd name="T11" fmla="*/ 3 h 5"/>
                  <a:gd name="T12" fmla="*/ 73 w 75"/>
                  <a:gd name="T13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5" h="5">
                    <a:moveTo>
                      <a:pt x="7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0"/>
                      <a:pt x="0" y="1"/>
                      <a:pt x="0" y="3"/>
                    </a:cubicBezTo>
                    <a:cubicBezTo>
                      <a:pt x="0" y="4"/>
                      <a:pt x="1" y="5"/>
                      <a:pt x="2" y="5"/>
                    </a:cubicBezTo>
                    <a:cubicBezTo>
                      <a:pt x="73" y="5"/>
                      <a:pt x="73" y="5"/>
                      <a:pt x="73" y="5"/>
                    </a:cubicBezTo>
                    <a:cubicBezTo>
                      <a:pt x="74" y="5"/>
                      <a:pt x="75" y="4"/>
                      <a:pt x="75" y="3"/>
                    </a:cubicBezTo>
                    <a:cubicBezTo>
                      <a:pt x="75" y="1"/>
                      <a:pt x="74" y="0"/>
                      <a:pt x="73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  <p:sp>
            <p:nvSpPr>
              <p:cNvPr id="70" name="Freeform 9"/>
              <p:cNvSpPr/>
              <p:nvPr/>
            </p:nvSpPr>
            <p:spPr bwMode="auto">
              <a:xfrm>
                <a:off x="2755" y="2096"/>
                <a:ext cx="41" cy="41"/>
              </a:xfrm>
              <a:custGeom>
                <a:avLst/>
                <a:gdLst>
                  <a:gd name="T0" fmla="*/ 15 w 17"/>
                  <a:gd name="T1" fmla="*/ 0 h 17"/>
                  <a:gd name="T2" fmla="*/ 3 w 17"/>
                  <a:gd name="T3" fmla="*/ 0 h 17"/>
                  <a:gd name="T4" fmla="*/ 0 w 17"/>
                  <a:gd name="T5" fmla="*/ 3 h 17"/>
                  <a:gd name="T6" fmla="*/ 0 w 17"/>
                  <a:gd name="T7" fmla="*/ 15 h 17"/>
                  <a:gd name="T8" fmla="*/ 3 w 17"/>
                  <a:gd name="T9" fmla="*/ 17 h 17"/>
                  <a:gd name="T10" fmla="*/ 15 w 17"/>
                  <a:gd name="T11" fmla="*/ 17 h 17"/>
                  <a:gd name="T12" fmla="*/ 17 w 17"/>
                  <a:gd name="T13" fmla="*/ 15 h 17"/>
                  <a:gd name="T14" fmla="*/ 17 w 17"/>
                  <a:gd name="T15" fmla="*/ 3 h 17"/>
                  <a:gd name="T16" fmla="*/ 15 w 17"/>
                  <a:gd name="T17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" h="17">
                    <a:moveTo>
                      <a:pt x="15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0"/>
                      <a:pt x="0" y="1"/>
                      <a:pt x="0" y="3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6"/>
                      <a:pt x="1" y="17"/>
                      <a:pt x="3" y="17"/>
                    </a:cubicBezTo>
                    <a:cubicBezTo>
                      <a:pt x="15" y="17"/>
                      <a:pt x="15" y="17"/>
                      <a:pt x="15" y="17"/>
                    </a:cubicBezTo>
                    <a:cubicBezTo>
                      <a:pt x="16" y="17"/>
                      <a:pt x="17" y="16"/>
                      <a:pt x="17" y="15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7" y="1"/>
                      <a:pt x="16" y="0"/>
                      <a:pt x="1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  <p:sp>
            <p:nvSpPr>
              <p:cNvPr id="71" name="Freeform 10"/>
              <p:cNvSpPr/>
              <p:nvPr/>
            </p:nvSpPr>
            <p:spPr bwMode="auto">
              <a:xfrm>
                <a:off x="2755" y="2176"/>
                <a:ext cx="41" cy="43"/>
              </a:xfrm>
              <a:custGeom>
                <a:avLst/>
                <a:gdLst>
                  <a:gd name="T0" fmla="*/ 15 w 17"/>
                  <a:gd name="T1" fmla="*/ 0 h 18"/>
                  <a:gd name="T2" fmla="*/ 3 w 17"/>
                  <a:gd name="T3" fmla="*/ 0 h 18"/>
                  <a:gd name="T4" fmla="*/ 0 w 17"/>
                  <a:gd name="T5" fmla="*/ 3 h 18"/>
                  <a:gd name="T6" fmla="*/ 0 w 17"/>
                  <a:gd name="T7" fmla="*/ 15 h 18"/>
                  <a:gd name="T8" fmla="*/ 3 w 17"/>
                  <a:gd name="T9" fmla="*/ 18 h 18"/>
                  <a:gd name="T10" fmla="*/ 15 w 17"/>
                  <a:gd name="T11" fmla="*/ 18 h 18"/>
                  <a:gd name="T12" fmla="*/ 17 w 17"/>
                  <a:gd name="T13" fmla="*/ 15 h 18"/>
                  <a:gd name="T14" fmla="*/ 17 w 17"/>
                  <a:gd name="T15" fmla="*/ 3 h 18"/>
                  <a:gd name="T16" fmla="*/ 15 w 17"/>
                  <a:gd name="T1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" h="18">
                    <a:moveTo>
                      <a:pt x="15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0"/>
                      <a:pt x="0" y="2"/>
                      <a:pt x="0" y="3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7"/>
                      <a:pt x="1" y="18"/>
                      <a:pt x="3" y="18"/>
                    </a:cubicBezTo>
                    <a:cubicBezTo>
                      <a:pt x="15" y="18"/>
                      <a:pt x="15" y="18"/>
                      <a:pt x="15" y="18"/>
                    </a:cubicBezTo>
                    <a:cubicBezTo>
                      <a:pt x="16" y="18"/>
                      <a:pt x="17" y="17"/>
                      <a:pt x="17" y="15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7" y="2"/>
                      <a:pt x="16" y="0"/>
                      <a:pt x="1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  <p:sp>
            <p:nvSpPr>
              <p:cNvPr id="72" name="Freeform 11"/>
              <p:cNvSpPr/>
              <p:nvPr/>
            </p:nvSpPr>
            <p:spPr bwMode="auto">
              <a:xfrm>
                <a:off x="2755" y="2257"/>
                <a:ext cx="41" cy="41"/>
              </a:xfrm>
              <a:custGeom>
                <a:avLst/>
                <a:gdLst>
                  <a:gd name="T0" fmla="*/ 15 w 17"/>
                  <a:gd name="T1" fmla="*/ 0 h 17"/>
                  <a:gd name="T2" fmla="*/ 3 w 17"/>
                  <a:gd name="T3" fmla="*/ 0 h 17"/>
                  <a:gd name="T4" fmla="*/ 0 w 17"/>
                  <a:gd name="T5" fmla="*/ 3 h 17"/>
                  <a:gd name="T6" fmla="*/ 0 w 17"/>
                  <a:gd name="T7" fmla="*/ 15 h 17"/>
                  <a:gd name="T8" fmla="*/ 3 w 17"/>
                  <a:gd name="T9" fmla="*/ 17 h 17"/>
                  <a:gd name="T10" fmla="*/ 15 w 17"/>
                  <a:gd name="T11" fmla="*/ 17 h 17"/>
                  <a:gd name="T12" fmla="*/ 17 w 17"/>
                  <a:gd name="T13" fmla="*/ 15 h 17"/>
                  <a:gd name="T14" fmla="*/ 17 w 17"/>
                  <a:gd name="T15" fmla="*/ 3 h 17"/>
                  <a:gd name="T16" fmla="*/ 15 w 17"/>
                  <a:gd name="T17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" h="17">
                    <a:moveTo>
                      <a:pt x="15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0"/>
                      <a:pt x="0" y="1"/>
                      <a:pt x="0" y="3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6"/>
                      <a:pt x="1" y="17"/>
                      <a:pt x="3" y="17"/>
                    </a:cubicBezTo>
                    <a:cubicBezTo>
                      <a:pt x="15" y="17"/>
                      <a:pt x="15" y="17"/>
                      <a:pt x="15" y="17"/>
                    </a:cubicBezTo>
                    <a:cubicBezTo>
                      <a:pt x="16" y="17"/>
                      <a:pt x="17" y="16"/>
                      <a:pt x="17" y="15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7" y="1"/>
                      <a:pt x="16" y="0"/>
                      <a:pt x="1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121920" tIns="60960" rIns="121920" bIns="60960" numCol="1" anchor="t" anchorCtr="0" compatLnSpc="1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65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</p:grpSp>
      </p:grpSp>
      <p:grpSp>
        <p:nvGrpSpPr>
          <p:cNvPr id="73" name="组合 72"/>
          <p:cNvGrpSpPr/>
          <p:nvPr/>
        </p:nvGrpSpPr>
        <p:grpSpPr>
          <a:xfrm>
            <a:off x="9858482" y="2882545"/>
            <a:ext cx="999564" cy="1001763"/>
            <a:chOff x="3437020" y="5246272"/>
            <a:chExt cx="863676" cy="865576"/>
          </a:xfrm>
        </p:grpSpPr>
        <p:sp>
          <p:nvSpPr>
            <p:cNvPr id="74" name="椭圆 21"/>
            <p:cNvSpPr>
              <a:spLocks noChangeArrowheads="1"/>
            </p:cNvSpPr>
            <p:nvPr/>
          </p:nvSpPr>
          <p:spPr bwMode="auto">
            <a:xfrm>
              <a:off x="3437020" y="5246272"/>
              <a:ext cx="863676" cy="865576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5" name="Freeform 9"/>
            <p:cNvSpPr>
              <a:spLocks noEditPoints="1"/>
            </p:cNvSpPr>
            <p:nvPr/>
          </p:nvSpPr>
          <p:spPr bwMode="auto">
            <a:xfrm>
              <a:off x="3564624" y="5446833"/>
              <a:ext cx="605440" cy="464249"/>
            </a:xfrm>
            <a:custGeom>
              <a:avLst/>
              <a:gdLst>
                <a:gd name="T0" fmla="*/ 16 w 104"/>
                <a:gd name="T1" fmla="*/ 2 h 79"/>
                <a:gd name="T2" fmla="*/ 27 w 104"/>
                <a:gd name="T3" fmla="*/ 4 h 79"/>
                <a:gd name="T4" fmla="*/ 19 w 104"/>
                <a:gd name="T5" fmla="*/ 48 h 79"/>
                <a:gd name="T6" fmla="*/ 4 w 104"/>
                <a:gd name="T7" fmla="*/ 45 h 79"/>
                <a:gd name="T8" fmla="*/ 16 w 104"/>
                <a:gd name="T9" fmla="*/ 2 h 79"/>
                <a:gd name="T10" fmla="*/ 18 w 104"/>
                <a:gd name="T11" fmla="*/ 65 h 79"/>
                <a:gd name="T12" fmla="*/ 16 w 104"/>
                <a:gd name="T13" fmla="*/ 72 h 79"/>
                <a:gd name="T14" fmla="*/ 101 w 104"/>
                <a:gd name="T15" fmla="*/ 72 h 79"/>
                <a:gd name="T16" fmla="*/ 104 w 104"/>
                <a:gd name="T17" fmla="*/ 72 h 79"/>
                <a:gd name="T18" fmla="*/ 104 w 104"/>
                <a:gd name="T19" fmla="*/ 68 h 79"/>
                <a:gd name="T20" fmla="*/ 104 w 104"/>
                <a:gd name="T21" fmla="*/ 26 h 79"/>
                <a:gd name="T22" fmla="*/ 104 w 104"/>
                <a:gd name="T23" fmla="*/ 24 h 79"/>
                <a:gd name="T24" fmla="*/ 103 w 104"/>
                <a:gd name="T25" fmla="*/ 23 h 79"/>
                <a:gd name="T26" fmla="*/ 90 w 104"/>
                <a:gd name="T27" fmla="*/ 10 h 79"/>
                <a:gd name="T28" fmla="*/ 89 w 104"/>
                <a:gd name="T29" fmla="*/ 9 h 79"/>
                <a:gd name="T30" fmla="*/ 87 w 104"/>
                <a:gd name="T31" fmla="*/ 9 h 79"/>
                <a:gd name="T32" fmla="*/ 31 w 104"/>
                <a:gd name="T33" fmla="*/ 9 h 79"/>
                <a:gd name="T34" fmla="*/ 31 w 104"/>
                <a:gd name="T35" fmla="*/ 17 h 79"/>
                <a:gd name="T36" fmla="*/ 84 w 104"/>
                <a:gd name="T37" fmla="*/ 17 h 79"/>
                <a:gd name="T38" fmla="*/ 83 w 104"/>
                <a:gd name="T39" fmla="*/ 28 h 79"/>
                <a:gd name="T40" fmla="*/ 83 w 104"/>
                <a:gd name="T41" fmla="*/ 30 h 79"/>
                <a:gd name="T42" fmla="*/ 85 w 104"/>
                <a:gd name="T43" fmla="*/ 30 h 79"/>
                <a:gd name="T44" fmla="*/ 97 w 104"/>
                <a:gd name="T45" fmla="*/ 29 h 79"/>
                <a:gd name="T46" fmla="*/ 97 w 104"/>
                <a:gd name="T47" fmla="*/ 65 h 79"/>
                <a:gd name="T48" fmla="*/ 18 w 104"/>
                <a:gd name="T49" fmla="*/ 65 h 79"/>
                <a:gd name="T50" fmla="*/ 95 w 104"/>
                <a:gd name="T51" fmla="*/ 26 h 79"/>
                <a:gd name="T52" fmla="*/ 86 w 104"/>
                <a:gd name="T53" fmla="*/ 26 h 79"/>
                <a:gd name="T54" fmla="*/ 87 w 104"/>
                <a:gd name="T55" fmla="*/ 18 h 79"/>
                <a:gd name="T56" fmla="*/ 95 w 104"/>
                <a:gd name="T57" fmla="*/ 26 h 79"/>
                <a:gd name="T58" fmla="*/ 32 w 104"/>
                <a:gd name="T59" fmla="*/ 43 h 79"/>
                <a:gd name="T60" fmla="*/ 74 w 104"/>
                <a:gd name="T61" fmla="*/ 43 h 79"/>
                <a:gd name="T62" fmla="*/ 74 w 104"/>
                <a:gd name="T63" fmla="*/ 45 h 79"/>
                <a:gd name="T64" fmla="*/ 32 w 104"/>
                <a:gd name="T65" fmla="*/ 45 h 79"/>
                <a:gd name="T66" fmla="*/ 32 w 104"/>
                <a:gd name="T67" fmla="*/ 43 h 79"/>
                <a:gd name="T68" fmla="*/ 32 w 104"/>
                <a:gd name="T69" fmla="*/ 32 h 79"/>
                <a:gd name="T70" fmla="*/ 71 w 104"/>
                <a:gd name="T71" fmla="*/ 32 h 79"/>
                <a:gd name="T72" fmla="*/ 71 w 104"/>
                <a:gd name="T73" fmla="*/ 35 h 79"/>
                <a:gd name="T74" fmla="*/ 32 w 104"/>
                <a:gd name="T75" fmla="*/ 35 h 79"/>
                <a:gd name="T76" fmla="*/ 32 w 104"/>
                <a:gd name="T77" fmla="*/ 32 h 79"/>
                <a:gd name="T78" fmla="*/ 32 w 104"/>
                <a:gd name="T79" fmla="*/ 22 h 79"/>
                <a:gd name="T80" fmla="*/ 71 w 104"/>
                <a:gd name="T81" fmla="*/ 22 h 79"/>
                <a:gd name="T82" fmla="*/ 71 w 104"/>
                <a:gd name="T83" fmla="*/ 25 h 79"/>
                <a:gd name="T84" fmla="*/ 32 w 104"/>
                <a:gd name="T85" fmla="*/ 25 h 79"/>
                <a:gd name="T86" fmla="*/ 32 w 104"/>
                <a:gd name="T87" fmla="*/ 22 h 79"/>
                <a:gd name="T88" fmla="*/ 3 w 104"/>
                <a:gd name="T89" fmla="*/ 66 h 79"/>
                <a:gd name="T90" fmla="*/ 9 w 104"/>
                <a:gd name="T91" fmla="*/ 68 h 79"/>
                <a:gd name="T92" fmla="*/ 9 w 104"/>
                <a:gd name="T93" fmla="*/ 74 h 79"/>
                <a:gd name="T94" fmla="*/ 5 w 104"/>
                <a:gd name="T95" fmla="*/ 79 h 79"/>
                <a:gd name="T96" fmla="*/ 2 w 104"/>
                <a:gd name="T97" fmla="*/ 78 h 79"/>
                <a:gd name="T98" fmla="*/ 0 w 104"/>
                <a:gd name="T99" fmla="*/ 72 h 79"/>
                <a:gd name="T100" fmla="*/ 3 w 104"/>
                <a:gd name="T101" fmla="*/ 66 h 79"/>
                <a:gd name="T102" fmla="*/ 4 w 104"/>
                <a:gd name="T103" fmla="*/ 48 h 79"/>
                <a:gd name="T104" fmla="*/ 2 w 104"/>
                <a:gd name="T105" fmla="*/ 65 h 79"/>
                <a:gd name="T106" fmla="*/ 12 w 104"/>
                <a:gd name="T107" fmla="*/ 67 h 79"/>
                <a:gd name="T108" fmla="*/ 17 w 104"/>
                <a:gd name="T109" fmla="*/ 51 h 79"/>
                <a:gd name="T110" fmla="*/ 4 w 104"/>
                <a:gd name="T111" fmla="*/ 48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104" h="79">
                  <a:moveTo>
                    <a:pt x="16" y="2"/>
                  </a:moveTo>
                  <a:cubicBezTo>
                    <a:pt x="21" y="0"/>
                    <a:pt x="24" y="1"/>
                    <a:pt x="27" y="4"/>
                  </a:cubicBezTo>
                  <a:cubicBezTo>
                    <a:pt x="26" y="20"/>
                    <a:pt x="23" y="35"/>
                    <a:pt x="19" y="48"/>
                  </a:cubicBezTo>
                  <a:cubicBezTo>
                    <a:pt x="14" y="47"/>
                    <a:pt x="9" y="46"/>
                    <a:pt x="4" y="45"/>
                  </a:cubicBezTo>
                  <a:cubicBezTo>
                    <a:pt x="6" y="29"/>
                    <a:pt x="10" y="15"/>
                    <a:pt x="16" y="2"/>
                  </a:cubicBezTo>
                  <a:close/>
                  <a:moveTo>
                    <a:pt x="18" y="65"/>
                  </a:moveTo>
                  <a:cubicBezTo>
                    <a:pt x="16" y="72"/>
                    <a:pt x="16" y="72"/>
                    <a:pt x="16" y="72"/>
                  </a:cubicBezTo>
                  <a:cubicBezTo>
                    <a:pt x="69" y="72"/>
                    <a:pt x="74" y="72"/>
                    <a:pt x="101" y="72"/>
                  </a:cubicBezTo>
                  <a:cubicBezTo>
                    <a:pt x="104" y="72"/>
                    <a:pt x="104" y="72"/>
                    <a:pt x="104" y="72"/>
                  </a:cubicBezTo>
                  <a:cubicBezTo>
                    <a:pt x="104" y="68"/>
                    <a:pt x="104" y="68"/>
                    <a:pt x="104" y="68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90" y="10"/>
                    <a:pt x="90" y="10"/>
                    <a:pt x="90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31" y="9"/>
                    <a:pt x="31" y="9"/>
                    <a:pt x="31" y="9"/>
                  </a:cubicBezTo>
                  <a:cubicBezTo>
                    <a:pt x="31" y="12"/>
                    <a:pt x="31" y="14"/>
                    <a:pt x="31" y="17"/>
                  </a:cubicBezTo>
                  <a:cubicBezTo>
                    <a:pt x="84" y="17"/>
                    <a:pt x="84" y="17"/>
                    <a:pt x="84" y="17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5" y="30"/>
                    <a:pt x="85" y="30"/>
                    <a:pt x="85" y="30"/>
                  </a:cubicBezTo>
                  <a:cubicBezTo>
                    <a:pt x="97" y="29"/>
                    <a:pt x="97" y="29"/>
                    <a:pt x="97" y="29"/>
                  </a:cubicBezTo>
                  <a:cubicBezTo>
                    <a:pt x="97" y="65"/>
                    <a:pt x="97" y="65"/>
                    <a:pt x="97" y="65"/>
                  </a:cubicBezTo>
                  <a:cubicBezTo>
                    <a:pt x="79" y="65"/>
                    <a:pt x="57" y="65"/>
                    <a:pt x="18" y="65"/>
                  </a:cubicBezTo>
                  <a:close/>
                  <a:moveTo>
                    <a:pt x="95" y="26"/>
                  </a:moveTo>
                  <a:cubicBezTo>
                    <a:pt x="86" y="26"/>
                    <a:pt x="86" y="26"/>
                    <a:pt x="86" y="26"/>
                  </a:cubicBezTo>
                  <a:cubicBezTo>
                    <a:pt x="87" y="18"/>
                    <a:pt x="87" y="18"/>
                    <a:pt x="87" y="18"/>
                  </a:cubicBezTo>
                  <a:cubicBezTo>
                    <a:pt x="95" y="26"/>
                    <a:pt x="95" y="26"/>
                    <a:pt x="95" y="26"/>
                  </a:cubicBezTo>
                  <a:close/>
                  <a:moveTo>
                    <a:pt x="32" y="43"/>
                  </a:moveTo>
                  <a:cubicBezTo>
                    <a:pt x="74" y="43"/>
                    <a:pt x="74" y="43"/>
                    <a:pt x="74" y="43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32" y="45"/>
                    <a:pt x="32" y="45"/>
                    <a:pt x="32" y="45"/>
                  </a:cubicBezTo>
                  <a:cubicBezTo>
                    <a:pt x="32" y="43"/>
                    <a:pt x="32" y="43"/>
                    <a:pt x="32" y="43"/>
                  </a:cubicBezTo>
                  <a:close/>
                  <a:moveTo>
                    <a:pt x="32" y="32"/>
                  </a:moveTo>
                  <a:cubicBezTo>
                    <a:pt x="71" y="32"/>
                    <a:pt x="71" y="32"/>
                    <a:pt x="71" y="32"/>
                  </a:cubicBezTo>
                  <a:cubicBezTo>
                    <a:pt x="71" y="35"/>
                    <a:pt x="71" y="35"/>
                    <a:pt x="71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2"/>
                    <a:pt x="32" y="32"/>
                    <a:pt x="32" y="32"/>
                  </a:cubicBezTo>
                  <a:close/>
                  <a:moveTo>
                    <a:pt x="32" y="22"/>
                  </a:moveTo>
                  <a:cubicBezTo>
                    <a:pt x="71" y="22"/>
                    <a:pt x="71" y="22"/>
                    <a:pt x="71" y="22"/>
                  </a:cubicBezTo>
                  <a:cubicBezTo>
                    <a:pt x="71" y="25"/>
                    <a:pt x="71" y="25"/>
                    <a:pt x="71" y="25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2"/>
                    <a:pt x="32" y="22"/>
                    <a:pt x="32" y="22"/>
                  </a:cubicBezTo>
                  <a:close/>
                  <a:moveTo>
                    <a:pt x="3" y="66"/>
                  </a:moveTo>
                  <a:cubicBezTo>
                    <a:pt x="9" y="68"/>
                    <a:pt x="9" y="68"/>
                    <a:pt x="9" y="68"/>
                  </a:cubicBezTo>
                  <a:cubicBezTo>
                    <a:pt x="9" y="74"/>
                    <a:pt x="9" y="74"/>
                    <a:pt x="9" y="74"/>
                  </a:cubicBezTo>
                  <a:cubicBezTo>
                    <a:pt x="5" y="79"/>
                    <a:pt x="5" y="79"/>
                    <a:pt x="5" y="79"/>
                  </a:cubicBezTo>
                  <a:cubicBezTo>
                    <a:pt x="4" y="79"/>
                    <a:pt x="3" y="79"/>
                    <a:pt x="2" y="78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3" y="66"/>
                    <a:pt x="3" y="66"/>
                    <a:pt x="3" y="66"/>
                  </a:cubicBezTo>
                  <a:close/>
                  <a:moveTo>
                    <a:pt x="4" y="48"/>
                  </a:moveTo>
                  <a:cubicBezTo>
                    <a:pt x="3" y="53"/>
                    <a:pt x="3" y="59"/>
                    <a:pt x="2" y="65"/>
                  </a:cubicBezTo>
                  <a:cubicBezTo>
                    <a:pt x="5" y="65"/>
                    <a:pt x="9" y="66"/>
                    <a:pt x="12" y="67"/>
                  </a:cubicBezTo>
                  <a:cubicBezTo>
                    <a:pt x="14" y="61"/>
                    <a:pt x="15" y="56"/>
                    <a:pt x="17" y="51"/>
                  </a:cubicBezTo>
                  <a:cubicBezTo>
                    <a:pt x="13" y="50"/>
                    <a:pt x="9" y="49"/>
                    <a:pt x="4" y="4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6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endParaRPr>
            </a:p>
          </p:txBody>
        </p:sp>
      </p:grpSp>
      <p:pic>
        <p:nvPicPr>
          <p:cNvPr id="76" name="图片 7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162" y="127470"/>
            <a:ext cx="2539398" cy="681826"/>
          </a:xfrm>
          <a:prstGeom prst="rect">
            <a:avLst/>
          </a:prstGeom>
        </p:spPr>
      </p:pic>
      <p:sp>
        <p:nvSpPr>
          <p:cNvPr id="2" name="矩形 64">
            <a:extLst>
              <a:ext uri="{FF2B5EF4-FFF2-40B4-BE49-F238E27FC236}">
                <a16:creationId xmlns:a16="http://schemas.microsoft.com/office/drawing/2014/main" id="{2D0A8099-359E-1A07-E9E0-19696DC45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6165" y="4325357"/>
            <a:ext cx="2068801" cy="4308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  <a:t>实验过程</a:t>
            </a:r>
          </a:p>
        </p:txBody>
      </p:sp>
    </p:spTree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梯形 36"/>
          <p:cNvSpPr/>
          <p:nvPr/>
        </p:nvSpPr>
        <p:spPr>
          <a:xfrm rot="5400000">
            <a:off x="1331640" y="636804"/>
            <a:ext cx="2344067" cy="5007345"/>
          </a:xfrm>
          <a:prstGeom prst="trapezoid">
            <a:avLst>
              <a:gd name="adj" fmla="val 17865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梯形 34"/>
          <p:cNvSpPr/>
          <p:nvPr/>
        </p:nvSpPr>
        <p:spPr>
          <a:xfrm rot="16200000">
            <a:off x="7446198" y="-451317"/>
            <a:ext cx="2291737" cy="7199871"/>
          </a:xfrm>
          <a:prstGeom prst="trapezoid">
            <a:avLst>
              <a:gd name="adj" fmla="val 1693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"/>
          <p:cNvSpPr txBox="1"/>
          <p:nvPr/>
        </p:nvSpPr>
        <p:spPr>
          <a:xfrm>
            <a:off x="3729079" y="2556165"/>
            <a:ext cx="1164101" cy="120032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65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Part</a:t>
            </a:r>
            <a:r>
              <a:rPr kumimoji="0" lang="en-US" altLang="zh-CN" sz="7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7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638798" y="2692405"/>
            <a:ext cx="2646878" cy="1569660"/>
          </a:xfrm>
          <a:prstGeom prst="rect">
            <a:avLst/>
          </a:prstGeom>
        </p:spPr>
        <p:txBody>
          <a:bodyPr wrap="none" lIns="91440" tIns="45720" rIns="91440" b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课题简介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" name="椭圆 2"/>
          <p:cNvSpPr/>
          <p:nvPr/>
        </p:nvSpPr>
        <p:spPr>
          <a:xfrm>
            <a:off x="464768" y="1391626"/>
            <a:ext cx="3102819" cy="310281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13184" y="1542950"/>
            <a:ext cx="2800169" cy="2800169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46"/>
          <p:cNvSpPr>
            <a:spLocks noChangeArrowheads="1"/>
          </p:cNvSpPr>
          <p:nvPr/>
        </p:nvSpPr>
        <p:spPr bwMode="auto">
          <a:xfrm>
            <a:off x="634918" y="237124"/>
            <a:ext cx="1887690" cy="615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Calibri" panose="020F0502020204030204" pitchFamily="34" charset="0"/>
              </a:rPr>
              <a:t>课题简介</a:t>
            </a:r>
          </a:p>
        </p:txBody>
      </p:sp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53049" y="209721"/>
            <a:ext cx="774879" cy="66878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lIns="121917" tIns="60959" rIns="121917" bIns="60959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zh-CN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4" name="TextBox 18">
            <a:extLst>
              <a:ext uri="{FF2B5EF4-FFF2-40B4-BE49-F238E27FC236}">
                <a16:creationId xmlns:a16="http://schemas.microsoft.com/office/drawing/2014/main" id="{23965CF0-054F-A009-DC66-AA4C84E1601A}"/>
              </a:ext>
            </a:extLst>
          </p:cNvPr>
          <p:cNvSpPr txBox="1"/>
          <p:nvPr/>
        </p:nvSpPr>
        <p:spPr>
          <a:xfrm>
            <a:off x="831849" y="1902154"/>
            <a:ext cx="9677401" cy="29238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ts val="1300"/>
              </a:lnSpc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2000" dirty="0">
                <a:solidFill>
                  <a:schemeClr val="tx1"/>
                </a:solidFill>
                <a:latin typeface="Segoe UI Symbol" panose="020B0502040204020203" pitchFamily="34" charset="0"/>
                <a:ea typeface="Segoe UI Symbol" panose="020B0502040204020203" pitchFamily="34" charset="0"/>
              </a:rPr>
              <a:t>⮚</a:t>
            </a:r>
            <a:r>
              <a:rPr lang="en-US" altLang="zh-CN" sz="20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zh-CN" altLang="en-US" sz="20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选题</a:t>
            </a:r>
            <a:endParaRPr lang="en-US" altLang="zh-CN" sz="2000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18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I.</a:t>
            </a:r>
            <a:r>
              <a:rPr lang="zh-CN" altLang="en-US" sz="18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基于</a:t>
            </a:r>
            <a:r>
              <a:rPr lang="en-US" altLang="zh-CN" sz="18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Spark</a:t>
            </a:r>
            <a:r>
              <a:rPr lang="zh-CN" altLang="en-US" sz="18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的分布式矩阵乘法实现与优化</a:t>
            </a:r>
            <a:endParaRPr lang="en-US" altLang="zh-CN" sz="18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400050" lvl="0" indent="-400050" algn="l" defTabSz="457200">
              <a:lnSpc>
                <a:spcPct val="100000"/>
              </a:lnSpc>
              <a:buAutoNum type="romanUcPeriod"/>
              <a:defRPr/>
            </a:pPr>
            <a:endParaRPr lang="en-US" altLang="zh-CN" sz="18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2000" dirty="0">
                <a:solidFill>
                  <a:schemeClr val="tx1"/>
                </a:solidFill>
                <a:latin typeface="Segoe UI Symbol" panose="020B0502040204020203" pitchFamily="34" charset="0"/>
                <a:ea typeface="Segoe UI Symbol" panose="020B0502040204020203" pitchFamily="34" charset="0"/>
              </a:rPr>
              <a:t>⮚ </a:t>
            </a:r>
            <a:r>
              <a:rPr lang="zh-CN" altLang="en-US" sz="20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研究目的</a:t>
            </a:r>
            <a:endParaRPr lang="en-US" altLang="zh-CN" sz="2000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zh-CN" altLang="en-US" sz="20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基于</a:t>
            </a:r>
            <a:r>
              <a:rPr lang="en-US" altLang="zh-CN" sz="20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Spark</a:t>
            </a:r>
            <a:r>
              <a:rPr lang="zh-CN" altLang="en-US" sz="20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实现分布式矩阵乘法，并与</a:t>
            </a:r>
            <a:r>
              <a:rPr lang="en-US" altLang="zh-CN" sz="2000" dirty="0" err="1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SystemDS</a:t>
            </a:r>
            <a:r>
              <a:rPr lang="zh-CN" altLang="en-US" sz="20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中的实现进行比较。</a:t>
            </a:r>
            <a:endParaRPr lang="en-US" altLang="zh-CN" sz="20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endParaRPr lang="en-US" altLang="zh-CN" sz="20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2000" dirty="0">
                <a:solidFill>
                  <a:schemeClr val="tx1"/>
                </a:solidFill>
                <a:latin typeface="Segoe UI Symbol" panose="020B0502040204020203" pitchFamily="34" charset="0"/>
                <a:ea typeface="Segoe UI Symbol" panose="020B0502040204020203" pitchFamily="34" charset="0"/>
              </a:rPr>
              <a:t>⮚ </a:t>
            </a:r>
            <a:r>
              <a:rPr lang="zh-CN" altLang="en-US" sz="20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研究内容</a:t>
            </a:r>
            <a:endParaRPr lang="en-US" altLang="zh-CN" sz="2000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zh-CN" altLang="en-US" sz="18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基于</a:t>
            </a:r>
            <a:r>
              <a:rPr lang="en-US" altLang="zh-CN" sz="18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Spark</a:t>
            </a:r>
            <a:r>
              <a:rPr lang="zh-CN" altLang="en-US" sz="18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实现分布式矩阵乘法，并在实现过程中尽可能引入多种优化策略，以提升计算效率。对比分析当前实现与</a:t>
            </a:r>
            <a:r>
              <a:rPr lang="en-US" altLang="zh-CN" sz="1800" dirty="0" err="1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SystemDS</a:t>
            </a:r>
            <a:r>
              <a:rPr lang="zh-CN" altLang="en-US" sz="18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中若干实现的差异，探讨它们各自的优缺点和适用场景。</a:t>
            </a:r>
            <a:endParaRPr lang="en-US" altLang="zh-CN" sz="18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endParaRPr lang="en-US" altLang="zh-CN" sz="18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E7246-C5E2-0F57-10EC-C7D60F5E6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梯形 36">
            <a:extLst>
              <a:ext uri="{FF2B5EF4-FFF2-40B4-BE49-F238E27FC236}">
                <a16:creationId xmlns:a16="http://schemas.microsoft.com/office/drawing/2014/main" id="{8FDBD2AA-7240-5424-5241-167BF8399037}"/>
              </a:ext>
            </a:extLst>
          </p:cNvPr>
          <p:cNvSpPr/>
          <p:nvPr/>
        </p:nvSpPr>
        <p:spPr>
          <a:xfrm rot="5400000">
            <a:off x="1331640" y="636804"/>
            <a:ext cx="2344067" cy="5007345"/>
          </a:xfrm>
          <a:prstGeom prst="trapezoid">
            <a:avLst>
              <a:gd name="adj" fmla="val 17865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梯形 34">
            <a:extLst>
              <a:ext uri="{FF2B5EF4-FFF2-40B4-BE49-F238E27FC236}">
                <a16:creationId xmlns:a16="http://schemas.microsoft.com/office/drawing/2014/main" id="{CF8C1306-0E1A-772D-838D-601C83AB3E26}"/>
              </a:ext>
            </a:extLst>
          </p:cNvPr>
          <p:cNvSpPr/>
          <p:nvPr/>
        </p:nvSpPr>
        <p:spPr>
          <a:xfrm rot="16200000">
            <a:off x="7446198" y="-451317"/>
            <a:ext cx="2291737" cy="7199871"/>
          </a:xfrm>
          <a:prstGeom prst="trapezoid">
            <a:avLst>
              <a:gd name="adj" fmla="val 1693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">
            <a:extLst>
              <a:ext uri="{FF2B5EF4-FFF2-40B4-BE49-F238E27FC236}">
                <a16:creationId xmlns:a16="http://schemas.microsoft.com/office/drawing/2014/main" id="{B87C0DE6-8D6A-D043-3FD8-729345BC3277}"/>
              </a:ext>
            </a:extLst>
          </p:cNvPr>
          <p:cNvSpPr txBox="1"/>
          <p:nvPr/>
        </p:nvSpPr>
        <p:spPr>
          <a:xfrm>
            <a:off x="3729079" y="2556165"/>
            <a:ext cx="1164101" cy="120032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65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Part</a:t>
            </a:r>
            <a:r>
              <a:rPr lang="en-US" altLang="zh-CN" sz="7200" b="1" dirty="0">
                <a:solidFill>
                  <a:prstClr val="white"/>
                </a:solidFill>
                <a:latin typeface="Arial" panose="020B0604020202020204"/>
                <a:ea typeface="微软雅黑" panose="020B0503020204020204" pitchFamily="34" charset="-122"/>
              </a:rPr>
              <a:t>2</a:t>
            </a:r>
            <a:endParaRPr kumimoji="0" lang="zh-CN" altLang="en-US" sz="7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31ADCC4-A545-DF8D-2782-D1C118322C20}"/>
              </a:ext>
            </a:extLst>
          </p:cNvPr>
          <p:cNvSpPr/>
          <p:nvPr/>
        </p:nvSpPr>
        <p:spPr>
          <a:xfrm>
            <a:off x="5638798" y="2692405"/>
            <a:ext cx="2646878" cy="830997"/>
          </a:xfrm>
          <a:prstGeom prst="rect">
            <a:avLst/>
          </a:prstGeom>
        </p:spPr>
        <p:txBody>
          <a:bodyPr wrap="none" lIns="91440" tIns="45720" rIns="91440" b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实验环境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4D9FAD84-A1C2-8087-F3B8-C056FCA91431}"/>
              </a:ext>
            </a:extLst>
          </p:cNvPr>
          <p:cNvSpPr/>
          <p:nvPr/>
        </p:nvSpPr>
        <p:spPr>
          <a:xfrm>
            <a:off x="464768" y="1391626"/>
            <a:ext cx="3102819" cy="310281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BF42FDD5-D7D3-A237-F891-725C99CA4D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13184" y="1542950"/>
            <a:ext cx="2800169" cy="2800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237141"/>
      </p:ext>
    </p:extLst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229957C-E4CB-BAC5-41B8-D855A53B590B}"/>
              </a:ext>
            </a:extLst>
          </p:cNvPr>
          <p:cNvSpPr/>
          <p:nvPr/>
        </p:nvSpPr>
        <p:spPr>
          <a:xfrm>
            <a:off x="668781" y="251723"/>
            <a:ext cx="18261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3200" b="1" dirty="0">
                <a:ln w="0"/>
                <a:solidFill>
                  <a:srgbClr val="8C1515"/>
                </a:solidFill>
                <a:latin typeface="Arial"/>
                <a:ea typeface="微软雅黑"/>
              </a:rPr>
              <a:t>实验环境</a:t>
            </a:r>
            <a:endParaRPr kumimoji="0" lang="zh-CN" altLang="en-US" sz="3200" b="1" i="0" u="none" strike="noStrike" kern="1200" cap="none" spc="0" normalizeH="0" baseline="0" noProof="0" dirty="0">
              <a:ln w="0"/>
              <a:solidFill>
                <a:srgbClr val="8C1515"/>
              </a:solidFill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2" name="等腰三角形 47">
            <a:extLst>
              <a:ext uri="{FF2B5EF4-FFF2-40B4-BE49-F238E27FC236}">
                <a16:creationId xmlns:a16="http://schemas.microsoft.com/office/drawing/2014/main" id="{4F625542-505A-4EF1-5991-F0251674454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-53049" y="209721"/>
            <a:ext cx="774879" cy="66878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lIns="121917" tIns="60959" rIns="121917" bIns="60959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zh-CN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3" name="TextBox 18">
            <a:extLst>
              <a:ext uri="{FF2B5EF4-FFF2-40B4-BE49-F238E27FC236}">
                <a16:creationId xmlns:a16="http://schemas.microsoft.com/office/drawing/2014/main" id="{C371A3AA-30A5-6184-875C-4C84DE2787BA}"/>
              </a:ext>
            </a:extLst>
          </p:cNvPr>
          <p:cNvSpPr txBox="1"/>
          <p:nvPr/>
        </p:nvSpPr>
        <p:spPr>
          <a:xfrm>
            <a:off x="1257299" y="1222704"/>
            <a:ext cx="9677401" cy="507831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ts val="1300"/>
              </a:lnSpc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2000" dirty="0">
                <a:solidFill>
                  <a:schemeClr val="tx1"/>
                </a:solidFill>
                <a:latin typeface="Segoe UI Symbol" panose="020B0502040204020203" pitchFamily="34" charset="0"/>
                <a:ea typeface="Segoe UI Symbol" panose="020B0502040204020203" pitchFamily="34" charset="0"/>
              </a:rPr>
              <a:t>⮚</a:t>
            </a:r>
            <a:r>
              <a:rPr lang="en-US" altLang="zh-CN" sz="20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zh-CN" altLang="en-US" sz="20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集群配置</a:t>
            </a:r>
            <a:endParaRPr lang="en-US" altLang="zh-CN" sz="2000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节点数：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1 master + 2 worker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endParaRPr lang="en-US" altLang="zh-CN" sz="16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master: </a:t>
            </a: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核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8g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40G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系统盘，带宽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100Mbps</a:t>
            </a: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worker: </a:t>
            </a: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核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16g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40G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系统盘 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+ 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额外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100G SSD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，带宽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100Mbps</a:t>
            </a:r>
          </a:p>
          <a:p>
            <a:pPr lvl="0" algn="l" defTabSz="457200">
              <a:lnSpc>
                <a:spcPct val="100000"/>
              </a:lnSpc>
              <a:defRPr/>
            </a:pPr>
            <a:endParaRPr lang="en-US" altLang="zh-CN" sz="18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2000" dirty="0">
                <a:solidFill>
                  <a:schemeClr val="tx1"/>
                </a:solidFill>
                <a:latin typeface="Segoe UI Symbol" panose="020B0502040204020203" pitchFamily="34" charset="0"/>
                <a:ea typeface="Segoe UI Symbol" panose="020B0502040204020203" pitchFamily="34" charset="0"/>
              </a:rPr>
              <a:t>⮚ </a:t>
            </a:r>
            <a:r>
              <a:rPr lang="zh-CN" altLang="en-US" sz="2000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软件</a:t>
            </a:r>
            <a:endParaRPr lang="en-US" altLang="zh-CN" sz="2000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镜像：</a:t>
            </a:r>
            <a:endParaRPr lang="en-US" altLang="zh-CN" sz="16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Ubuntu 22.04</a:t>
            </a:r>
          </a:p>
          <a:p>
            <a:pPr lvl="0" algn="l" defTabSz="457200">
              <a:lnSpc>
                <a:spcPct val="100000"/>
              </a:lnSpc>
              <a:defRPr/>
            </a:pPr>
            <a:endParaRPr lang="en-US" altLang="zh-CN" sz="16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语言版本：</a:t>
            </a:r>
            <a:endParaRPr lang="en-US" altLang="zh-CN" sz="16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JAVA 11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Python 3.10</a:t>
            </a:r>
          </a:p>
          <a:p>
            <a:pPr lvl="0" algn="l" defTabSz="457200">
              <a:lnSpc>
                <a:spcPct val="100000"/>
              </a:lnSpc>
              <a:defRPr/>
            </a:pPr>
            <a:endParaRPr lang="en-US" altLang="zh-CN" sz="16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框架版本：</a:t>
            </a:r>
            <a:endParaRPr lang="en-US" altLang="zh-CN" sz="16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Apache Hadoop 3.3.6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Apache Spark 3.5.7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Apache </a:t>
            </a:r>
            <a:r>
              <a:rPr lang="en-US" altLang="zh-CN" sz="1600" dirty="0" err="1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SystemDS</a:t>
            </a: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3.3.0</a:t>
            </a:r>
          </a:p>
          <a:p>
            <a:pPr lvl="0" algn="l" defTabSz="457200">
              <a:lnSpc>
                <a:spcPct val="100000"/>
              </a:lnSpc>
              <a:defRPr/>
            </a:pPr>
            <a:endParaRPr lang="en-US" altLang="zh-CN" sz="16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en-US" altLang="zh-CN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Python</a:t>
            </a: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依赖库：</a:t>
            </a:r>
            <a:endParaRPr lang="en-US" altLang="zh-CN" sz="16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lvl="0" algn="l" defTabSz="457200">
              <a:lnSpc>
                <a:spcPct val="100000"/>
              </a:lnSpc>
              <a:defRPr/>
            </a:pPr>
            <a:r>
              <a:rPr lang="zh-CN" altLang="en-US" sz="1600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均采用最新版本</a:t>
            </a:r>
            <a:endParaRPr lang="en-US" altLang="zh-CN" sz="1600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7332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B84AD02-CC98-4618-9E21-88C889231A00}"/>
              </a:ext>
            </a:extLst>
          </p:cNvPr>
          <p:cNvSpPr/>
          <p:nvPr/>
        </p:nvSpPr>
        <p:spPr>
          <a:xfrm>
            <a:off x="668781" y="251723"/>
            <a:ext cx="18261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 w="0"/>
                <a:solidFill>
                  <a:srgbClr val="8C1515"/>
                </a:solidFill>
                <a:uLnTx/>
                <a:uFillTx/>
                <a:latin typeface="Arial"/>
                <a:ea typeface="微软雅黑"/>
                <a:cs typeface="+mn-cs"/>
              </a:rPr>
              <a:t>评估方法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205B086-48C8-49CB-07CC-2BB4A78A0480}"/>
              </a:ext>
            </a:extLst>
          </p:cNvPr>
          <p:cNvSpPr/>
          <p:nvPr/>
        </p:nvSpPr>
        <p:spPr>
          <a:xfrm>
            <a:off x="362079" y="1051450"/>
            <a:ext cx="11663007" cy="557530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采用自动化脚本对 </a:t>
            </a:r>
            <a:r>
              <a:rPr kumimoji="0" lang="en-US" altLang="zh-CN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Agent </a:t>
            </a: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生成的最终行程表进行验证</a:t>
            </a:r>
            <a:endParaRPr kumimoji="0" lang="en-US" altLang="zh-CN" sz="2000" b="0" i="0" u="none" strike="noStrike" kern="1200" cap="none" spc="0" normalizeH="0" baseline="0" noProof="0" dirty="0">
              <a:ln w="0"/>
              <a:solidFill>
                <a:srgbClr val="000000"/>
              </a:solidFill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评估流程</a:t>
            </a:r>
          </a:p>
          <a:p>
            <a:pPr marL="971550" marR="0" lvl="1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romanUcPeriod"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Agent </a:t>
            </a: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交互</a:t>
            </a:r>
            <a:r>
              <a:rPr kumimoji="0" lang="en-US" altLang="zh-CN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: Agent </a:t>
            </a: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接收 </a:t>
            </a:r>
            <a:r>
              <a:rPr kumimoji="0" lang="en-US" altLang="zh-CN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Query</a:t>
            </a: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，使用提供的工具在沙盒中检索信息（查航班、酒店等）。</a:t>
            </a:r>
          </a:p>
          <a:p>
            <a:pPr marL="971550" marR="0" lvl="1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romanUcPeriod"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记录 </a:t>
            </a:r>
            <a:r>
              <a:rPr kumimoji="0" lang="en-US" altLang="zh-CN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(Notebook): Agent </a:t>
            </a: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将筛选出的信息写入一个叫 </a:t>
            </a:r>
            <a:r>
              <a:rPr kumimoji="0" lang="en-US" altLang="zh-CN" sz="2000" b="0" i="0" u="none" strike="noStrike" kern="1200" cap="none" spc="0" normalizeH="0" baseline="0" noProof="0" dirty="0" err="1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NotebookWrite</a:t>
            </a:r>
            <a:r>
              <a:rPr kumimoji="0" lang="en-US" altLang="zh-CN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的工具中（脚本会读取这里的内容）。</a:t>
            </a:r>
          </a:p>
          <a:p>
            <a:pPr marL="971550" marR="0" lvl="1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romanUcPeriod"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生成计划</a:t>
            </a:r>
            <a:r>
              <a:rPr kumimoji="0" lang="en-US" altLang="zh-CN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: Agent </a:t>
            </a: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最终输出一个结构化的行程单。</a:t>
            </a:r>
          </a:p>
          <a:p>
            <a:pPr marL="971550" marR="0" lvl="1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romanUcPeriod"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脚本验证</a:t>
            </a:r>
            <a:r>
              <a:rPr kumimoji="0" lang="en-US" altLang="zh-CN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: </a:t>
            </a: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评估脚本会逐项检查行程单是否满足所有约束。</a:t>
            </a:r>
            <a:endParaRPr kumimoji="0" lang="en-US" altLang="zh-CN" sz="2000" b="0" i="0" u="none" strike="noStrike" kern="1200" cap="none" spc="0" normalizeH="0" baseline="0" noProof="0" dirty="0">
              <a:ln w="0"/>
              <a:solidFill>
                <a:srgbClr val="000000"/>
              </a:solidFill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 w="0"/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评估模式</a:t>
            </a:r>
            <a:endParaRPr kumimoji="0" lang="en-US" altLang="zh-CN" sz="2000" b="0" i="0" u="none" strike="noStrike" kern="1200" cap="none" spc="0" normalizeH="0" baseline="0" noProof="0" dirty="0">
              <a:ln w="0"/>
              <a:solidFill>
                <a:srgbClr val="000000"/>
              </a:solidFill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两阶段模式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: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 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Agent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需要自己用工具去搜集信息，然后规划。这最接近真实场景，也是最难的。</a:t>
            </a: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仅规划模式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: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 省去搜索步骤，直接把正确的信息（航班、酒店列表）喂给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Agent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，只考它的逻辑规划能力。</a:t>
            </a:r>
            <a:endParaRPr kumimoji="0" lang="en-US" altLang="zh-CN" sz="2000" b="0" i="0" u="none" strike="noStrike" kern="1200" cap="none" spc="0" normalizeH="0" baseline="0" noProof="0" dirty="0">
              <a:ln w="0"/>
              <a:solidFill>
                <a:srgbClr val="000000"/>
              </a:solidFill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endParaRPr kumimoji="0" lang="zh-CN" altLang="en-US" sz="2000" b="0" i="0" u="none" strike="noStrike" kern="1200" cap="none" spc="0" normalizeH="0" baseline="0" noProof="0" dirty="0">
              <a:ln w="0"/>
              <a:solidFill>
                <a:srgbClr val="000000"/>
              </a:solidFill>
              <a:effectLst>
                <a:outerShdw blurRad="38100" dist="19050" dir="2700000" algn="tl" rotWithShape="0">
                  <a:srgbClr val="000000">
                    <a:alpha val="40000"/>
                  </a:srgbClr>
                </a:outerShdw>
              </a:effectLst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2" name="等腰三角形 47">
            <a:extLst>
              <a:ext uri="{FF2B5EF4-FFF2-40B4-BE49-F238E27FC236}">
                <a16:creationId xmlns:a16="http://schemas.microsoft.com/office/drawing/2014/main" id="{AC1DA66E-E6A5-7FA3-708A-0AA873A6994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-53049" y="209721"/>
            <a:ext cx="774879" cy="66878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lIns="121917" tIns="60959" rIns="121917" bIns="60959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zh-CN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9888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58A5-4489-A61A-3029-543986F32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556F7C6-161D-697D-1F45-202575547AB6}"/>
              </a:ext>
            </a:extLst>
          </p:cNvPr>
          <p:cNvSpPr/>
          <p:nvPr/>
        </p:nvSpPr>
        <p:spPr>
          <a:xfrm>
            <a:off x="668781" y="251723"/>
            <a:ext cx="182614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 w="0"/>
                <a:solidFill>
                  <a:srgbClr val="8C1515"/>
                </a:solidFill>
                <a:uLnTx/>
                <a:uFillTx/>
                <a:latin typeface="Arial"/>
                <a:ea typeface="微软雅黑"/>
                <a:cs typeface="+mn-cs"/>
              </a:rPr>
              <a:t>评估指标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73D917-3F31-FD44-9F0F-6E734F6D7E33}"/>
              </a:ext>
            </a:extLst>
          </p:cNvPr>
          <p:cNvSpPr/>
          <p:nvPr/>
        </p:nvSpPr>
        <p:spPr>
          <a:xfrm>
            <a:off x="362079" y="973478"/>
            <a:ext cx="11663007" cy="548297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交付率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: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Agent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是否在规定步数（如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30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步）内成功输出了一个格式完整的计划，没有死循环或报错。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常识通过率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: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检查计划是否符合逻辑。例如：</a:t>
            </a: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zh-C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Reasonable City Route: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 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城市路线是否合理？</a:t>
            </a: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zh-C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Non-conf. Transportation: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 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交通方式是否冲突（比如同时写了自驾和飞行）？</a:t>
            </a: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zh-C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Within Sandbox: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 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是否出现了幻觉（使用了数据库里不存在的航班或酒店）？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硬性约束通过率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: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检查是否满足用户特定的需求。例如：</a:t>
            </a: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zh-C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Budget: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 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总花费是否低于预算？</a:t>
            </a: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zh-C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Cuisine: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 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餐厅是否符合口味偏好？</a:t>
            </a: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zh-C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Room Rule: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 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是否满足“禁止吸烟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/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允许宠物”等规则？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最终通过率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: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只有当一个计划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同时满足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所有常识约束和所有硬性约束时，才算通过。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endParaRPr kumimoji="0" lang="zh-CN" altLang="en-US" sz="2000" b="0" i="0" u="none" strike="noStrike" kern="1200" cap="none" spc="0" normalizeH="0" baseline="0" noProof="0" dirty="0">
              <a:ln w="0"/>
              <a:solidFill>
                <a:srgbClr val="000000"/>
              </a:solidFill>
              <a:effectLst>
                <a:outerShdw blurRad="38100" dist="19050" dir="2700000" algn="tl" rotWithShape="0">
                  <a:srgbClr val="000000">
                    <a:alpha val="40000"/>
                  </a:srgbClr>
                </a:outerShdw>
              </a:effectLst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2" name="等腰三角形 47">
            <a:extLst>
              <a:ext uri="{FF2B5EF4-FFF2-40B4-BE49-F238E27FC236}">
                <a16:creationId xmlns:a16="http://schemas.microsoft.com/office/drawing/2014/main" id="{EBDA421B-E699-2D76-C257-2956A890A45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-53049" y="209721"/>
            <a:ext cx="774879" cy="66878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lIns="121917" tIns="60959" rIns="121917" bIns="60959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zh-CN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8956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0">
        <p:fade/>
      </p:transition>
    </mc:Choice>
    <mc:Fallback xmlns="">
      <p:transition spd="med" advTm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梯形 36"/>
          <p:cNvSpPr/>
          <p:nvPr/>
        </p:nvSpPr>
        <p:spPr>
          <a:xfrm rot="5400000">
            <a:off x="1331640" y="636804"/>
            <a:ext cx="2344067" cy="5007345"/>
          </a:xfrm>
          <a:prstGeom prst="trapezoid">
            <a:avLst>
              <a:gd name="adj" fmla="val 17865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梯形 34"/>
          <p:cNvSpPr/>
          <p:nvPr/>
        </p:nvSpPr>
        <p:spPr>
          <a:xfrm rot="16200000">
            <a:off x="7446198" y="-451317"/>
            <a:ext cx="2291737" cy="7199871"/>
          </a:xfrm>
          <a:prstGeom prst="trapezoid">
            <a:avLst>
              <a:gd name="adj" fmla="val 1693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"/>
          <p:cNvSpPr txBox="1"/>
          <p:nvPr/>
        </p:nvSpPr>
        <p:spPr>
          <a:xfrm>
            <a:off x="3729079" y="2556165"/>
            <a:ext cx="1164101" cy="120032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65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Part</a:t>
            </a:r>
            <a:r>
              <a:rPr kumimoji="0" lang="en-US" altLang="zh-CN" sz="7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3</a:t>
            </a:r>
            <a:endParaRPr kumimoji="0" lang="zh-CN" altLang="en-US" sz="7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" name="椭圆 2"/>
          <p:cNvSpPr/>
          <p:nvPr/>
        </p:nvSpPr>
        <p:spPr>
          <a:xfrm>
            <a:off x="464768" y="1391626"/>
            <a:ext cx="3102819" cy="310281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13184" y="1542950"/>
            <a:ext cx="2800169" cy="2800169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4186B4B-69A6-F1EB-28C9-1F88727AF9E2}"/>
              </a:ext>
            </a:extLst>
          </p:cNvPr>
          <p:cNvSpPr/>
          <p:nvPr/>
        </p:nvSpPr>
        <p:spPr>
          <a:xfrm>
            <a:off x="359284" y="443817"/>
            <a:ext cx="440841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2800" b="1" dirty="0"/>
              <a:t>问题定义</a:t>
            </a:r>
            <a:endParaRPr lang="zh-CN" altLang="en-US" sz="7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C6947C6-29D6-5344-73B4-1ED7BEB3977A}"/>
              </a:ext>
            </a:extLst>
          </p:cNvPr>
          <p:cNvSpPr/>
          <p:nvPr/>
        </p:nvSpPr>
        <p:spPr>
          <a:xfrm>
            <a:off x="359284" y="1099180"/>
            <a:ext cx="9482083" cy="286232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b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</a:b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核心问题： 如何为游客提供一个能够实时适应变化、深度个性化的动态旅游路线规划方案？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信息过载与决策困难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静态路线缺乏灵活性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「千人一面」的体验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等诸多现有旅游规划的痛点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685800" indent="-685800">
              <a:buFont typeface="Wingdings" panose="05000000000000000000" pitchFamily="2" charset="2"/>
              <a:buChar char="p"/>
            </a:pPr>
            <a:endParaRPr lang="zh-CN" altLang="en-US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4356A7B-FC12-4528-59CB-9C24A4B574F7}"/>
              </a:ext>
            </a:extLst>
          </p:cNvPr>
          <p:cNvSpPr/>
          <p:nvPr/>
        </p:nvSpPr>
        <p:spPr>
          <a:xfrm>
            <a:off x="359285" y="3845880"/>
            <a:ext cx="11473432" cy="191294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解决方案</a:t>
            </a:r>
            <a:r>
              <a:rPr lang="en-US" altLang="zh-CN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——AI Agent</a:t>
            </a: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：像一个经验丰富的私人导游一样，与用户交互、理解需求，并动态规划最优路线。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个性化理解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自主决策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多目标优化</a:t>
            </a:r>
          </a:p>
        </p:txBody>
      </p:sp>
    </p:spTree>
    <p:extLst>
      <p:ext uri="{BB962C8B-B14F-4D97-AF65-F5344CB8AC3E}">
        <p14:creationId xmlns:p14="http://schemas.microsoft.com/office/powerpoint/2010/main" val="2763065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05E86BB-7DA4-2972-C24F-05F13E116E1E}"/>
              </a:ext>
            </a:extLst>
          </p:cNvPr>
          <p:cNvSpPr/>
          <p:nvPr/>
        </p:nvSpPr>
        <p:spPr>
          <a:xfrm>
            <a:off x="359284" y="439842"/>
            <a:ext cx="440841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28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工作流程</a:t>
            </a:r>
            <a:endParaRPr lang="zh-CN" altLang="en-US" sz="7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354921E6-3406-BEA0-0D07-6F762936C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6089"/>
            <a:ext cx="12192000" cy="677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490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6B8DC66-57D2-1844-FF4B-854A07BD54A2}"/>
              </a:ext>
            </a:extLst>
          </p:cNvPr>
          <p:cNvSpPr/>
          <p:nvPr/>
        </p:nvSpPr>
        <p:spPr>
          <a:xfrm>
            <a:off x="359284" y="443817"/>
            <a:ext cx="440841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2800" b="1" dirty="0"/>
              <a:t>团队分工</a:t>
            </a:r>
            <a:endParaRPr lang="zh-CN" altLang="en-US" sz="7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4A6F72E-B530-6670-3E1E-7DEB5B7202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88127" y="1069416"/>
            <a:ext cx="15122565" cy="5503465"/>
          </a:xfrm>
          <a:prstGeom prst="rect">
            <a:avLst/>
          </a:prstGeom>
        </p:spPr>
      </p:pic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F008B16-77D6-631B-5F3E-C5005013F27C}"/>
              </a:ext>
            </a:extLst>
          </p:cNvPr>
          <p:cNvCxnSpPr/>
          <p:nvPr/>
        </p:nvCxnSpPr>
        <p:spPr>
          <a:xfrm>
            <a:off x="6055043" y="3299460"/>
            <a:ext cx="0" cy="4000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6050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8528843-7A42-C318-4F89-A8FA083A04F8}"/>
              </a:ext>
            </a:extLst>
          </p:cNvPr>
          <p:cNvSpPr/>
          <p:nvPr/>
        </p:nvSpPr>
        <p:spPr>
          <a:xfrm>
            <a:off x="359284" y="443817"/>
            <a:ext cx="7553324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2800" b="1" cap="none" spc="0" dirty="0">
                <a:ln w="0"/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难点：场景与数据</a:t>
            </a:r>
            <a:r>
              <a:rPr lang="en-US" altLang="zh-CN" sz="2800" b="1" cap="none" spc="0" dirty="0">
                <a:ln w="0"/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——</a:t>
            </a:r>
            <a:r>
              <a:rPr lang="zh-CN" altLang="en-US" sz="2800" b="1" cap="none" spc="0" dirty="0">
                <a:ln w="0"/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动态开放环境的挑战</a:t>
            </a:r>
            <a:endParaRPr lang="zh-CN" altLang="en-US" sz="7200" b="1" cap="none" spc="0" dirty="0">
              <a:ln w="0"/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7CB75F8-CEE4-3E21-E49D-5E5252320F20}"/>
              </a:ext>
            </a:extLst>
          </p:cNvPr>
          <p:cNvSpPr/>
          <p:nvPr/>
        </p:nvSpPr>
        <p:spPr>
          <a:xfrm>
            <a:off x="359284" y="1187303"/>
            <a:ext cx="11094865" cy="50289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真实世界服务的不可靠性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旅行规划</a:t>
            </a:r>
            <a:r>
              <a:rPr lang="en-US" altLang="zh-CN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Agent</a:t>
            </a: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强依赖外部</a:t>
            </a:r>
            <a:r>
              <a:rPr lang="en-US" altLang="zh-CN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API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对研究的影响：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训练层面： 不稳定的</a:t>
            </a:r>
            <a:r>
              <a:rPr lang="en-US" altLang="zh-CN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API</a:t>
            </a: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反馈会中断模型的学习过程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应用层面： 用户体验风险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现有工作佐证： 许多前沿研究（如 </a:t>
            </a:r>
            <a:r>
              <a:rPr lang="en-US" altLang="zh-CN" dirty="0" err="1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DeepTravel</a:t>
            </a: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）都选择构建沙盒来回避此问题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规划任务的时效性与数据保真度困境 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旅行信息是高度动态的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对研究的影响：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模型在“过于完美”的静态数据上学到的策略，在真实动态环境中可能完全失效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需要构建一个既稳定可控（用于训练）又高度仿真（模拟真实动态）的数据环境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现有工作佐证： </a:t>
            </a:r>
            <a:r>
              <a:rPr lang="en-US" altLang="zh-CN" dirty="0" err="1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TripCraft</a:t>
            </a:r>
            <a:r>
              <a:rPr lang="en-US" altLang="zh-CN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等数据集通过引入精细的“时空约束”来提升真实性</a:t>
            </a:r>
          </a:p>
        </p:txBody>
      </p:sp>
    </p:spTree>
    <p:extLst>
      <p:ext uri="{BB962C8B-B14F-4D97-AF65-F5344CB8AC3E}">
        <p14:creationId xmlns:p14="http://schemas.microsoft.com/office/powerpoint/2010/main" val="4191909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DD667-536E-E87B-B3DF-3A3A8466A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BA276B1-6D34-FA7D-0389-A3EC0F696BF4}"/>
              </a:ext>
            </a:extLst>
          </p:cNvPr>
          <p:cNvSpPr/>
          <p:nvPr/>
        </p:nvSpPr>
        <p:spPr>
          <a:xfrm>
            <a:off x="359284" y="448012"/>
            <a:ext cx="7553324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2800" b="1" cap="none" spc="0" dirty="0">
                <a:ln w="0"/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难点：模型与算法</a:t>
            </a:r>
            <a:r>
              <a:rPr lang="en-US" altLang="zh-CN" sz="2800" b="1" cap="none" spc="0" dirty="0">
                <a:ln w="0"/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——</a:t>
            </a:r>
            <a:r>
              <a:rPr lang="zh-CN" altLang="en-US" sz="2800" b="1" cap="none" spc="0" dirty="0">
                <a:ln w="0"/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复杂规划与个性化建模</a:t>
            </a:r>
            <a:endParaRPr lang="zh-CN" altLang="en-US" sz="7200" b="0" cap="none" spc="0" dirty="0">
              <a:ln w="0"/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02676D9-D770-E0D7-C6B9-870C769EA64D}"/>
              </a:ext>
            </a:extLst>
          </p:cNvPr>
          <p:cNvSpPr/>
          <p:nvPr/>
        </p:nvSpPr>
        <p:spPr>
          <a:xfrm>
            <a:off x="359284" y="1057273"/>
            <a:ext cx="11094865" cy="5444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如何让</a:t>
            </a:r>
            <a:r>
              <a:rPr lang="en-US" altLang="zh-CN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AI</a:t>
            </a: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理解“好”的旅行计划？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“好”的旅行计划是多维度、非结构化的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对研究的影响：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不是单一的优化目标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AI</a:t>
            </a: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需要一个全面且层次化的评估体系来指导其学习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否则模型就会学出看似正确却不切实际的「捷径」方案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如何生成多样化、个性化的选择？ 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面对同一个需求，人类能提供多种风格迥异的方案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“特种兵”式打卡游 </a:t>
            </a:r>
            <a:r>
              <a:rPr lang="en-US" altLang="zh-CN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vs “</a:t>
            </a: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慢生活”式深度游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但传统的</a:t>
            </a:r>
            <a:r>
              <a:rPr lang="en-US" altLang="zh-CN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AI</a:t>
            </a: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优化算法倾向于收敛到唯一的、数学上的「最优解」</a:t>
            </a:r>
            <a:endParaRPr lang="en-US" altLang="zh-CN" dirty="0">
              <a:ln w="0"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对研究的影响：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模型容易生成千篇一律、缺乏惊喜的「标准答案」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n w="0"/>
                <a:latin typeface="华文中宋" panose="02010600040101010101" pitchFamily="2" charset="-122"/>
                <a:ea typeface="华文中宋" panose="02010600040101010101" pitchFamily="2" charset="-122"/>
              </a:rPr>
              <a:t>从「寻找唯一最优解」的思维定式，转变为「探索并生成一系列高质量、多样化的备选方案」</a:t>
            </a:r>
          </a:p>
        </p:txBody>
      </p:sp>
    </p:spTree>
    <p:extLst>
      <p:ext uri="{BB962C8B-B14F-4D97-AF65-F5344CB8AC3E}">
        <p14:creationId xmlns:p14="http://schemas.microsoft.com/office/powerpoint/2010/main" val="340669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7446198" y="-451317"/>
            <a:ext cx="2291737" cy="7199871"/>
          </a:xfrm>
          <a:prstGeom prst="trapezoid">
            <a:avLst>
              <a:gd name="adj" fmla="val 1693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梯形 36"/>
          <p:cNvSpPr/>
          <p:nvPr/>
        </p:nvSpPr>
        <p:spPr>
          <a:xfrm rot="5400000">
            <a:off x="1331640" y="636804"/>
            <a:ext cx="2344067" cy="5007345"/>
          </a:xfrm>
          <a:prstGeom prst="trapezoid">
            <a:avLst>
              <a:gd name="adj" fmla="val 17865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"/>
          <p:cNvSpPr txBox="1"/>
          <p:nvPr/>
        </p:nvSpPr>
        <p:spPr>
          <a:xfrm>
            <a:off x="3729079" y="2556165"/>
            <a:ext cx="1164101" cy="120032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65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Part</a:t>
            </a:r>
            <a:r>
              <a:rPr kumimoji="0" lang="en-US" altLang="zh-CN" sz="7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4</a:t>
            </a:r>
            <a:endParaRPr kumimoji="0" lang="zh-CN" altLang="en-US" sz="7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209537" y="2692405"/>
            <a:ext cx="2646878" cy="830997"/>
          </a:xfrm>
          <a:prstGeom prst="rect">
            <a:avLst/>
          </a:prstGeom>
        </p:spPr>
        <p:txBody>
          <a:bodyPr wrap="none" lIns="91440" tIns="45720" rIns="91440" b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4800" b="1" dirty="0">
                <a:solidFill>
                  <a:prstClr val="white"/>
                </a:solidFill>
                <a:latin typeface="Arial" panose="020B0604020202020204"/>
                <a:ea typeface="微软雅黑" panose="020B0503020204020204" pitchFamily="34" charset="-122"/>
              </a:rPr>
              <a:t>训练方法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椭圆 15"/>
          <p:cNvSpPr/>
          <p:nvPr/>
        </p:nvSpPr>
        <p:spPr>
          <a:xfrm>
            <a:off x="464768" y="1391626"/>
            <a:ext cx="3102819" cy="310281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13184" y="1542950"/>
            <a:ext cx="2800169" cy="2800169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356E1-9643-353F-3193-66605677E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5229BD09-B781-446D-576F-685AC63384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500" y="1412070"/>
            <a:ext cx="8766554" cy="98091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6426ADF-B39C-15F5-963D-99C182595E68}"/>
              </a:ext>
            </a:extLst>
          </p:cNvPr>
          <p:cNvSpPr txBox="1"/>
          <p:nvPr/>
        </p:nvSpPr>
        <p:spPr>
          <a:xfrm>
            <a:off x="668781" y="251723"/>
            <a:ext cx="267076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ln w="0"/>
                <a:solidFill>
                  <a:srgbClr val="8C1515"/>
                </a:solidFill>
                <a:latin typeface="Arial"/>
                <a:ea typeface="微软雅黑"/>
              </a:rPr>
              <a:t>奖励分布建模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5823F97B-A228-F474-CD10-97FAC2C3EDAE}"/>
                  </a:ext>
                </a:extLst>
              </p:cNvPr>
              <p:cNvSpPr txBox="1"/>
              <p:nvPr/>
            </p:nvSpPr>
            <p:spPr>
              <a:xfrm>
                <a:off x="1720850" y="2605069"/>
                <a:ext cx="9315450" cy="33650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奖励分布建模目的是将策略与奖励分布建立联系，自然可用 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KL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散度来量化 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(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这里用 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Reverse KL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是因为只能采样到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zh-CN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0" lang="en-US" altLang="zh-CN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0" lang="en-US" altLang="zh-CN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θ</m:t>
                        </m:r>
                      </m:sub>
                    </m:sSub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，而右边是目标奖励分布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在 </a:t>
                </a:r>
                <a:r>
                  <a:rPr kumimoji="0" lang="en-US" altLang="zh-CN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GFlowNet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下，最小化该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反向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KL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散度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等价于优化右侧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轨迹平衡损失</a:t>
                </a:r>
                <a:endPara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旅行规划是一个典型的长程规范任务，这种采样的长轨迹直接用轨迹平衡损失 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(sequence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-level)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会导致训练时梯度爆炸和不稳定更新。第二个问题就是训推不一致，每次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mini-batch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的更新，会导致数据的滞后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(off-policy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）</a:t>
                </a: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5823F97B-A228-F474-CD10-97FAC2C3E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850" y="2605069"/>
                <a:ext cx="9315450" cy="3365024"/>
              </a:xfrm>
              <a:prstGeom prst="rect">
                <a:avLst/>
              </a:prstGeom>
              <a:blipFill>
                <a:blip r:embed="rId3"/>
                <a:stretch>
                  <a:fillRect l="-524" b="-19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 9">
            <a:extLst>
              <a:ext uri="{FF2B5EF4-FFF2-40B4-BE49-F238E27FC236}">
                <a16:creationId xmlns:a16="http://schemas.microsoft.com/office/drawing/2014/main" id="{1B967CA0-5596-25A2-18D8-5C0E22CD7E7E}"/>
              </a:ext>
            </a:extLst>
          </p:cNvPr>
          <p:cNvSpPr/>
          <p:nvPr/>
        </p:nvSpPr>
        <p:spPr>
          <a:xfrm>
            <a:off x="1673921" y="1386668"/>
            <a:ext cx="3602929" cy="980917"/>
          </a:xfrm>
          <a:prstGeom prst="rect">
            <a:avLst/>
          </a:prstGeom>
          <a:noFill/>
          <a:ln w="19050">
            <a:solidFill>
              <a:srgbClr val="A052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E46FB39-1888-F2C9-6B82-F6E99919F72E}"/>
              </a:ext>
            </a:extLst>
          </p:cNvPr>
          <p:cNvSpPr/>
          <p:nvPr/>
        </p:nvSpPr>
        <p:spPr>
          <a:xfrm>
            <a:off x="6111875" y="1405720"/>
            <a:ext cx="4277800" cy="98091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2" name="等腰三角形 47">
            <a:extLst>
              <a:ext uri="{FF2B5EF4-FFF2-40B4-BE49-F238E27FC236}">
                <a16:creationId xmlns:a16="http://schemas.microsoft.com/office/drawing/2014/main" id="{31E577CE-B665-56E3-504C-20C535E6ABA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-53049" y="209721"/>
            <a:ext cx="774879" cy="66878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lIns="121917" tIns="60959" rIns="121917" bIns="60959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zh-CN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08479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0C0F-9AA7-1221-D442-6A4F513E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E8A4FD7B-B1BB-FC8A-4C14-7B9EB97EC66D}"/>
              </a:ext>
            </a:extLst>
          </p:cNvPr>
          <p:cNvSpPr txBox="1"/>
          <p:nvPr/>
        </p:nvSpPr>
        <p:spPr>
          <a:xfrm>
            <a:off x="1327150" y="1244381"/>
            <a:ext cx="9315450" cy="3780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奖励塑形（长度归一化）    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      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解决长轨迹带来的不稳定更新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重要性采样              缓解训推不一致的问题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F7F09BF-2456-5822-2AFF-B5452B3E0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5767" y="4039772"/>
            <a:ext cx="3225966" cy="60963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FCD924A-6224-DB53-4AE9-BDB45C55E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7968" y="1819923"/>
            <a:ext cx="2120937" cy="48372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BA2349D-1BD1-3795-9D91-E32C2E9245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3350" y="1884523"/>
            <a:ext cx="4330923" cy="419122"/>
          </a:xfrm>
          <a:prstGeom prst="rect">
            <a:avLst/>
          </a:prstGeom>
        </p:spPr>
      </p:pic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53043AF-2C88-718F-1E78-AA1C0DF048B2}"/>
              </a:ext>
            </a:extLst>
          </p:cNvPr>
          <p:cNvCxnSpPr/>
          <p:nvPr/>
        </p:nvCxnSpPr>
        <p:spPr>
          <a:xfrm>
            <a:off x="3975017" y="1530350"/>
            <a:ext cx="5588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B41A8A8-9B5F-2289-2151-800C3DDD07A8}"/>
              </a:ext>
            </a:extLst>
          </p:cNvPr>
          <p:cNvCxnSpPr/>
          <p:nvPr/>
        </p:nvCxnSpPr>
        <p:spPr>
          <a:xfrm>
            <a:off x="6165767" y="2106784"/>
            <a:ext cx="5588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629C43A9-2A34-9740-8467-4E56B8B1A580}"/>
              </a:ext>
            </a:extLst>
          </p:cNvPr>
          <p:cNvCxnSpPr/>
          <p:nvPr/>
        </p:nvCxnSpPr>
        <p:spPr>
          <a:xfrm>
            <a:off x="2762167" y="4375150"/>
            <a:ext cx="5588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图片 17">
            <a:extLst>
              <a:ext uri="{FF2B5EF4-FFF2-40B4-BE49-F238E27FC236}">
                <a16:creationId xmlns:a16="http://schemas.microsoft.com/office/drawing/2014/main" id="{A8523AE7-B94A-657C-18CA-02A67BC91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686" y="2749826"/>
            <a:ext cx="7036162" cy="914447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4BF23E71-25B7-E53E-0ECC-5694DB0ACA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4979" y="5024902"/>
            <a:ext cx="9169871" cy="107320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35F5F8CC-50E8-301E-BC1B-982F72937F02}"/>
              </a:ext>
            </a:extLst>
          </p:cNvPr>
          <p:cNvSpPr txBox="1"/>
          <p:nvPr/>
        </p:nvSpPr>
        <p:spPr>
          <a:xfrm>
            <a:off x="668781" y="251723"/>
            <a:ext cx="267076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ln w="0"/>
                <a:solidFill>
                  <a:srgbClr val="8C1515"/>
                </a:solidFill>
                <a:latin typeface="Arial"/>
                <a:ea typeface="微软雅黑"/>
              </a:rPr>
              <a:t>奖励分布建模</a:t>
            </a:r>
          </a:p>
        </p:txBody>
      </p:sp>
      <p:sp>
        <p:nvSpPr>
          <p:cNvPr id="4" name="等腰三角形 47">
            <a:extLst>
              <a:ext uri="{FF2B5EF4-FFF2-40B4-BE49-F238E27FC236}">
                <a16:creationId xmlns:a16="http://schemas.microsoft.com/office/drawing/2014/main" id="{262C31C0-73F6-B1D1-B418-3B0930F4EAF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-53049" y="209721"/>
            <a:ext cx="774879" cy="66878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lIns="121917" tIns="60959" rIns="121917" bIns="60959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zh-CN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93037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34CBA-52B3-02C2-B185-9941F1E7D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891178F7-CD0E-EE1C-AEDE-409821519C5C}"/>
                  </a:ext>
                </a:extLst>
              </p:cNvPr>
              <p:cNvSpPr txBox="1"/>
              <p:nvPr/>
            </p:nvSpPr>
            <p:spPr>
              <a:xfrm>
                <a:off x="793750" y="985508"/>
                <a:ext cx="9918700" cy="19795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分区函数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zh-CN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0" lang="en-US" altLang="zh-CN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0" lang="en-US" altLang="zh-CN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ϕ</m:t>
                        </m:r>
                      </m:sub>
                    </m:sSub>
                  </m:oMath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直观地说，它估计分母，沿所有可能路径的奖励之和。从而可以通过 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r(x, y)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0" lang="en-US" altLang="zh-CN" sz="18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0" lang="en-US" altLang="zh-CN" sz="18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ϕ</m:t>
                        </m:r>
                      </m:sub>
                    </m:sSub>
                  </m:oMath>
                </a14:m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(x)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将奖励转化为一个概率分布。 从实现的视角：将大模型最后一层对所有提示 </a:t>
                </a:r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token 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的隐藏状态，并对它们求均值，得到平均后的隐藏向量作为输入特征，用于计算标量分区函数值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0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ϕ</m:t>
                        </m:r>
                      </m:sub>
                    </m:sSub>
                  </m:oMath>
                </a14:m>
                <a:r>
                  <a:rPr kumimoji="0" lang="en-US" altLang="zh-CN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(x)</a:t>
                </a:r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。</a:t>
                </a:r>
                <a:endPara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华文中宋" panose="02010600040101010101" pitchFamily="2" charset="-122"/>
                  <a:ea typeface="华文中宋" panose="02010600040101010101" pitchFamily="2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891178F7-CD0E-EE1C-AEDE-409821519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750" y="985508"/>
                <a:ext cx="9918700" cy="1979516"/>
              </a:xfrm>
              <a:prstGeom prst="rect">
                <a:avLst/>
              </a:prstGeom>
              <a:blipFill>
                <a:blip r:embed="rId2"/>
                <a:stretch>
                  <a:fillRect l="-922" b="-2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>
            <a:extLst>
              <a:ext uri="{FF2B5EF4-FFF2-40B4-BE49-F238E27FC236}">
                <a16:creationId xmlns:a16="http://schemas.microsoft.com/office/drawing/2014/main" id="{1E3868C8-3578-AFF4-876D-6D1E23B37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3266083"/>
            <a:ext cx="5063252" cy="279114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7E89EBC0-FA48-905C-6425-3CB494FF369F}"/>
              </a:ext>
            </a:extLst>
          </p:cNvPr>
          <p:cNvSpPr txBox="1"/>
          <p:nvPr/>
        </p:nvSpPr>
        <p:spPr>
          <a:xfrm>
            <a:off x="668781" y="251723"/>
            <a:ext cx="267076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ln w="0"/>
                <a:solidFill>
                  <a:srgbClr val="8C1515"/>
                </a:solidFill>
                <a:latin typeface="Arial"/>
                <a:ea typeface="微软雅黑"/>
              </a:rPr>
              <a:t>奖励分布建模</a:t>
            </a:r>
          </a:p>
        </p:txBody>
      </p:sp>
      <p:sp>
        <p:nvSpPr>
          <p:cNvPr id="3" name="等腰三角形 47">
            <a:extLst>
              <a:ext uri="{FF2B5EF4-FFF2-40B4-BE49-F238E27FC236}">
                <a16:creationId xmlns:a16="http://schemas.microsoft.com/office/drawing/2014/main" id="{65D806CA-73F3-B4A1-5AEA-C7C5AC2C2E8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-53049" y="209721"/>
            <a:ext cx="774879" cy="66878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lIns="121917" tIns="60959" rIns="121917" bIns="60959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zh-CN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82880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19127-823F-B2E1-1587-A9AC2C875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35885364-918C-79E5-7ECC-8A692D3F2A93}"/>
              </a:ext>
            </a:extLst>
          </p:cNvPr>
          <p:cNvSpPr txBox="1"/>
          <p:nvPr/>
        </p:nvSpPr>
        <p:spPr>
          <a:xfrm>
            <a:off x="781050" y="871208"/>
            <a:ext cx="9918700" cy="3780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结果可验证奖励（工具调用一致，限制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/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格式要求等） 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 LLM Judge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（轨迹丰富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+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行程可行性等：基于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16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个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rollout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，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1 – 5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级打分）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DBF9721-A9F5-6719-B231-042FE4E68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223" y="1343628"/>
            <a:ext cx="5203380" cy="227514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2E34A23-31AA-1238-804B-5EB988EF9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23" y="4217134"/>
            <a:ext cx="4953227" cy="2480176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F0740DF-F2D0-72F3-A2AB-183D95DB68AA}"/>
              </a:ext>
            </a:extLst>
          </p:cNvPr>
          <p:cNvSpPr txBox="1"/>
          <p:nvPr/>
        </p:nvSpPr>
        <p:spPr>
          <a:xfrm>
            <a:off x="668781" y="251723"/>
            <a:ext cx="267076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ln w="0"/>
                <a:solidFill>
                  <a:srgbClr val="8C1515"/>
                </a:solidFill>
                <a:latin typeface="Arial"/>
                <a:ea typeface="微软雅黑"/>
              </a:rPr>
              <a:t>奖励分布建模</a:t>
            </a:r>
          </a:p>
        </p:txBody>
      </p:sp>
      <p:sp>
        <p:nvSpPr>
          <p:cNvPr id="3" name="等腰三角形 47">
            <a:extLst>
              <a:ext uri="{FF2B5EF4-FFF2-40B4-BE49-F238E27FC236}">
                <a16:creationId xmlns:a16="http://schemas.microsoft.com/office/drawing/2014/main" id="{B2321B53-2744-402C-BE01-CCA8EE3A1E7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-53049" y="209721"/>
            <a:ext cx="774879" cy="66878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lIns="121917" tIns="60959" rIns="121917" bIns="60959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zh-CN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46416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220B1-B106-D48B-BA45-5EE82BD08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8A75D3BA-44DE-DA48-8DB4-615BA640648F}"/>
              </a:ext>
            </a:extLst>
          </p:cNvPr>
          <p:cNvSpPr txBox="1"/>
          <p:nvPr/>
        </p:nvSpPr>
        <p:spPr>
          <a:xfrm>
            <a:off x="793750" y="985508"/>
            <a:ext cx="99187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整体目标实现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FF09E79-4D21-C954-D504-39051F0CF7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8001" y="1163065"/>
            <a:ext cx="6763098" cy="711237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2A42F794-AF24-B006-D719-C77946013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0451" y="2627605"/>
            <a:ext cx="6761598" cy="3930650"/>
          </a:xfrm>
          <a:prstGeom prst="rect">
            <a:avLst/>
          </a:prstGeom>
        </p:spPr>
      </p:pic>
      <p:sp>
        <p:nvSpPr>
          <p:cNvPr id="2" name="箭头: 下 1">
            <a:extLst>
              <a:ext uri="{FF2B5EF4-FFF2-40B4-BE49-F238E27FC236}">
                <a16:creationId xmlns:a16="http://schemas.microsoft.com/office/drawing/2014/main" id="{794B25DB-0C55-F364-5FC6-56B268FD9BB4}"/>
              </a:ext>
            </a:extLst>
          </p:cNvPr>
          <p:cNvSpPr/>
          <p:nvPr/>
        </p:nvSpPr>
        <p:spPr>
          <a:xfrm>
            <a:off x="6019800" y="2020091"/>
            <a:ext cx="342900" cy="48577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A8E32E4-C4D0-41C2-59F9-B0A27E10BA93}"/>
              </a:ext>
            </a:extLst>
          </p:cNvPr>
          <p:cNvSpPr txBox="1"/>
          <p:nvPr/>
        </p:nvSpPr>
        <p:spPr>
          <a:xfrm>
            <a:off x="668781" y="251723"/>
            <a:ext cx="267076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ln w="0"/>
                <a:solidFill>
                  <a:srgbClr val="8C1515"/>
                </a:solidFill>
                <a:latin typeface="Arial"/>
                <a:ea typeface="微软雅黑"/>
              </a:rPr>
              <a:t>奖励分布建模</a:t>
            </a:r>
          </a:p>
        </p:txBody>
      </p:sp>
      <p:sp>
        <p:nvSpPr>
          <p:cNvPr id="4" name="等腰三角形 47">
            <a:extLst>
              <a:ext uri="{FF2B5EF4-FFF2-40B4-BE49-F238E27FC236}">
                <a16:creationId xmlns:a16="http://schemas.microsoft.com/office/drawing/2014/main" id="{5BAA6468-558B-8C68-0C64-92209CE52FF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-53049" y="209721"/>
            <a:ext cx="774879" cy="66878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lIns="121917" tIns="60959" rIns="121917" bIns="60959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zh-CN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2950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19732-2FB0-98D7-36DE-204054ED2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>
            <a:extLst>
              <a:ext uri="{FF2B5EF4-FFF2-40B4-BE49-F238E27FC236}">
                <a16:creationId xmlns:a16="http://schemas.microsoft.com/office/drawing/2014/main" id="{EC98386F-8B7A-B62C-1192-1B7C349D0B9D}"/>
              </a:ext>
            </a:extLst>
          </p:cNvPr>
          <p:cNvSpPr/>
          <p:nvPr/>
        </p:nvSpPr>
        <p:spPr>
          <a:xfrm rot="16200000">
            <a:off x="7446198" y="-451317"/>
            <a:ext cx="2291737" cy="7199871"/>
          </a:xfrm>
          <a:prstGeom prst="trapezoid">
            <a:avLst>
              <a:gd name="adj" fmla="val 1693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梯形 36">
            <a:extLst>
              <a:ext uri="{FF2B5EF4-FFF2-40B4-BE49-F238E27FC236}">
                <a16:creationId xmlns:a16="http://schemas.microsoft.com/office/drawing/2014/main" id="{AF06B19A-35DE-5250-F0F9-ED5C75EBE6F6}"/>
              </a:ext>
            </a:extLst>
          </p:cNvPr>
          <p:cNvSpPr/>
          <p:nvPr/>
        </p:nvSpPr>
        <p:spPr>
          <a:xfrm rot="5400000">
            <a:off x="1331640" y="636804"/>
            <a:ext cx="2344067" cy="5007345"/>
          </a:xfrm>
          <a:prstGeom prst="trapezoid">
            <a:avLst>
              <a:gd name="adj" fmla="val 17865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">
            <a:extLst>
              <a:ext uri="{FF2B5EF4-FFF2-40B4-BE49-F238E27FC236}">
                <a16:creationId xmlns:a16="http://schemas.microsoft.com/office/drawing/2014/main" id="{4211A182-A103-B4B7-D9EB-571EAE2799F5}"/>
              </a:ext>
            </a:extLst>
          </p:cNvPr>
          <p:cNvSpPr txBox="1"/>
          <p:nvPr/>
        </p:nvSpPr>
        <p:spPr>
          <a:xfrm>
            <a:off x="3729079" y="2556165"/>
            <a:ext cx="1164101" cy="120032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65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Part</a:t>
            </a:r>
            <a:r>
              <a:rPr lang="en-US" altLang="zh-CN" sz="7200" b="1" dirty="0">
                <a:solidFill>
                  <a:prstClr val="white"/>
                </a:solidFill>
                <a:latin typeface="Arial" panose="020B0604020202020204"/>
                <a:ea typeface="微软雅黑" panose="020B0503020204020204" pitchFamily="34" charset="-122"/>
              </a:rPr>
              <a:t>5</a:t>
            </a:r>
            <a:endParaRPr kumimoji="0" lang="zh-CN" altLang="en-US" sz="7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F8E51CF-2308-1310-6FB1-DE5D9B89EAB5}"/>
              </a:ext>
            </a:extLst>
          </p:cNvPr>
          <p:cNvSpPr/>
          <p:nvPr/>
        </p:nvSpPr>
        <p:spPr>
          <a:xfrm>
            <a:off x="5209537" y="2692405"/>
            <a:ext cx="4049507" cy="830997"/>
          </a:xfrm>
          <a:prstGeom prst="rect">
            <a:avLst/>
          </a:prstGeom>
        </p:spPr>
        <p:txBody>
          <a:bodyPr wrap="none" lIns="91440" tIns="45720" rIns="91440" b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分工</a:t>
            </a:r>
            <a:r>
              <a:rPr kumimoji="0" lang="en-US" altLang="zh-CN" sz="4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未来规划</a:t>
            </a: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2E062F77-B33E-E191-306A-25FD2BD51866}"/>
              </a:ext>
            </a:extLst>
          </p:cNvPr>
          <p:cNvSpPr/>
          <p:nvPr/>
        </p:nvSpPr>
        <p:spPr>
          <a:xfrm>
            <a:off x="464768" y="1391626"/>
            <a:ext cx="3102819" cy="310281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899A829A-B8BD-4996-AB66-7966CD3253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13184" y="1542950"/>
            <a:ext cx="2800169" cy="2800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522157"/>
      </p:ext>
    </p:extLst>
  </p:cSld>
  <p:clrMapOvr>
    <a:masterClrMapping/>
  </p:clrMapOvr>
  <p:transition spd="slow">
    <p:cover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10A46-B44A-7E8F-264C-CA154CE14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3E7D3186-BBBE-95A4-15F7-4191FA09BCCF}"/>
              </a:ext>
            </a:extLst>
          </p:cNvPr>
          <p:cNvSpPr txBox="1"/>
          <p:nvPr/>
        </p:nvSpPr>
        <p:spPr>
          <a:xfrm>
            <a:off x="668781" y="251723"/>
            <a:ext cx="42461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3200" b="1" dirty="0">
                <a:ln w="0"/>
                <a:solidFill>
                  <a:srgbClr val="8C1515"/>
                </a:solidFill>
                <a:latin typeface="Arial"/>
                <a:ea typeface="微软雅黑"/>
              </a:rPr>
              <a:t>分工</a:t>
            </a:r>
            <a:r>
              <a:rPr lang="en-US" altLang="zh-CN" sz="3200" b="1" dirty="0">
                <a:ln w="0"/>
                <a:solidFill>
                  <a:srgbClr val="8C1515"/>
                </a:solidFill>
                <a:latin typeface="Arial"/>
                <a:ea typeface="微软雅黑"/>
              </a:rPr>
              <a:t>/</a:t>
            </a:r>
            <a:r>
              <a:rPr lang="zh-CN" altLang="en-US" sz="3200" b="1" dirty="0">
                <a:ln w="0"/>
                <a:solidFill>
                  <a:srgbClr val="8C1515"/>
                </a:solidFill>
                <a:latin typeface="Arial"/>
                <a:ea typeface="微软雅黑"/>
              </a:rPr>
              <a:t>未来规划</a:t>
            </a:r>
            <a:endParaRPr kumimoji="0" lang="zh-CN" altLang="en-US" sz="3200" b="1" i="0" u="none" strike="noStrike" kern="1200" cap="none" spc="0" normalizeH="0" baseline="0" noProof="0" dirty="0">
              <a:ln w="0"/>
              <a:solidFill>
                <a:srgbClr val="8C1515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" name="等腰三角形 47">
            <a:extLst>
              <a:ext uri="{FF2B5EF4-FFF2-40B4-BE49-F238E27FC236}">
                <a16:creationId xmlns:a16="http://schemas.microsoft.com/office/drawing/2014/main" id="{B64591A0-DF0F-18DD-73F6-E2103421A49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-53049" y="209721"/>
            <a:ext cx="774879" cy="66878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lIns="121917" tIns="60959" rIns="121917" bIns="60959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zh-CN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AE7B62-52D4-E8B8-B7FB-90019AA5FC13}"/>
              </a:ext>
            </a:extLst>
          </p:cNvPr>
          <p:cNvSpPr txBox="1"/>
          <p:nvPr/>
        </p:nvSpPr>
        <p:spPr>
          <a:xfrm>
            <a:off x="668781" y="1390011"/>
            <a:ext cx="11394179" cy="4475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人员分工</a:t>
            </a:r>
            <a:endParaRPr lang="en-US" altLang="zh-CN" sz="2400" dirty="0"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施长林：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蔡祺枫：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袁凡：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盛子骜：算法和技术路线调研，文档撰写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2400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未来规划</a:t>
            </a:r>
            <a:endParaRPr lang="en-US" altLang="zh-CN" sz="2400" dirty="0"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Segoe UI Symbol" panose="020B0502040204020203" pitchFamily="34" charset="0"/>
                <a:ea typeface="Segoe UI Symbol" panose="020B0502040204020203" pitchFamily="34" charset="0"/>
              </a:rPr>
              <a:t>	⮚ </a:t>
            </a: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短期：继续完善沙盒环境搭建 、实现</a:t>
            </a:r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SFT</a:t>
            </a: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、配置</a:t>
            </a:r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训练</a:t>
            </a:r>
            <a:endParaRPr lang="en-US" altLang="zh-CN" dirty="0"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Segoe UI Symbol" panose="020B0502040204020203" pitchFamily="34" charset="0"/>
                <a:ea typeface="Segoe UI Symbol" panose="020B0502040204020203" pitchFamily="34" charset="0"/>
              </a:rPr>
              <a:t>	⮚ </a:t>
            </a: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长期：跑通并计算</a:t>
            </a:r>
            <a:r>
              <a:rPr lang="en-US" altLang="zh-CN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pass rate</a:t>
            </a:r>
            <a:r>
              <a:rPr lang="zh-CN" altLang="en-US" dirty="0"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、继续完善评估标准</a:t>
            </a:r>
          </a:p>
        </p:txBody>
      </p:sp>
    </p:spTree>
    <p:extLst>
      <p:ext uri="{BB962C8B-B14F-4D97-AF65-F5344CB8AC3E}">
        <p14:creationId xmlns:p14="http://schemas.microsoft.com/office/powerpoint/2010/main" val="3409166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12357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36484" y="804439"/>
            <a:ext cx="4913220" cy="4913220"/>
          </a:xfrm>
          <a:prstGeom prst="rect">
            <a:avLst/>
          </a:prstGeom>
        </p:spPr>
      </p:pic>
      <p:cxnSp>
        <p:nvCxnSpPr>
          <p:cNvPr id="24" name="直接连接符 23"/>
          <p:cNvCxnSpPr/>
          <p:nvPr/>
        </p:nvCxnSpPr>
        <p:spPr>
          <a:xfrm flipH="1">
            <a:off x="2308405" y="4136885"/>
            <a:ext cx="6709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1769955" y="2789247"/>
            <a:ext cx="7785980" cy="1118319"/>
          </a:xfrm>
          <a:prstGeom prst="rect">
            <a:avLst/>
          </a:prstGeom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665" b="1" i="0" u="none" strike="noStrike" kern="1200" cap="none" spc="0" normalizeH="0" baseline="0" noProof="0" dirty="0">
                <a:ln>
                  <a:noFill/>
                </a:ln>
                <a:solidFill>
                  <a:srgbClr val="8C1515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Q&amp;A</a:t>
            </a:r>
            <a:endParaRPr kumimoji="0" lang="zh-CN" altLang="en-US" sz="6665" b="1" i="1" u="none" strike="noStrike" kern="1200" cap="none" spc="0" normalizeH="0" baseline="0" noProof="0" dirty="0">
              <a:ln>
                <a:noFill/>
              </a:ln>
              <a:solidFill>
                <a:srgbClr val="8C1515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第一PPT，www.1ppt.com">
  <a:themeElements>
    <a:clrScheme name="自定义 2">
      <a:dk1>
        <a:srgbClr val="000000"/>
      </a:dk1>
      <a:lt1>
        <a:srgbClr val="FFFFFF"/>
      </a:lt1>
      <a:dk2>
        <a:srgbClr val="3F3F3F"/>
      </a:dk2>
      <a:lt2>
        <a:srgbClr val="E3DED1"/>
      </a:lt2>
      <a:accent1>
        <a:srgbClr val="8C151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第一PPT，www.1ppt.com">
  <a:themeElements>
    <a:clrScheme name="自定义 2">
      <a:dk1>
        <a:srgbClr val="000000"/>
      </a:dk1>
      <a:lt1>
        <a:srgbClr val="FFFFFF"/>
      </a:lt1>
      <a:dk2>
        <a:srgbClr val="3F3F3F"/>
      </a:dk2>
      <a:lt2>
        <a:srgbClr val="E3DED1"/>
      </a:lt2>
      <a:accent1>
        <a:srgbClr val="8C151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第一PPT，www.1ppt.com">
  <a:themeElements>
    <a:clrScheme name="自定义 2">
      <a:dk1>
        <a:srgbClr val="000000"/>
      </a:dk1>
      <a:lt1>
        <a:srgbClr val="FFFFFF"/>
      </a:lt1>
      <a:dk2>
        <a:srgbClr val="3F3F3F"/>
      </a:dk2>
      <a:lt2>
        <a:srgbClr val="E3DED1"/>
      </a:lt2>
      <a:accent1>
        <a:srgbClr val="8C151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自定义 2">
    <a:dk1>
      <a:srgbClr val="000000"/>
    </a:dk1>
    <a:lt1>
      <a:srgbClr val="FFFFFF"/>
    </a:lt1>
    <a:dk2>
      <a:srgbClr val="3F3F3F"/>
    </a:dk2>
    <a:lt2>
      <a:srgbClr val="E3DED1"/>
    </a:lt2>
    <a:accent1>
      <a:srgbClr val="8C1515"/>
    </a:accent1>
    <a:accent2>
      <a:srgbClr val="7F7F7F"/>
    </a:accent2>
    <a:accent3>
      <a:srgbClr val="414456"/>
    </a:accent3>
    <a:accent4>
      <a:srgbClr val="444455"/>
    </a:accent4>
    <a:accent5>
      <a:srgbClr val="444455"/>
    </a:accent5>
    <a:accent6>
      <a:srgbClr val="7F7F7F"/>
    </a:accent6>
    <a:hlink>
      <a:srgbClr val="002060"/>
    </a:hlink>
    <a:folHlink>
      <a:srgbClr val="B26B02"/>
    </a:folHlink>
  </a:clrScheme>
</a:themeOverride>
</file>

<file path=ppt/theme/themeOverride2.xml><?xml version="1.0" encoding="utf-8"?>
<a:themeOverride xmlns:a="http://schemas.openxmlformats.org/drawingml/2006/main">
  <a:clrScheme name="自定义 2">
    <a:dk1>
      <a:srgbClr val="000000"/>
    </a:dk1>
    <a:lt1>
      <a:srgbClr val="FFFFFF"/>
    </a:lt1>
    <a:dk2>
      <a:srgbClr val="3F3F3F"/>
    </a:dk2>
    <a:lt2>
      <a:srgbClr val="E3DED1"/>
    </a:lt2>
    <a:accent1>
      <a:srgbClr val="8C1515"/>
    </a:accent1>
    <a:accent2>
      <a:srgbClr val="7F7F7F"/>
    </a:accent2>
    <a:accent3>
      <a:srgbClr val="414456"/>
    </a:accent3>
    <a:accent4>
      <a:srgbClr val="444455"/>
    </a:accent4>
    <a:accent5>
      <a:srgbClr val="444455"/>
    </a:accent5>
    <a:accent6>
      <a:srgbClr val="7F7F7F"/>
    </a:accent6>
    <a:hlink>
      <a:srgbClr val="002060"/>
    </a:hlink>
    <a:folHlink>
      <a:srgbClr val="B26B0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1475</TotalTime>
  <Words>1279</Words>
  <Application>Microsoft Office PowerPoint</Application>
  <PresentationFormat>宽屏</PresentationFormat>
  <Paragraphs>170</Paragraphs>
  <Slides>23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23</vt:i4>
      </vt:variant>
    </vt:vector>
  </HeadingPairs>
  <TitlesOfParts>
    <vt:vector size="40" baseType="lpstr">
      <vt:lpstr>-apple-system</vt:lpstr>
      <vt:lpstr>等线</vt:lpstr>
      <vt:lpstr>方正粗雅宋简体</vt:lpstr>
      <vt:lpstr>华文行楷</vt:lpstr>
      <vt:lpstr>华文中宋</vt:lpstr>
      <vt:lpstr>微软雅黑</vt:lpstr>
      <vt:lpstr>幼圆</vt:lpstr>
      <vt:lpstr>Arial</vt:lpstr>
      <vt:lpstr>Arial Black</vt:lpstr>
      <vt:lpstr>Calibri</vt:lpstr>
      <vt:lpstr>Cambria Math</vt:lpstr>
      <vt:lpstr>Segoe UI Symbol</vt:lpstr>
      <vt:lpstr>Wingdings</vt:lpstr>
      <vt:lpstr>Wingdings 2</vt:lpstr>
      <vt:lpstr>第一PPT，www.1ppt.com</vt:lpstr>
      <vt:lpstr>1_第一PPT，www.1ppt.com</vt:lpstr>
      <vt:lpstr>2_第一PPT，www.1ppt.com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2238674546@qq.com</cp:lastModifiedBy>
  <cp:revision>93</cp:revision>
  <dcterms:created xsi:type="dcterms:W3CDTF">2020-10-03T12:01:00Z</dcterms:created>
  <dcterms:modified xsi:type="dcterms:W3CDTF">2025-12-17T09:51:37Z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FC00083B59484FCEA60B549777A6EC78_13</vt:lpwstr>
  </property>
  <property fmtid="{D5CDD505-2E9C-101B-9397-08002B2CF9AE}" pid="3" name="KSOProductBuildVer">
    <vt:lpwstr>2052-12.1.0.21915</vt:lpwstr>
  </property>
</Properties>
</file>